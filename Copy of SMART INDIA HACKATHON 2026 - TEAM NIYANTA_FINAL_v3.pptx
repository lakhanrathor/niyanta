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  <p:sldMasterId id="2147483694" r:id="rId5"/>
    <p:sldMasterId id="2147483695" r:id="rId6"/>
    <p:sldMasterId id="214748369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22" Type="http://schemas.openxmlformats.org/officeDocument/2006/relationships/font" Target="fonts/Oswald-bold.fntdata"/><Relationship Id="rId21" Type="http://schemas.openxmlformats.org/officeDocument/2006/relationships/font" Target="fonts/Oswald-regular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6abf810d65653e6b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h6abf810d65653e6b_3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23e34a8b34c18539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h23e34a8b34c18539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23e34a8b34c18539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h23e34a8b34c18539_1_2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h7300cbf6691983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h7300cbf6691983eb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h1250eb6d117da2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h1250eb6d117da24f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h1250eb6d117da24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h1250eb6d117da24f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h374bbfbef355478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h374bbfbef35547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374bbfbef35547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374bbfbef35547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h6abf810d65653e6b_3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h6abf810d65653e6b_3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h6abf810d65653e6b_3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h6abf810d65653e6b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h6abf810d65653e6b_3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h6abf810d65653e6b_3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h6abf810d65653e6b_3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h6abf810d65653e6b_3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8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9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ctrTitle"/>
          </p:nvPr>
        </p:nvSpPr>
        <p:spPr>
          <a:xfrm>
            <a:off x="514351" y="1597819"/>
            <a:ext cx="5829312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" type="subTitle"/>
          </p:nvPr>
        </p:nvSpPr>
        <p:spPr>
          <a:xfrm>
            <a:off x="1028702" y="2914650"/>
            <a:ext cx="480061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28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342901" y="205978"/>
            <a:ext cx="61722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342901" y="1200150"/>
            <a:ext cx="6172213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9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type="title"/>
          </p:nvPr>
        </p:nvSpPr>
        <p:spPr>
          <a:xfrm>
            <a:off x="541736" y="3305175"/>
            <a:ext cx="5829312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541736" y="2180035"/>
            <a:ext cx="5829312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1" name="Google Shape;151;p30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342901" y="205978"/>
            <a:ext cx="61722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342901" y="1200150"/>
            <a:ext cx="302895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1"/>
          <p:cNvSpPr txBox="1"/>
          <p:nvPr>
            <p:ph idx="2" type="body"/>
          </p:nvPr>
        </p:nvSpPr>
        <p:spPr>
          <a:xfrm>
            <a:off x="3486157" y="1200150"/>
            <a:ext cx="302895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8" name="Google Shape;158;p31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342901" y="205978"/>
            <a:ext cx="61722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342901" y="1151335"/>
            <a:ext cx="3030147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4" name="Google Shape;164;p32"/>
          <p:cNvSpPr txBox="1"/>
          <p:nvPr>
            <p:ph idx="2" type="body"/>
          </p:nvPr>
        </p:nvSpPr>
        <p:spPr>
          <a:xfrm>
            <a:off x="342901" y="1631156"/>
            <a:ext cx="3030147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5" name="Google Shape;165;p32"/>
          <p:cNvSpPr txBox="1"/>
          <p:nvPr>
            <p:ph idx="3" type="body"/>
          </p:nvPr>
        </p:nvSpPr>
        <p:spPr>
          <a:xfrm>
            <a:off x="3483776" y="1151335"/>
            <a:ext cx="3031337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6" name="Google Shape;166;p32"/>
          <p:cNvSpPr txBox="1"/>
          <p:nvPr>
            <p:ph idx="4" type="body"/>
          </p:nvPr>
        </p:nvSpPr>
        <p:spPr>
          <a:xfrm>
            <a:off x="3483776" y="1631156"/>
            <a:ext cx="3031337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7" name="Google Shape;167;p32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2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42901" y="205978"/>
            <a:ext cx="61722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3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3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342901" y="204788"/>
            <a:ext cx="225623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2681293" y="204788"/>
            <a:ext cx="383382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8" name="Google Shape;178;p34"/>
          <p:cNvSpPr txBox="1"/>
          <p:nvPr>
            <p:ph idx="2" type="body"/>
          </p:nvPr>
        </p:nvSpPr>
        <p:spPr>
          <a:xfrm>
            <a:off x="342901" y="1076325"/>
            <a:ext cx="225623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9" name="Google Shape;179;p34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4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4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type="title"/>
          </p:nvPr>
        </p:nvSpPr>
        <p:spPr>
          <a:xfrm>
            <a:off x="1344219" y="3600450"/>
            <a:ext cx="4114808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35"/>
          <p:cNvSpPr/>
          <p:nvPr>
            <p:ph idx="2" type="pic"/>
          </p:nvPr>
        </p:nvSpPr>
        <p:spPr>
          <a:xfrm>
            <a:off x="1344219" y="459581"/>
            <a:ext cx="4114808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5"/>
          <p:cNvSpPr txBox="1"/>
          <p:nvPr>
            <p:ph idx="1" type="body"/>
          </p:nvPr>
        </p:nvSpPr>
        <p:spPr>
          <a:xfrm>
            <a:off x="1344219" y="4025503"/>
            <a:ext cx="4114808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6" name="Google Shape;186;p35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5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342901" y="205978"/>
            <a:ext cx="61722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 rot="5400000">
            <a:off x="1731771" y="-188720"/>
            <a:ext cx="3394472" cy="6172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6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title"/>
          </p:nvPr>
        </p:nvSpPr>
        <p:spPr>
          <a:xfrm rot="5400000">
            <a:off x="3549265" y="1628774"/>
            <a:ext cx="4388644" cy="1543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37"/>
          <p:cNvSpPr txBox="1"/>
          <p:nvPr>
            <p:ph idx="1" type="body"/>
          </p:nvPr>
        </p:nvSpPr>
        <p:spPr>
          <a:xfrm rot="5400000">
            <a:off x="406008" y="142871"/>
            <a:ext cx="4388644" cy="4514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37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7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32" name="Google Shape;232;p4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33" name="Google Shape;233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9" name="Google Shape;239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0" name="Google Shape;240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1" name="Google Shape;241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2" name="Google Shape;24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53" name="Google Shape;253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54" name="Google Shape;254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61" name="Google Shape;26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342901" y="205978"/>
            <a:ext cx="61722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342901" y="1200150"/>
            <a:ext cx="6172213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342901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2343155" y="4767263"/>
            <a:ext cx="21717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4914910" y="4767263"/>
            <a:ext cx="1600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22.png"/><Relationship Id="rId42" Type="http://schemas.openxmlformats.org/officeDocument/2006/relationships/image" Target="../media/image37.png"/><Relationship Id="rId41" Type="http://schemas.openxmlformats.org/officeDocument/2006/relationships/image" Target="../media/image23.png"/><Relationship Id="rId44" Type="http://schemas.openxmlformats.org/officeDocument/2006/relationships/image" Target="../media/image25.png"/><Relationship Id="rId43" Type="http://schemas.openxmlformats.org/officeDocument/2006/relationships/image" Target="../media/image49.png"/><Relationship Id="rId46" Type="http://schemas.openxmlformats.org/officeDocument/2006/relationships/hyperlink" Target="https://damfailures.org/case-study/machhu-dam-ii-gujarat-india-1979" TargetMode="External"/><Relationship Id="rId45" Type="http://schemas.openxmlformats.org/officeDocument/2006/relationships/hyperlink" Target="https://damfailures.org/case-study/machhu-dam-ii-gujarat-india-1979" TargetMode="External"/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hyperlink" Target="https://www.esa.int/Applications/Observing_the_Earth/Copernicus/Sentinel-2/Nepal_flash_flood_imaged_by_satellites" TargetMode="External"/><Relationship Id="rId48" Type="http://schemas.openxmlformats.org/officeDocument/2006/relationships/image" Target="../media/image40.png"/><Relationship Id="rId47" Type="http://schemas.openxmlformats.org/officeDocument/2006/relationships/image" Target="../media/image39.png"/><Relationship Id="rId49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hyperlink" Target="https://damfailures.org/case-study/machhu-dam-ii-gujarat-india-1979" TargetMode="External"/><Relationship Id="rId7" Type="http://schemas.openxmlformats.org/officeDocument/2006/relationships/image" Target="../media/image29.png"/><Relationship Id="rId8" Type="http://schemas.openxmlformats.org/officeDocument/2006/relationships/image" Target="../media/image21.png"/><Relationship Id="rId31" Type="http://schemas.openxmlformats.org/officeDocument/2006/relationships/image" Target="../media/image31.png"/><Relationship Id="rId30" Type="http://schemas.openxmlformats.org/officeDocument/2006/relationships/image" Target="../media/image33.png"/><Relationship Id="rId33" Type="http://schemas.openxmlformats.org/officeDocument/2006/relationships/hyperlink" Target="https://damfailures.org/case-study/machhu-dam-ii-gujarat-india-1979" TargetMode="External"/><Relationship Id="rId32" Type="http://schemas.openxmlformats.org/officeDocument/2006/relationships/image" Target="../media/image24.png"/><Relationship Id="rId35" Type="http://schemas.openxmlformats.org/officeDocument/2006/relationships/image" Target="../media/image32.png"/><Relationship Id="rId34" Type="http://schemas.openxmlformats.org/officeDocument/2006/relationships/hyperlink" Target="https://damfailures.org/case-study/machhu-dam-ii-gujarat-india-1979" TargetMode="External"/><Relationship Id="rId37" Type="http://schemas.openxmlformats.org/officeDocument/2006/relationships/image" Target="../media/image28.png"/><Relationship Id="rId36" Type="http://schemas.openxmlformats.org/officeDocument/2006/relationships/image" Target="../media/image17.png"/><Relationship Id="rId39" Type="http://schemas.openxmlformats.org/officeDocument/2006/relationships/image" Target="../media/image42.png"/><Relationship Id="rId38" Type="http://schemas.openxmlformats.org/officeDocument/2006/relationships/image" Target="../media/image36.png"/><Relationship Id="rId62" Type="http://schemas.openxmlformats.org/officeDocument/2006/relationships/hyperlink" Target="https://damfailures.org/case-study/machhu-dam-ii-gujarat-india-1979" TargetMode="External"/><Relationship Id="rId61" Type="http://schemas.openxmlformats.org/officeDocument/2006/relationships/image" Target="../media/image60.png"/><Relationship Id="rId20" Type="http://schemas.openxmlformats.org/officeDocument/2006/relationships/image" Target="../media/image5.png"/><Relationship Id="rId64" Type="http://schemas.openxmlformats.org/officeDocument/2006/relationships/image" Target="../media/image64.png"/><Relationship Id="rId63" Type="http://schemas.openxmlformats.org/officeDocument/2006/relationships/hyperlink" Target="https://damfailures.org/case-study/machhu-dam-ii-gujarat-india-1979" TargetMode="External"/><Relationship Id="rId22" Type="http://schemas.openxmlformats.org/officeDocument/2006/relationships/image" Target="../media/image20.png"/><Relationship Id="rId21" Type="http://schemas.openxmlformats.org/officeDocument/2006/relationships/image" Target="../media/image18.png"/><Relationship Id="rId65" Type="http://schemas.openxmlformats.org/officeDocument/2006/relationships/hyperlink" Target="https://www.hindustantimes.com/india-news/2-killed-many-missing-after-dam-breach-in-maharashtra-s-ratnagiri/story-oGmqOAP7JZ1B4yTEjUw5LK.html" TargetMode="External"/><Relationship Id="rId24" Type="http://schemas.openxmlformats.org/officeDocument/2006/relationships/image" Target="../media/image12.png"/><Relationship Id="rId23" Type="http://schemas.openxmlformats.org/officeDocument/2006/relationships/image" Target="../media/image8.png"/><Relationship Id="rId60" Type="http://schemas.openxmlformats.org/officeDocument/2006/relationships/image" Target="../media/image51.png"/><Relationship Id="rId26" Type="http://schemas.openxmlformats.org/officeDocument/2006/relationships/image" Target="../media/image19.png"/><Relationship Id="rId25" Type="http://schemas.openxmlformats.org/officeDocument/2006/relationships/image" Target="../media/image27.png"/><Relationship Id="rId28" Type="http://schemas.openxmlformats.org/officeDocument/2006/relationships/image" Target="../media/image30.png"/><Relationship Id="rId27" Type="http://schemas.openxmlformats.org/officeDocument/2006/relationships/image" Target="../media/image26.png"/><Relationship Id="rId29" Type="http://schemas.openxmlformats.org/officeDocument/2006/relationships/image" Target="../media/image43.png"/><Relationship Id="rId51" Type="http://schemas.openxmlformats.org/officeDocument/2006/relationships/image" Target="../media/image41.png"/><Relationship Id="rId50" Type="http://schemas.openxmlformats.org/officeDocument/2006/relationships/image" Target="../media/image47.png"/><Relationship Id="rId53" Type="http://schemas.openxmlformats.org/officeDocument/2006/relationships/image" Target="../media/image55.png"/><Relationship Id="rId52" Type="http://schemas.openxmlformats.org/officeDocument/2006/relationships/image" Target="../media/image34.png"/><Relationship Id="rId11" Type="http://schemas.openxmlformats.org/officeDocument/2006/relationships/hyperlink" Target="https://www.researchgate.net/publication/382327177_A_Geospatial_Investigation_of_the_Rishiganga_Disaster_in_Uttarakhand_India" TargetMode="External"/><Relationship Id="rId55" Type="http://schemas.openxmlformats.org/officeDocument/2006/relationships/image" Target="../media/image46.png"/><Relationship Id="rId10" Type="http://schemas.openxmlformats.org/officeDocument/2006/relationships/image" Target="../media/image11.png"/><Relationship Id="rId54" Type="http://schemas.openxmlformats.org/officeDocument/2006/relationships/image" Target="../media/image44.png"/><Relationship Id="rId13" Type="http://schemas.openxmlformats.org/officeDocument/2006/relationships/hyperlink" Target="https://en.wikipedia.org/wiki/Destruction_of_the_Kakhovka_Dam" TargetMode="External"/><Relationship Id="rId57" Type="http://schemas.openxmlformats.org/officeDocument/2006/relationships/image" Target="../media/image52.png"/><Relationship Id="rId12" Type="http://schemas.openxmlformats.org/officeDocument/2006/relationships/image" Target="../media/image7.png"/><Relationship Id="rId56" Type="http://schemas.openxmlformats.org/officeDocument/2006/relationships/image" Target="../media/image50.png"/><Relationship Id="rId15" Type="http://schemas.openxmlformats.org/officeDocument/2006/relationships/hyperlink" Target="https://en.wikipedia.org/wiki/Destruction_of_the_Kakhovka_Dam" TargetMode="External"/><Relationship Id="rId59" Type="http://schemas.openxmlformats.org/officeDocument/2006/relationships/image" Target="../media/image35.png"/><Relationship Id="rId14" Type="http://schemas.openxmlformats.org/officeDocument/2006/relationships/image" Target="../media/image4.png"/><Relationship Id="rId58" Type="http://schemas.openxmlformats.org/officeDocument/2006/relationships/image" Target="../media/image45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9" Type="http://schemas.openxmlformats.org/officeDocument/2006/relationships/image" Target="../media/image10.png"/><Relationship Id="rId1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59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58.png"/><Relationship Id="rId8" Type="http://schemas.openxmlformats.org/officeDocument/2006/relationships/image" Target="../media/image62.png"/><Relationship Id="rId30" Type="http://schemas.openxmlformats.org/officeDocument/2006/relationships/image" Target="../media/image78.png"/><Relationship Id="rId20" Type="http://schemas.openxmlformats.org/officeDocument/2006/relationships/image" Target="../media/image69.png"/><Relationship Id="rId22" Type="http://schemas.openxmlformats.org/officeDocument/2006/relationships/image" Target="../media/image71.png"/><Relationship Id="rId21" Type="http://schemas.openxmlformats.org/officeDocument/2006/relationships/image" Target="../media/image80.png"/><Relationship Id="rId24" Type="http://schemas.openxmlformats.org/officeDocument/2006/relationships/image" Target="../media/image73.png"/><Relationship Id="rId23" Type="http://schemas.openxmlformats.org/officeDocument/2006/relationships/image" Target="../media/image88.png"/><Relationship Id="rId26" Type="http://schemas.openxmlformats.org/officeDocument/2006/relationships/image" Target="../media/image79.png"/><Relationship Id="rId25" Type="http://schemas.openxmlformats.org/officeDocument/2006/relationships/image" Target="../media/image77.png"/><Relationship Id="rId28" Type="http://schemas.openxmlformats.org/officeDocument/2006/relationships/image" Target="../media/image66.png"/><Relationship Id="rId27" Type="http://schemas.openxmlformats.org/officeDocument/2006/relationships/image" Target="../media/image75.png"/><Relationship Id="rId29" Type="http://schemas.openxmlformats.org/officeDocument/2006/relationships/image" Target="../media/image76.png"/><Relationship Id="rId11" Type="http://schemas.openxmlformats.org/officeDocument/2006/relationships/image" Target="../media/image81.png"/><Relationship Id="rId10" Type="http://schemas.openxmlformats.org/officeDocument/2006/relationships/image" Target="../media/image63.png"/><Relationship Id="rId13" Type="http://schemas.openxmlformats.org/officeDocument/2006/relationships/image" Target="../media/image61.png"/><Relationship Id="rId12" Type="http://schemas.openxmlformats.org/officeDocument/2006/relationships/image" Target="../media/image54.png"/><Relationship Id="rId15" Type="http://schemas.openxmlformats.org/officeDocument/2006/relationships/image" Target="../media/image84.png"/><Relationship Id="rId14" Type="http://schemas.openxmlformats.org/officeDocument/2006/relationships/image" Target="../media/image125.png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19" Type="http://schemas.openxmlformats.org/officeDocument/2006/relationships/image" Target="../media/image68.png"/><Relationship Id="rId18" Type="http://schemas.openxmlformats.org/officeDocument/2006/relationships/image" Target="../media/image74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95.png"/><Relationship Id="rId42" Type="http://schemas.openxmlformats.org/officeDocument/2006/relationships/image" Target="../media/image113.png"/><Relationship Id="rId41" Type="http://schemas.openxmlformats.org/officeDocument/2006/relationships/image" Target="../media/image94.png"/><Relationship Id="rId44" Type="http://schemas.openxmlformats.org/officeDocument/2006/relationships/image" Target="../media/image102.png"/><Relationship Id="rId43" Type="http://schemas.openxmlformats.org/officeDocument/2006/relationships/hyperlink" Target="https://www.ceew.in/sites/default/files/CEEW-Preparing-India-for-extreme-climate-events_10Dec20.pdf" TargetMode="External"/><Relationship Id="rId46" Type="http://schemas.openxmlformats.org/officeDocument/2006/relationships/image" Target="../media/image103.png"/><Relationship Id="rId45" Type="http://schemas.openxmlformats.org/officeDocument/2006/relationships/hyperlink" Target="https://www.business-standard.com/pti-stories/national/1-065-large-dams-50-100-years-old-224-are-over-a-century-old-govt-124121600799_1.html" TargetMode="External"/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hyperlink" Target="https://www.opindia.com/2025/06/operation-jal-rahat-ii-northeast-flood-rescue/" TargetMode="External"/><Relationship Id="rId48" Type="http://schemas.openxmlformats.org/officeDocument/2006/relationships/image" Target="../media/image111.png"/><Relationship Id="rId47" Type="http://schemas.openxmlformats.org/officeDocument/2006/relationships/hyperlink" Target="https://www.pib.gov.in/PressReleasePage.aspx?PRID=1807793" TargetMode="External"/><Relationship Id="rId49" Type="http://schemas.openxmlformats.org/officeDocument/2006/relationships/hyperlink" Target="https://www.pib.gov.in/PressReleasePage.aspx?PRID=1909276" TargetMode="External"/><Relationship Id="rId5" Type="http://schemas.openxmlformats.org/officeDocument/2006/relationships/image" Target="../media/image83.png"/><Relationship Id="rId6" Type="http://schemas.openxmlformats.org/officeDocument/2006/relationships/hyperlink" Target="https://www.opindia.com/2025/06/operation-jal-rahat-ii-northeast-flood-rescue/" TargetMode="External"/><Relationship Id="rId7" Type="http://schemas.openxmlformats.org/officeDocument/2006/relationships/image" Target="../media/image85.png"/><Relationship Id="rId8" Type="http://schemas.openxmlformats.org/officeDocument/2006/relationships/image" Target="../media/image70.png"/><Relationship Id="rId31" Type="http://schemas.openxmlformats.org/officeDocument/2006/relationships/image" Target="../media/image86.png"/><Relationship Id="rId30" Type="http://schemas.openxmlformats.org/officeDocument/2006/relationships/hyperlink" Target="https://www.researchgate.net/publication/382327177_A_Geospatial_Investigation_of_the_Rishiganga_Disaster_in_Uttarakhand_India" TargetMode="External"/><Relationship Id="rId33" Type="http://schemas.openxmlformats.org/officeDocument/2006/relationships/hyperlink" Target="https://www.esa.int/Applications/Observing_the_Earth/Copernicus/Sentinel-2/Nepal_flash_flood_imaged_by_satellites" TargetMode="External"/><Relationship Id="rId32" Type="http://schemas.openxmlformats.org/officeDocument/2006/relationships/hyperlink" Target="https://www.researchgate.net/publication/382327177_A_Geospatial_Investigation_of_the_Rishiganga_Disaster_in_Uttarakhand_India" TargetMode="External"/><Relationship Id="rId35" Type="http://schemas.openxmlformats.org/officeDocument/2006/relationships/hyperlink" Target="https://www.esa.int/Applications/Observing_the_Earth/Copernicus/Sentinel-2/Nepal_flash_flood_imaged_by_satellites" TargetMode="External"/><Relationship Id="rId34" Type="http://schemas.openxmlformats.org/officeDocument/2006/relationships/hyperlink" Target="https://www.esa.int/Applications/Observing_the_Earth/Copernicus/Sentinel-2/Nepal_flash_flood_imaged_by_satellites" TargetMode="External"/><Relationship Id="rId37" Type="http://schemas.openxmlformats.org/officeDocument/2006/relationships/hyperlink" Target="https://en.wikipedia.org/wiki/Destruction_of_the_Kakhovka_Dam" TargetMode="External"/><Relationship Id="rId36" Type="http://schemas.openxmlformats.org/officeDocument/2006/relationships/image" Target="../media/image106.png"/><Relationship Id="rId39" Type="http://schemas.openxmlformats.org/officeDocument/2006/relationships/hyperlink" Target="https://en.wikipedia.org/wiki/Destruction_of_the_Kakhovka_Dam" TargetMode="External"/><Relationship Id="rId38" Type="http://schemas.openxmlformats.org/officeDocument/2006/relationships/hyperlink" Target="https://en.wikipedia.org/wiki/Destruction_of_the_Kakhovka_Dam" TargetMode="External"/><Relationship Id="rId20" Type="http://schemas.openxmlformats.org/officeDocument/2006/relationships/hyperlink" Target="https://www.researchgate.net/publication/382327177_A_Geospatial_Investigation_of_the_Rishiganga_Disaster_in_Uttarakhand_India" TargetMode="External"/><Relationship Id="rId22" Type="http://schemas.openxmlformats.org/officeDocument/2006/relationships/image" Target="../media/image91.png"/><Relationship Id="rId21" Type="http://schemas.openxmlformats.org/officeDocument/2006/relationships/image" Target="../media/image93.png"/><Relationship Id="rId24" Type="http://schemas.openxmlformats.org/officeDocument/2006/relationships/image" Target="../media/image90.png"/><Relationship Id="rId23" Type="http://schemas.openxmlformats.org/officeDocument/2006/relationships/image" Target="../media/image98.png"/><Relationship Id="rId26" Type="http://schemas.openxmlformats.org/officeDocument/2006/relationships/image" Target="../media/image92.png"/><Relationship Id="rId25" Type="http://schemas.openxmlformats.org/officeDocument/2006/relationships/image" Target="../media/image104.png"/><Relationship Id="rId28" Type="http://schemas.openxmlformats.org/officeDocument/2006/relationships/image" Target="../media/image105.png"/><Relationship Id="rId27" Type="http://schemas.openxmlformats.org/officeDocument/2006/relationships/image" Target="../media/image99.png"/><Relationship Id="rId29" Type="http://schemas.openxmlformats.org/officeDocument/2006/relationships/hyperlink" Target="https://www.researchgate.net/publication/382327177_A_Geospatial_Investigation_of_the_Rishiganga_Disaster_in_Uttarakhand_India" TargetMode="External"/><Relationship Id="rId51" Type="http://schemas.openxmlformats.org/officeDocument/2006/relationships/hyperlink" Target="https://www.ceew.in/press-releases/75-districts-and-half-india%E2%80%99s-population-vulnerable-extreme-climate-events-ceew-study" TargetMode="External"/><Relationship Id="rId50" Type="http://schemas.openxmlformats.org/officeDocument/2006/relationships/image" Target="../media/image108.png"/><Relationship Id="rId53" Type="http://schemas.openxmlformats.org/officeDocument/2006/relationships/hyperlink" Target="https://doi.org/10.1038/s41467-023-36033-x" TargetMode="External"/><Relationship Id="rId52" Type="http://schemas.openxmlformats.org/officeDocument/2006/relationships/image" Target="../media/image118.png"/><Relationship Id="rId11" Type="http://schemas.openxmlformats.org/officeDocument/2006/relationships/image" Target="../media/image89.png"/><Relationship Id="rId55" Type="http://schemas.openxmlformats.org/officeDocument/2006/relationships/hyperlink" Target="https://www.nature.com/articles/s41467-023-44123-z" TargetMode="External"/><Relationship Id="rId10" Type="http://schemas.openxmlformats.org/officeDocument/2006/relationships/image" Target="../media/image82.png"/><Relationship Id="rId54" Type="http://schemas.openxmlformats.org/officeDocument/2006/relationships/image" Target="../media/image101.png"/><Relationship Id="rId13" Type="http://schemas.openxmlformats.org/officeDocument/2006/relationships/image" Target="../media/image17.png"/><Relationship Id="rId57" Type="http://schemas.openxmlformats.org/officeDocument/2006/relationships/hyperlink" Target="https://factly.in/data-average-annual-economic-impact-due-to-floods-is-more-than-rs-25000-crores-after-the-year-2010/" TargetMode="External"/><Relationship Id="rId12" Type="http://schemas.openxmlformats.org/officeDocument/2006/relationships/hyperlink" Target="https://www.esa.int/Applications/Observing_the_Earth/Copernicus/Sentinel-2/Nepal_flash_flood_imaged_by_satellites" TargetMode="External"/><Relationship Id="rId56" Type="http://schemas.openxmlformats.org/officeDocument/2006/relationships/image" Target="../media/image109.png"/><Relationship Id="rId15" Type="http://schemas.openxmlformats.org/officeDocument/2006/relationships/hyperlink" Target="https://open-meteo.com/" TargetMode="External"/><Relationship Id="rId59" Type="http://schemas.openxmlformats.org/officeDocument/2006/relationships/hyperlink" Target="https://www.ceew.in/press-releases/75-districts-and-half-india%E2%80%99s-population-vulnerable-extreme-climate-events-ceew-study" TargetMode="External"/><Relationship Id="rId14" Type="http://schemas.openxmlformats.org/officeDocument/2006/relationships/hyperlink" Target="https://open-meteo.com/" TargetMode="External"/><Relationship Id="rId58" Type="http://schemas.openxmlformats.org/officeDocument/2006/relationships/image" Target="../media/image107.png"/><Relationship Id="rId17" Type="http://schemas.openxmlformats.org/officeDocument/2006/relationships/hyperlink" Target="https://damfailures.org/case-study/machhu-dam-ii-gujarat-india-1979" TargetMode="External"/><Relationship Id="rId16" Type="http://schemas.openxmlformats.org/officeDocument/2006/relationships/image" Target="../media/image87.png"/><Relationship Id="rId19" Type="http://schemas.openxmlformats.org/officeDocument/2006/relationships/hyperlink" Target="https://www.researchgate.net/publication/382327177_A_Geospatial_Investigation_of_the_Rishiganga_Disaster_in_Uttarakhand_India" TargetMode="External"/><Relationship Id="rId18" Type="http://schemas.openxmlformats.org/officeDocument/2006/relationships/image" Target="../media/image9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12.png"/><Relationship Id="rId5" Type="http://schemas.openxmlformats.org/officeDocument/2006/relationships/image" Target="../media/image120.png"/><Relationship Id="rId6" Type="http://schemas.openxmlformats.org/officeDocument/2006/relationships/hyperlink" Target="https://doi.org/10.1016/j.cpc.2014.10.004" TargetMode="External"/><Relationship Id="rId7" Type="http://schemas.openxmlformats.org/officeDocument/2006/relationships/image" Target="../media/image138.png"/><Relationship Id="rId8" Type="http://schemas.openxmlformats.org/officeDocument/2006/relationships/hyperlink" Target="https://arxiv.org/abs/2104.00537" TargetMode="External"/><Relationship Id="rId30" Type="http://schemas.openxmlformats.org/officeDocument/2006/relationships/image" Target="../media/image132.png"/><Relationship Id="rId20" Type="http://schemas.openxmlformats.org/officeDocument/2006/relationships/image" Target="../media/image129.png"/><Relationship Id="rId22" Type="http://schemas.openxmlformats.org/officeDocument/2006/relationships/image" Target="../media/image123.png"/><Relationship Id="rId21" Type="http://schemas.openxmlformats.org/officeDocument/2006/relationships/hyperlink" Target="https://arxiv.org/abs/2104.00537" TargetMode="External"/><Relationship Id="rId24" Type="http://schemas.openxmlformats.org/officeDocument/2006/relationships/image" Target="../media/image74.png"/><Relationship Id="rId23" Type="http://schemas.openxmlformats.org/officeDocument/2006/relationships/image" Target="../media/image122.png"/><Relationship Id="rId26" Type="http://schemas.openxmlformats.org/officeDocument/2006/relationships/image" Target="../media/image117.png"/><Relationship Id="rId25" Type="http://schemas.openxmlformats.org/officeDocument/2006/relationships/image" Target="../media/image130.png"/><Relationship Id="rId28" Type="http://schemas.openxmlformats.org/officeDocument/2006/relationships/image" Target="../media/image116.png"/><Relationship Id="rId27" Type="http://schemas.openxmlformats.org/officeDocument/2006/relationships/image" Target="../media/image143.png"/><Relationship Id="rId29" Type="http://schemas.openxmlformats.org/officeDocument/2006/relationships/image" Target="../media/image131.png"/><Relationship Id="rId11" Type="http://schemas.openxmlformats.org/officeDocument/2006/relationships/image" Target="../media/image119.png"/><Relationship Id="rId10" Type="http://schemas.openxmlformats.org/officeDocument/2006/relationships/hyperlink" Target="https://github.com/GeoscienceAustralia/anuga_core" TargetMode="External"/><Relationship Id="rId13" Type="http://schemas.openxmlformats.org/officeDocument/2006/relationships/image" Target="../media/image115.png"/><Relationship Id="rId12" Type="http://schemas.openxmlformats.org/officeDocument/2006/relationships/hyperlink" Target="https://dl.acm.org/doi/fullHtml/10.1145/3474124.3474152" TargetMode="External"/><Relationship Id="rId15" Type="http://schemas.openxmlformats.org/officeDocument/2006/relationships/hyperlink" Target="https://doi.org/10.1016/j.cpc.2014.10.004" TargetMode="External"/><Relationship Id="rId14" Type="http://schemas.openxmlformats.org/officeDocument/2006/relationships/hyperlink" Target="https://github.com/DualSPHysics/DualSPHysics/wiki/4.-CPU-and-GPU-implementation" TargetMode="External"/><Relationship Id="rId17" Type="http://schemas.openxmlformats.org/officeDocument/2006/relationships/image" Target="../media/image114.png"/><Relationship Id="rId16" Type="http://schemas.openxmlformats.org/officeDocument/2006/relationships/hyperlink" Target="https://en.wikipedia.org/wiki/Courant%E2%80%93Friedrichs%E2%80%93Lewy_condition" TargetMode="External"/><Relationship Id="rId19" Type="http://schemas.openxmlformats.org/officeDocument/2006/relationships/hyperlink" Target="https://arxiv.org/abs/2104.00537" TargetMode="External"/><Relationship Id="rId18" Type="http://schemas.openxmlformats.org/officeDocument/2006/relationships/image" Target="../media/image1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hyperlink" Target="https://doi.org/10.1007/s10236-011-0423-6" TargetMode="External"/><Relationship Id="rId5" Type="http://schemas.openxmlformats.org/officeDocument/2006/relationships/image" Target="../media/image127.png"/><Relationship Id="rId6" Type="http://schemas.openxmlformats.org/officeDocument/2006/relationships/hyperlink" Target="https://doi.org/10.1080/09715010.2010.10514992" TargetMode="External"/><Relationship Id="rId7" Type="http://schemas.openxmlformats.org/officeDocument/2006/relationships/hyperlink" Target="https://doi.org/10.1016/j.cpc.2014.10.004" TargetMode="External"/><Relationship Id="rId8" Type="http://schemas.openxmlformats.org/officeDocument/2006/relationships/hyperlink" Target="https://doi.org/10.1061/(ASCE)0733-9429(2008)134:12(1708)" TargetMode="External"/><Relationship Id="rId31" Type="http://schemas.openxmlformats.org/officeDocument/2006/relationships/image" Target="../media/image153.png"/><Relationship Id="rId30" Type="http://schemas.openxmlformats.org/officeDocument/2006/relationships/image" Target="../media/image143.png"/><Relationship Id="rId33" Type="http://schemas.openxmlformats.org/officeDocument/2006/relationships/image" Target="../media/image148.png"/><Relationship Id="rId32" Type="http://schemas.openxmlformats.org/officeDocument/2006/relationships/image" Target="../media/image146.png"/><Relationship Id="rId34" Type="http://schemas.openxmlformats.org/officeDocument/2006/relationships/image" Target="../media/image147.png"/><Relationship Id="rId20" Type="http://schemas.openxmlformats.org/officeDocument/2006/relationships/image" Target="../media/image151.png"/><Relationship Id="rId22" Type="http://schemas.openxmlformats.org/officeDocument/2006/relationships/image" Target="../media/image145.png"/><Relationship Id="rId21" Type="http://schemas.openxmlformats.org/officeDocument/2006/relationships/image" Target="../media/image142.png"/><Relationship Id="rId24" Type="http://schemas.openxmlformats.org/officeDocument/2006/relationships/image" Target="../media/image135.png"/><Relationship Id="rId23" Type="http://schemas.openxmlformats.org/officeDocument/2006/relationships/hyperlink" Target="https://www.researchgate.net/publication/382327177_A_Geospatial_Investigation_of_the_Rishiganga_Disaster_in_Uttarakhand_India" TargetMode="External"/><Relationship Id="rId26" Type="http://schemas.openxmlformats.org/officeDocument/2006/relationships/image" Target="../media/image95.png"/><Relationship Id="rId25" Type="http://schemas.openxmlformats.org/officeDocument/2006/relationships/image" Target="../media/image133.png"/><Relationship Id="rId28" Type="http://schemas.openxmlformats.org/officeDocument/2006/relationships/image" Target="../media/image136.png"/><Relationship Id="rId27" Type="http://schemas.openxmlformats.org/officeDocument/2006/relationships/image" Target="../media/image149.png"/><Relationship Id="rId29" Type="http://schemas.openxmlformats.org/officeDocument/2006/relationships/image" Target="../media/image152.png"/><Relationship Id="rId11" Type="http://schemas.openxmlformats.org/officeDocument/2006/relationships/hyperlink" Target="https://www.researchgate.net/publication/382327177_A_Geospatial_Investigation_of_the_Rishiganga_Disaster_in_Uttarakhand_India" TargetMode="External"/><Relationship Id="rId10" Type="http://schemas.openxmlformats.org/officeDocument/2006/relationships/hyperlink" Target="https://github.com/GeoscienceAustralia/anuga_core" TargetMode="External"/><Relationship Id="rId13" Type="http://schemas.openxmlformats.org/officeDocument/2006/relationships/hyperlink" Target="https://damfailures.org/" TargetMode="External"/><Relationship Id="rId12" Type="http://schemas.openxmlformats.org/officeDocument/2006/relationships/hyperlink" Target="https://www.sciencedirect.com/science/article/pii/S2667010021003759" TargetMode="External"/><Relationship Id="rId15" Type="http://schemas.openxmlformats.org/officeDocument/2006/relationships/image" Target="../media/image137.png"/><Relationship Id="rId14" Type="http://schemas.openxmlformats.org/officeDocument/2006/relationships/image" Target="../media/image144.png"/><Relationship Id="rId17" Type="http://schemas.openxmlformats.org/officeDocument/2006/relationships/image" Target="../media/image140.png"/><Relationship Id="rId16" Type="http://schemas.openxmlformats.org/officeDocument/2006/relationships/image" Target="../media/image128.png"/><Relationship Id="rId19" Type="http://schemas.openxmlformats.org/officeDocument/2006/relationships/image" Target="../media/image141.png"/><Relationship Id="rId18" Type="http://schemas.openxmlformats.org/officeDocument/2006/relationships/image" Target="../media/image1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0"/>
          <p:cNvSpPr/>
          <p:nvPr/>
        </p:nvSpPr>
        <p:spPr>
          <a:xfrm>
            <a:off x="5543485" y="665278"/>
            <a:ext cx="3478953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50"/>
          <p:cNvPicPr preferRelativeResize="0"/>
          <p:nvPr/>
        </p:nvPicPr>
        <p:blipFill rotWithShape="1">
          <a:blip r:embed="rId3">
            <a:alphaModFix/>
          </a:blip>
          <a:srcRect b="0" l="0" r="59917" t="0"/>
          <a:stretch/>
        </p:blipFill>
        <p:spPr>
          <a:xfrm>
            <a:off x="6619818" y="16436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0"/>
          <p:cNvSpPr txBox="1"/>
          <p:nvPr>
            <p:ph idx="1" type="subTitle"/>
          </p:nvPr>
        </p:nvSpPr>
        <p:spPr>
          <a:xfrm>
            <a:off x="934265" y="486461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50"/>
          <p:cNvSpPr txBox="1"/>
          <p:nvPr>
            <p:ph type="ctrTitle"/>
          </p:nvPr>
        </p:nvSpPr>
        <p:spPr>
          <a:xfrm>
            <a:off x="228600" y="-395068"/>
            <a:ext cx="704088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INDIA HACKATHON 2026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50"/>
          <p:cNvSpPr txBox="1"/>
          <p:nvPr/>
        </p:nvSpPr>
        <p:spPr>
          <a:xfrm>
            <a:off x="579675" y="1439450"/>
            <a:ext cx="59061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1" i="0" lang="en" sz="17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SIH26161</a:t>
            </a:r>
            <a:endParaRPr b="0" i="0" sz="1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Dam Break Inundation Modelling using Hydrodynamic Modelling of any River</a:t>
            </a:r>
            <a:endParaRPr b="1" i="0" sz="15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b="1" i="0" lang="en" sz="17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Disaster Management</a:t>
            </a:r>
            <a:endParaRPr b="0" i="0" sz="1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b="1" i="0" lang="en" sz="17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b="0" i="0" sz="1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-                </a:t>
            </a:r>
            <a:r>
              <a:rPr b="1" i="0" lang="en" sz="17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NIYANTA</a:t>
            </a:r>
            <a:endParaRPr b="1" i="0" sz="17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0"/>
          <p:cNvPicPr preferRelativeResize="0"/>
          <p:nvPr/>
        </p:nvPicPr>
        <p:blipFill rotWithShape="1">
          <a:blip r:embed="rId5">
            <a:alphaModFix/>
          </a:blip>
          <a:srcRect b="40218" l="35715" r="35013" t="7050"/>
          <a:stretch/>
        </p:blipFill>
        <p:spPr>
          <a:xfrm>
            <a:off x="2332250" y="4213300"/>
            <a:ext cx="614100" cy="5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/>
          <p:nvPr/>
        </p:nvSpPr>
        <p:spPr>
          <a:xfrm>
            <a:off x="1828" y="2743"/>
            <a:ext cx="9144000" cy="446227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iy_logo.png" id="293" name="Google Shape;2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4" y="7315"/>
            <a:ext cx="435254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1"/>
          <p:cNvSpPr txBox="1"/>
          <p:nvPr/>
        </p:nvSpPr>
        <p:spPr>
          <a:xfrm>
            <a:off x="621792" y="731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</a:t>
            </a:r>
            <a:endParaRPr/>
          </a:p>
        </p:txBody>
      </p:sp>
      <p:sp>
        <p:nvSpPr>
          <p:cNvPr id="295" name="Google Shape;295;p51"/>
          <p:cNvSpPr txBox="1"/>
          <p:nvPr/>
        </p:nvSpPr>
        <p:spPr>
          <a:xfrm>
            <a:off x="2743200" y="45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pic>
        <p:nvPicPr>
          <p:cNvPr descr="sih.png" id="296" name="Google Shape;29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153" y="0"/>
            <a:ext cx="1533448" cy="4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1"/>
          <p:cNvSpPr/>
          <p:nvPr/>
        </p:nvSpPr>
        <p:spPr>
          <a:xfrm>
            <a:off x="43891" y="475488"/>
            <a:ext cx="9038844" cy="322783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1"/>
          <p:cNvSpPr txBox="1"/>
          <p:nvPr/>
        </p:nvSpPr>
        <p:spPr>
          <a:xfrm>
            <a:off x="91440" y="475488"/>
            <a:ext cx="8961120" cy="322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NIYANTA - </a:t>
            </a:r>
            <a:r>
              <a:rPr b="0" i="1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Intelligence that guides action.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treat this problem statement as three different real-world scenarios.</a:t>
            </a:r>
            <a:endParaRPr/>
          </a:p>
        </p:txBody>
      </p:sp>
      <p:sp>
        <p:nvSpPr>
          <p:cNvPr id="299" name="Google Shape;299;p51"/>
          <p:cNvSpPr/>
          <p:nvPr/>
        </p:nvSpPr>
        <p:spPr>
          <a:xfrm>
            <a:off x="46642" y="854983"/>
            <a:ext cx="2984700" cy="42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1"/>
          <p:cNvSpPr/>
          <p:nvPr/>
        </p:nvSpPr>
        <p:spPr>
          <a:xfrm>
            <a:off x="132588" y="902512"/>
            <a:ext cx="2830068" cy="232257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1"/>
          <p:cNvSpPr/>
          <p:nvPr/>
        </p:nvSpPr>
        <p:spPr>
          <a:xfrm>
            <a:off x="154533" y="918971"/>
            <a:ext cx="435254" cy="192938"/>
          </a:xfrm>
          <a:prstGeom prst="roundRect">
            <a:avLst>
              <a:gd fmla="val 15000" name="adj"/>
            </a:avLst>
          </a:prstGeom>
          <a:solidFill>
            <a:srgbClr val="0074B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02" name="Google Shape;302;p51"/>
          <p:cNvSpPr txBox="1"/>
          <p:nvPr/>
        </p:nvSpPr>
        <p:spPr>
          <a:xfrm>
            <a:off x="623620" y="90525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DAM CRITICALITY</a:t>
            </a:r>
            <a:endParaRPr/>
          </a:p>
        </p:txBody>
      </p:sp>
      <p:sp>
        <p:nvSpPr>
          <p:cNvPr id="303" name="Google Shape;303;p51"/>
          <p:cNvSpPr/>
          <p:nvPr/>
        </p:nvSpPr>
        <p:spPr>
          <a:xfrm>
            <a:off x="3095244" y="864108"/>
            <a:ext cx="2984601" cy="4285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1"/>
          <p:cNvSpPr/>
          <p:nvPr/>
        </p:nvSpPr>
        <p:spPr>
          <a:xfrm>
            <a:off x="3171139" y="902512"/>
            <a:ext cx="2830068" cy="232257"/>
          </a:xfrm>
          <a:prstGeom prst="roundRect">
            <a:avLst>
              <a:gd fmla="val 20000" name="adj"/>
            </a:avLst>
          </a:prstGeom>
          <a:solidFill>
            <a:srgbClr val="C6EF7E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1"/>
          <p:cNvSpPr/>
          <p:nvPr/>
        </p:nvSpPr>
        <p:spPr>
          <a:xfrm>
            <a:off x="3193084" y="918971"/>
            <a:ext cx="435254" cy="192938"/>
          </a:xfrm>
          <a:prstGeom prst="roundRect">
            <a:avLst>
              <a:gd fmla="val 15000" name="adj"/>
            </a:avLst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06" name="Google Shape;306;p51"/>
          <p:cNvSpPr txBox="1"/>
          <p:nvPr/>
        </p:nvSpPr>
        <p:spPr>
          <a:xfrm>
            <a:off x="3662172" y="90525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NATURAL EXTREME EVENT</a:t>
            </a:r>
            <a:endParaRPr/>
          </a:p>
        </p:txBody>
      </p:sp>
      <p:sp>
        <p:nvSpPr>
          <p:cNvPr id="307" name="Google Shape;307;p51"/>
          <p:cNvSpPr/>
          <p:nvPr/>
        </p:nvSpPr>
        <p:spPr>
          <a:xfrm>
            <a:off x="6143853" y="864108"/>
            <a:ext cx="2984601" cy="4285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1"/>
          <p:cNvSpPr/>
          <p:nvPr/>
        </p:nvSpPr>
        <p:spPr>
          <a:xfrm>
            <a:off x="6219748" y="902512"/>
            <a:ext cx="2830068" cy="232257"/>
          </a:xfrm>
          <a:prstGeom prst="roundRect">
            <a:avLst>
              <a:gd fmla="val 20000" name="adj"/>
            </a:avLst>
          </a:prstGeom>
          <a:solidFill>
            <a:srgbClr val="F6B26B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1"/>
          <p:cNvSpPr/>
          <p:nvPr/>
        </p:nvSpPr>
        <p:spPr>
          <a:xfrm>
            <a:off x="6241694" y="918971"/>
            <a:ext cx="435254" cy="192938"/>
          </a:xfrm>
          <a:prstGeom prst="roundRect">
            <a:avLst>
              <a:gd fmla="val 15000" name="adj"/>
            </a:avLst>
          </a:prstGeom>
          <a:solidFill>
            <a:srgbClr val="B45F0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10" name="Google Shape;310;p51"/>
          <p:cNvSpPr txBox="1"/>
          <p:nvPr/>
        </p:nvSpPr>
        <p:spPr>
          <a:xfrm>
            <a:off x="6710781" y="90525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/ WARTIME TRIGGER</a:t>
            </a:r>
            <a:endParaRPr/>
          </a:p>
        </p:txBody>
      </p:sp>
      <p:pic>
        <p:nvPicPr>
          <p:cNvPr descr="ph_machhu.png" id="311" name="Google Shape;31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88" y="1180490"/>
            <a:ext cx="1534363" cy="97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1"/>
          <p:cNvSpPr/>
          <p:nvPr/>
        </p:nvSpPr>
        <p:spPr>
          <a:xfrm>
            <a:off x="146304" y="2061972"/>
            <a:ext cx="1371600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1"/>
          <p:cNvSpPr txBox="1"/>
          <p:nvPr/>
        </p:nvSpPr>
        <p:spPr>
          <a:xfrm>
            <a:off x="146300" y="2040151"/>
            <a:ext cx="1645800" cy="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sng" cap="none" strike="noStrike">
                <a:solidFill>
                  <a:schemeClr val="hlink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  <a:hlinkClick r:id="rId6"/>
              </a:rPr>
              <a:t>Machhu Dam II (Gujarat, India, 1979)</a:t>
            </a:r>
            <a:endParaRPr sz="1500">
              <a:highlight>
                <a:srgbClr val="FFFF00"/>
              </a:highlight>
            </a:endParaRPr>
          </a:p>
        </p:txBody>
      </p:sp>
      <p:sp>
        <p:nvSpPr>
          <p:cNvPr id="314" name="Google Shape;314;p51"/>
          <p:cNvSpPr/>
          <p:nvPr/>
        </p:nvSpPr>
        <p:spPr>
          <a:xfrm>
            <a:off x="146304" y="3086100"/>
            <a:ext cx="1371600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h_nep1.png" id="315" name="Google Shape;315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1936" y="1188720"/>
            <a:ext cx="751636" cy="97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_nep2.png" id="316" name="Google Shape;316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38320" y="1189634"/>
            <a:ext cx="752551" cy="97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1"/>
          <p:cNvSpPr/>
          <p:nvPr/>
        </p:nvSpPr>
        <p:spPr>
          <a:xfrm>
            <a:off x="3163824" y="1211580"/>
            <a:ext cx="365760" cy="118872"/>
          </a:xfrm>
          <a:prstGeom prst="rect">
            <a:avLst/>
          </a:prstGeom>
          <a:solidFill>
            <a:srgbClr val="E00000"/>
          </a:solidFill>
          <a:ln>
            <a:noFill/>
          </a:ln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12 AUG</a:t>
            </a:r>
            <a:endParaRPr/>
          </a:p>
        </p:txBody>
      </p:sp>
      <p:sp>
        <p:nvSpPr>
          <p:cNvPr id="318" name="Google Shape;318;p51"/>
          <p:cNvSpPr/>
          <p:nvPr/>
        </p:nvSpPr>
        <p:spPr>
          <a:xfrm>
            <a:off x="3950208" y="1211580"/>
            <a:ext cx="365760" cy="118872"/>
          </a:xfrm>
          <a:prstGeom prst="rect">
            <a:avLst/>
          </a:prstGeom>
          <a:solidFill>
            <a:srgbClr val="E00000"/>
          </a:solidFill>
          <a:ln>
            <a:noFill/>
          </a:ln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27 AUG</a:t>
            </a:r>
            <a:endParaRPr/>
          </a:p>
        </p:txBody>
      </p:sp>
      <p:sp>
        <p:nvSpPr>
          <p:cNvPr id="319" name="Google Shape;319;p51"/>
          <p:cNvSpPr/>
          <p:nvPr/>
        </p:nvSpPr>
        <p:spPr>
          <a:xfrm>
            <a:off x="3197656" y="1997049"/>
            <a:ext cx="1417320" cy="1371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1"/>
          <p:cNvSpPr txBox="1"/>
          <p:nvPr/>
        </p:nvSpPr>
        <p:spPr>
          <a:xfrm>
            <a:off x="3197656" y="1997049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2026_Nepal_Tibet_floods</a:t>
            </a:r>
            <a:endParaRPr/>
          </a:p>
        </p:txBody>
      </p:sp>
      <p:pic>
        <p:nvPicPr>
          <p:cNvPr descr="ph_rishi.png" id="321" name="Google Shape;321;p5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45536" y="2220163"/>
            <a:ext cx="1534363" cy="97566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1"/>
          <p:cNvSpPr/>
          <p:nvPr/>
        </p:nvSpPr>
        <p:spPr>
          <a:xfrm>
            <a:off x="3197656" y="3067812"/>
            <a:ext cx="1463040" cy="1188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1"/>
          <p:cNvSpPr txBox="1"/>
          <p:nvPr/>
        </p:nvSpPr>
        <p:spPr>
          <a:xfrm>
            <a:off x="3197656" y="3067812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Rishiganga, Uttarakhand 2021</a:t>
            </a:r>
            <a:endParaRPr/>
          </a:p>
        </p:txBody>
      </p:sp>
      <p:pic>
        <p:nvPicPr>
          <p:cNvPr descr="ph_kakhovka.png" id="324" name="Google Shape;324;p5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13348" y="1161288"/>
            <a:ext cx="1534363" cy="97566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1"/>
          <p:cNvSpPr/>
          <p:nvPr/>
        </p:nvSpPr>
        <p:spPr>
          <a:xfrm>
            <a:off x="6227064" y="1179576"/>
            <a:ext cx="658368" cy="118872"/>
          </a:xfrm>
          <a:prstGeom prst="rect">
            <a:avLst/>
          </a:prstGeom>
          <a:solidFill>
            <a:srgbClr val="E00000"/>
          </a:solidFill>
          <a:ln>
            <a:noFill/>
          </a:ln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Ukraine 2023</a:t>
            </a:r>
            <a:endParaRPr/>
          </a:p>
        </p:txBody>
      </p:sp>
      <p:sp>
        <p:nvSpPr>
          <p:cNvPr id="326" name="Google Shape;326;p51"/>
          <p:cNvSpPr/>
          <p:nvPr/>
        </p:nvSpPr>
        <p:spPr>
          <a:xfrm>
            <a:off x="6245352" y="2048256"/>
            <a:ext cx="1335024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1"/>
          <p:cNvSpPr txBox="1"/>
          <p:nvPr/>
        </p:nvSpPr>
        <p:spPr>
          <a:xfrm>
            <a:off x="6245352" y="2048256"/>
            <a:ext cx="15180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  <a:hlinkClick r:id="rId13"/>
              </a:rPr>
              <a:t>Destruction_of_the_Kakhovka_Dam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descr="ph_dnieper.png" id="328" name="Google Shape;328;p5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06947" y="2193645"/>
            <a:ext cx="1534363" cy="97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1"/>
          <p:cNvSpPr/>
          <p:nvPr/>
        </p:nvSpPr>
        <p:spPr>
          <a:xfrm>
            <a:off x="6245352" y="3067812"/>
            <a:ext cx="1335024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1"/>
          <p:cNvSpPr txBox="1"/>
          <p:nvPr/>
        </p:nvSpPr>
        <p:spPr>
          <a:xfrm>
            <a:off x="6245352" y="3067812"/>
            <a:ext cx="15180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  <a:hlinkClick r:id="rId15"/>
              </a:rPr>
              <a:t>The Dnieper River was the frontline.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331" name="Google Shape;331;p51"/>
          <p:cNvSpPr/>
          <p:nvPr/>
        </p:nvSpPr>
        <p:spPr>
          <a:xfrm>
            <a:off x="1764792" y="1183233"/>
            <a:ext cx="1227124" cy="27706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inflow</a:t>
            </a:r>
            <a:endParaRPr/>
          </a:p>
        </p:txBody>
      </p:sp>
      <p:cxnSp>
        <p:nvCxnSpPr>
          <p:cNvPr id="332" name="Google Shape;332;p51"/>
          <p:cNvCxnSpPr/>
          <p:nvPr/>
        </p:nvCxnSpPr>
        <p:spPr>
          <a:xfrm>
            <a:off x="2378354" y="1460296"/>
            <a:ext cx="0" cy="167336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3" name="Google Shape;333;p51"/>
          <p:cNvSpPr/>
          <p:nvPr/>
        </p:nvSpPr>
        <p:spPr>
          <a:xfrm>
            <a:off x="1764792" y="1627632"/>
            <a:ext cx="1227124" cy="27706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Storage increase</a:t>
            </a:r>
            <a:endParaRPr/>
          </a:p>
        </p:txBody>
      </p:sp>
      <p:cxnSp>
        <p:nvCxnSpPr>
          <p:cNvPr id="334" name="Google Shape;334;p51"/>
          <p:cNvCxnSpPr/>
          <p:nvPr/>
        </p:nvCxnSpPr>
        <p:spPr>
          <a:xfrm>
            <a:off x="2378354" y="1904695"/>
            <a:ext cx="0" cy="179222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5" name="Google Shape;335;p51"/>
          <p:cNvSpPr/>
          <p:nvPr/>
        </p:nvSpPr>
        <p:spPr>
          <a:xfrm>
            <a:off x="1764792" y="2083917"/>
            <a:ext cx="1227124" cy="256032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Overtopping</a:t>
            </a:r>
            <a:endParaRPr/>
          </a:p>
        </p:txBody>
      </p:sp>
      <p:cxnSp>
        <p:nvCxnSpPr>
          <p:cNvPr id="336" name="Google Shape;336;p51"/>
          <p:cNvCxnSpPr/>
          <p:nvPr/>
        </p:nvCxnSpPr>
        <p:spPr>
          <a:xfrm>
            <a:off x="2378354" y="2339949"/>
            <a:ext cx="0" cy="179223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7" name="Google Shape;337;p51"/>
          <p:cNvSpPr/>
          <p:nvPr/>
        </p:nvSpPr>
        <p:spPr>
          <a:xfrm>
            <a:off x="1764792" y="2519172"/>
            <a:ext cx="1227124" cy="255117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Failed dam</a:t>
            </a:r>
            <a:endParaRPr/>
          </a:p>
        </p:txBody>
      </p:sp>
      <p:cxnSp>
        <p:nvCxnSpPr>
          <p:cNvPr id="338" name="Google Shape;338;p51"/>
          <p:cNvCxnSpPr/>
          <p:nvPr/>
        </p:nvCxnSpPr>
        <p:spPr>
          <a:xfrm>
            <a:off x="2378354" y="2774289"/>
            <a:ext cx="0" cy="181966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9" name="Google Shape;339;p51"/>
          <p:cNvSpPr/>
          <p:nvPr/>
        </p:nvSpPr>
        <p:spPr>
          <a:xfrm>
            <a:off x="1764792" y="2956255"/>
            <a:ext cx="1227124" cy="32278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Flood consequences</a:t>
            </a:r>
            <a:endParaRPr/>
          </a:p>
        </p:txBody>
      </p:sp>
      <p:sp>
        <p:nvSpPr>
          <p:cNvPr id="340" name="Google Shape;340;p51"/>
          <p:cNvSpPr/>
          <p:nvPr/>
        </p:nvSpPr>
        <p:spPr>
          <a:xfrm>
            <a:off x="4783226" y="1191463"/>
            <a:ext cx="1227124" cy="27706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Weather change</a:t>
            </a:r>
            <a:endParaRPr/>
          </a:p>
        </p:txBody>
      </p:sp>
      <p:cxnSp>
        <p:nvCxnSpPr>
          <p:cNvPr id="341" name="Google Shape;341;p51"/>
          <p:cNvCxnSpPr/>
          <p:nvPr/>
        </p:nvCxnSpPr>
        <p:spPr>
          <a:xfrm>
            <a:off x="5396788" y="1468526"/>
            <a:ext cx="0" cy="121615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2" name="Google Shape;342;p51"/>
          <p:cNvSpPr/>
          <p:nvPr/>
        </p:nvSpPr>
        <p:spPr>
          <a:xfrm>
            <a:off x="4783226" y="1590141"/>
            <a:ext cx="1227124" cy="32278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Glacier / ice-rock change</a:t>
            </a:r>
            <a:endParaRPr/>
          </a:p>
        </p:txBody>
      </p:sp>
      <p:cxnSp>
        <p:nvCxnSpPr>
          <p:cNvPr id="343" name="Google Shape;343;p51"/>
          <p:cNvCxnSpPr/>
          <p:nvPr/>
        </p:nvCxnSpPr>
        <p:spPr>
          <a:xfrm>
            <a:off x="5396788" y="1912924"/>
            <a:ext cx="0" cy="180137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4" name="Google Shape;344;p51"/>
          <p:cNvSpPr/>
          <p:nvPr/>
        </p:nvSpPr>
        <p:spPr>
          <a:xfrm>
            <a:off x="4783226" y="2093061"/>
            <a:ext cx="1227124" cy="255117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Natural blockage</a:t>
            </a:r>
            <a:endParaRPr/>
          </a:p>
        </p:txBody>
      </p:sp>
      <p:cxnSp>
        <p:nvCxnSpPr>
          <p:cNvPr id="345" name="Google Shape;345;p51"/>
          <p:cNvCxnSpPr/>
          <p:nvPr/>
        </p:nvCxnSpPr>
        <p:spPr>
          <a:xfrm>
            <a:off x="5396788" y="2348179"/>
            <a:ext cx="0" cy="179222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6" name="Google Shape;346;p51"/>
          <p:cNvSpPr/>
          <p:nvPr/>
        </p:nvSpPr>
        <p:spPr>
          <a:xfrm>
            <a:off x="4783226" y="2527401"/>
            <a:ext cx="1227124" cy="256032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Sudden release</a:t>
            </a:r>
            <a:endParaRPr/>
          </a:p>
        </p:txBody>
      </p:sp>
      <p:cxnSp>
        <p:nvCxnSpPr>
          <p:cNvPr id="347" name="Google Shape;347;p51"/>
          <p:cNvCxnSpPr/>
          <p:nvPr/>
        </p:nvCxnSpPr>
        <p:spPr>
          <a:xfrm>
            <a:off x="5396788" y="2783433"/>
            <a:ext cx="0" cy="181051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8" name="Google Shape;348;p51"/>
          <p:cNvSpPr/>
          <p:nvPr/>
        </p:nvSpPr>
        <p:spPr>
          <a:xfrm>
            <a:off x="4783226" y="2964484"/>
            <a:ext cx="1227124" cy="23134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Flash flood</a:t>
            </a:r>
            <a:endParaRPr/>
          </a:p>
        </p:txBody>
      </p:sp>
      <p:sp>
        <p:nvSpPr>
          <p:cNvPr id="349" name="Google Shape;349;p51"/>
          <p:cNvSpPr/>
          <p:nvPr/>
        </p:nvSpPr>
        <p:spPr>
          <a:xfrm>
            <a:off x="7845552" y="1185976"/>
            <a:ext cx="1227124" cy="256032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Deliberate attack</a:t>
            </a:r>
            <a:endParaRPr/>
          </a:p>
        </p:txBody>
      </p:sp>
      <p:cxnSp>
        <p:nvCxnSpPr>
          <p:cNvPr id="350" name="Google Shape;350;p51"/>
          <p:cNvCxnSpPr/>
          <p:nvPr/>
        </p:nvCxnSpPr>
        <p:spPr>
          <a:xfrm>
            <a:off x="8459114" y="1442008"/>
            <a:ext cx="0" cy="167336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1" name="Google Shape;351;p51"/>
          <p:cNvSpPr/>
          <p:nvPr/>
        </p:nvSpPr>
        <p:spPr>
          <a:xfrm>
            <a:off x="7845552" y="1609344"/>
            <a:ext cx="1227124" cy="27706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Sudden release</a:t>
            </a:r>
            <a:endParaRPr/>
          </a:p>
        </p:txBody>
      </p:sp>
      <p:cxnSp>
        <p:nvCxnSpPr>
          <p:cNvPr id="352" name="Google Shape;352;p51"/>
          <p:cNvCxnSpPr/>
          <p:nvPr/>
        </p:nvCxnSpPr>
        <p:spPr>
          <a:xfrm>
            <a:off x="8459114" y="1886407"/>
            <a:ext cx="0" cy="179222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3" name="Google Shape;353;p51"/>
          <p:cNvSpPr/>
          <p:nvPr/>
        </p:nvSpPr>
        <p:spPr>
          <a:xfrm>
            <a:off x="7845552" y="2065629"/>
            <a:ext cx="1227124" cy="256032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Dam breach</a:t>
            </a:r>
            <a:endParaRPr/>
          </a:p>
        </p:txBody>
      </p:sp>
      <p:cxnSp>
        <p:nvCxnSpPr>
          <p:cNvPr id="354" name="Google Shape;354;p51"/>
          <p:cNvCxnSpPr/>
          <p:nvPr/>
        </p:nvCxnSpPr>
        <p:spPr>
          <a:xfrm>
            <a:off x="8459114" y="2321661"/>
            <a:ext cx="0" cy="178308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5" name="Google Shape;355;p51"/>
          <p:cNvSpPr/>
          <p:nvPr/>
        </p:nvSpPr>
        <p:spPr>
          <a:xfrm>
            <a:off x="7845552" y="2499969"/>
            <a:ext cx="1227124" cy="256032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Flood wave</a:t>
            </a:r>
            <a:endParaRPr/>
          </a:p>
        </p:txBody>
      </p:sp>
      <p:cxnSp>
        <p:nvCxnSpPr>
          <p:cNvPr id="356" name="Google Shape;356;p51"/>
          <p:cNvCxnSpPr/>
          <p:nvPr/>
        </p:nvCxnSpPr>
        <p:spPr>
          <a:xfrm>
            <a:off x="8459114" y="2756001"/>
            <a:ext cx="0" cy="136246"/>
          </a:xfrm>
          <a:prstGeom prst="straightConnector1">
            <a:avLst/>
          </a:prstGeom>
          <a:noFill/>
          <a:ln cap="flat" cmpd="sng" w="12700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7" name="Google Shape;357;p51"/>
          <p:cNvSpPr/>
          <p:nvPr/>
        </p:nvSpPr>
        <p:spPr>
          <a:xfrm>
            <a:off x="7845552" y="2892247"/>
            <a:ext cx="1227124" cy="322783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flooding</a:t>
            </a:r>
            <a:endParaRPr/>
          </a:p>
        </p:txBody>
      </p:sp>
      <p:sp>
        <p:nvSpPr>
          <p:cNvPr id="358" name="Google Shape;358;p51"/>
          <p:cNvSpPr/>
          <p:nvPr/>
        </p:nvSpPr>
        <p:spPr>
          <a:xfrm>
            <a:off x="94183" y="3346704"/>
            <a:ext cx="2935224" cy="173736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1"/>
          <p:cNvSpPr/>
          <p:nvPr/>
        </p:nvSpPr>
        <p:spPr>
          <a:xfrm>
            <a:off x="112471" y="3355848"/>
            <a:ext cx="2898648" cy="173736"/>
          </a:xfrm>
          <a:prstGeom prst="roundRect">
            <a:avLst>
              <a:gd fmla="val 25000" name="adj"/>
            </a:avLst>
          </a:prstGeom>
          <a:solidFill>
            <a:srgbClr val="1F4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1"/>
          <p:cNvSpPr txBox="1"/>
          <p:nvPr/>
        </p:nvSpPr>
        <p:spPr>
          <a:xfrm>
            <a:off x="167335" y="335584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FOR THIS CASE</a:t>
            </a:r>
            <a:endParaRPr/>
          </a:p>
        </p:txBody>
      </p:sp>
      <p:sp>
        <p:nvSpPr>
          <p:cNvPr id="361" name="Google Shape;361;p51"/>
          <p:cNvSpPr/>
          <p:nvPr/>
        </p:nvSpPr>
        <p:spPr>
          <a:xfrm>
            <a:off x="121615" y="3566160"/>
            <a:ext cx="941832" cy="1243584"/>
          </a:xfrm>
          <a:prstGeom prst="roundRect">
            <a:avLst>
              <a:gd fmla="val 6000" name="adj"/>
            </a:avLst>
          </a:prstGeom>
          <a:solidFill>
            <a:srgbClr val="EAF2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1"/>
          <p:cNvSpPr/>
          <p:nvPr/>
        </p:nvSpPr>
        <p:spPr>
          <a:xfrm>
            <a:off x="1118311" y="3566160"/>
            <a:ext cx="566928" cy="1243584"/>
          </a:xfrm>
          <a:prstGeom prst="roundRect">
            <a:avLst>
              <a:gd fmla="val 8000" name="adj"/>
            </a:avLst>
          </a:prstGeom>
          <a:solidFill>
            <a:srgbClr val="DCE9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51"/>
          <p:cNvSpPr/>
          <p:nvPr/>
        </p:nvSpPr>
        <p:spPr>
          <a:xfrm>
            <a:off x="1740103" y="3566160"/>
            <a:ext cx="1261872" cy="1243584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_arrowR_b.png" id="364" name="Google Shape;364;p5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58875" y="4133088"/>
            <a:ext cx="68580" cy="6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arrowR_b.png" id="365" name="Google Shape;365;p5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80667" y="4133088"/>
            <a:ext cx="68580" cy="685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1"/>
          <p:cNvSpPr txBox="1"/>
          <p:nvPr/>
        </p:nvSpPr>
        <p:spPr>
          <a:xfrm>
            <a:off x="158191" y="3575304"/>
            <a:ext cx="8961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Input data (X</a:t>
            </a:r>
            <a:r>
              <a:rPr b="1" baseline="-25000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7" name="Google Shape;367;p51"/>
          <p:cNvSpPr txBox="1"/>
          <p:nvPr/>
        </p:nvSpPr>
        <p:spPr>
          <a:xfrm>
            <a:off x="1118311" y="3575304"/>
            <a:ext cx="5669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baseline="-25000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(X</a:t>
            </a:r>
            <a:r>
              <a:rPr b="1" baseline="-25000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8" name="Google Shape;368;p51"/>
          <p:cNvSpPr txBox="1"/>
          <p:nvPr/>
        </p:nvSpPr>
        <p:spPr>
          <a:xfrm>
            <a:off x="1785823" y="3575304"/>
            <a:ext cx="1216151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Output (Y</a:t>
            </a:r>
            <a:r>
              <a:rPr b="1" baseline="-25000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gee.png" id="369" name="Google Shape;369;p5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8997" y="3749055"/>
            <a:ext cx="237750" cy="22941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1"/>
          <p:cNvSpPr txBox="1"/>
          <p:nvPr/>
        </p:nvSpPr>
        <p:spPr>
          <a:xfrm>
            <a:off x="107900" y="3990950"/>
            <a:ext cx="31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Earth Engine</a:t>
            </a:r>
            <a:endParaRPr/>
          </a:p>
        </p:txBody>
      </p:sp>
      <p:pic>
        <p:nvPicPr>
          <p:cNvPr descr="cop.png" id="371" name="Google Shape;371;p5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7999" y="3749051"/>
            <a:ext cx="315300" cy="18217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1"/>
          <p:cNvSpPr txBox="1"/>
          <p:nvPr/>
        </p:nvSpPr>
        <p:spPr>
          <a:xfrm>
            <a:off x="420123" y="3983560"/>
            <a:ext cx="356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Copernicus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Sentinel</a:t>
            </a:r>
            <a:endParaRPr/>
          </a:p>
        </p:txBody>
      </p:sp>
      <p:pic>
        <p:nvPicPr>
          <p:cNvPr descr="dam.png" id="373" name="Google Shape;373;p5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3575" y="3749054"/>
            <a:ext cx="235792" cy="2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1"/>
          <p:cNvSpPr txBox="1"/>
          <p:nvPr/>
        </p:nvSpPr>
        <p:spPr>
          <a:xfrm>
            <a:off x="718925" y="3975475"/>
            <a:ext cx="384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Dam /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reservoir</a:t>
            </a:r>
            <a:endParaRPr/>
          </a:p>
        </p:txBody>
      </p:sp>
      <p:pic>
        <p:nvPicPr>
          <p:cNvPr descr="dem1.png" id="375" name="Google Shape;375;p5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71916" y="4222251"/>
            <a:ext cx="512064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1"/>
          <p:cNvSpPr txBox="1"/>
          <p:nvPr/>
        </p:nvSpPr>
        <p:spPr>
          <a:xfrm>
            <a:off x="121625" y="4529676"/>
            <a:ext cx="5853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DEM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(Cartosat / SRTM / GLO-30)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i_hist.png" id="377" name="Google Shape;377;p5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41825" y="4208724"/>
            <a:ext cx="315300" cy="3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1"/>
          <p:cNvSpPr txBox="1"/>
          <p:nvPr/>
        </p:nvSpPr>
        <p:spPr>
          <a:xfrm>
            <a:off x="679399" y="4567427"/>
            <a:ext cx="38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Historical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/>
          </a:p>
        </p:txBody>
      </p:sp>
      <p:sp>
        <p:nvSpPr>
          <p:cNvPr id="379" name="Google Shape;379;p51"/>
          <p:cNvSpPr/>
          <p:nvPr/>
        </p:nvSpPr>
        <p:spPr>
          <a:xfrm>
            <a:off x="1154887" y="3767328"/>
            <a:ext cx="493776" cy="98755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1.png" id="380" name="Google Shape;380;p5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83573" y="3822192"/>
            <a:ext cx="436403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1"/>
          <p:cNvSpPr txBox="1"/>
          <p:nvPr/>
        </p:nvSpPr>
        <p:spPr>
          <a:xfrm>
            <a:off x="1145743" y="4187952"/>
            <a:ext cx="5120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Reservoir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condition analysis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Breach risk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estimation</a:t>
            </a:r>
            <a:endParaRPr/>
          </a:p>
        </p:txBody>
      </p:sp>
      <p:pic>
        <p:nvPicPr>
          <p:cNvPr descr="i_warn.png" id="382" name="Google Shape;382;p5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776679" y="378470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1"/>
          <p:cNvSpPr txBox="1"/>
          <p:nvPr/>
        </p:nvSpPr>
        <p:spPr>
          <a:xfrm>
            <a:off x="1932127" y="3749040"/>
            <a:ext cx="102412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Breach / overflow risk</a:t>
            </a:r>
            <a:endParaRPr/>
          </a:p>
        </p:txBody>
      </p:sp>
      <p:pic>
        <p:nvPicPr>
          <p:cNvPr descr="i_map.png" id="384" name="Google Shape;384;p5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776679" y="399318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1"/>
          <p:cNvSpPr txBox="1"/>
          <p:nvPr/>
        </p:nvSpPr>
        <p:spPr>
          <a:xfrm>
            <a:off x="1932127" y="3957523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Flood extent (map)</a:t>
            </a:r>
            <a:endParaRPr/>
          </a:p>
        </p:txBody>
      </p:sp>
      <p:pic>
        <p:nvPicPr>
          <p:cNvPr descr="t1_ext.png" id="386" name="Google Shape;386;p5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614902" y="3968496"/>
            <a:ext cx="344377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waves.png" id="387" name="Google Shape;387;p5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776679" y="420166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1"/>
          <p:cNvSpPr txBox="1"/>
          <p:nvPr/>
        </p:nvSpPr>
        <p:spPr>
          <a:xfrm>
            <a:off x="1932127" y="4166006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Depth &amp; velocity</a:t>
            </a:r>
            <a:endParaRPr/>
          </a:p>
        </p:txBody>
      </p:sp>
      <p:pic>
        <p:nvPicPr>
          <p:cNvPr descr="t1_dep.png" id="389" name="Google Shape;389;p5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602476" y="4176979"/>
            <a:ext cx="369229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clock.png" id="390" name="Google Shape;390;p5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776679" y="441015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1"/>
          <p:cNvSpPr txBox="1"/>
          <p:nvPr/>
        </p:nvSpPr>
        <p:spPr>
          <a:xfrm>
            <a:off x="1932127" y="4374489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Arrival time</a:t>
            </a:r>
            <a:endParaRPr/>
          </a:p>
        </p:txBody>
      </p:sp>
      <p:pic>
        <p:nvPicPr>
          <p:cNvPr descr="t1_hyd.png" id="392" name="Google Shape;392;p51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609366" y="4385462"/>
            <a:ext cx="355449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people.png" id="393" name="Google Shape;393;p51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776679" y="461863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1"/>
          <p:cNvSpPr txBox="1"/>
          <p:nvPr/>
        </p:nvSpPr>
        <p:spPr>
          <a:xfrm>
            <a:off x="1932127" y="4582972"/>
            <a:ext cx="6585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Affected population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infrastructure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t1_pop.png" id="395" name="Google Shape;395;p51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642006" y="4593945"/>
            <a:ext cx="290169" cy="1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1"/>
          <p:cNvSpPr/>
          <p:nvPr/>
        </p:nvSpPr>
        <p:spPr>
          <a:xfrm>
            <a:off x="203911" y="4850892"/>
            <a:ext cx="2715768" cy="214884"/>
          </a:xfrm>
          <a:prstGeom prst="roundRect">
            <a:avLst>
              <a:gd fmla="val 30000" name="adj"/>
            </a:avLst>
          </a:prstGeom>
          <a:solidFill>
            <a:srgbClr val="1F4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_yt.png" id="397" name="Google Shape;397;p51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97100" y="4871925"/>
            <a:ext cx="237750" cy="17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1"/>
          <p:cNvSpPr txBox="1"/>
          <p:nvPr/>
        </p:nvSpPr>
        <p:spPr>
          <a:xfrm>
            <a:off x="898855" y="4850892"/>
            <a:ext cx="2011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33"/>
              </a:rPr>
              <a:t>SEE OUR WORKING DEMO </a:t>
            </a:r>
            <a:r>
              <a:rPr b="0" i="0" lang="en" sz="8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34"/>
              </a:rPr>
              <a:t>(YouTube ↗)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99" name="Google Shape;399;p51"/>
          <p:cNvSpPr/>
          <p:nvPr/>
        </p:nvSpPr>
        <p:spPr>
          <a:xfrm>
            <a:off x="3124504" y="3346704"/>
            <a:ext cx="2935224" cy="173736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1"/>
          <p:cNvSpPr/>
          <p:nvPr/>
        </p:nvSpPr>
        <p:spPr>
          <a:xfrm>
            <a:off x="3142792" y="3355848"/>
            <a:ext cx="2898648" cy="173736"/>
          </a:xfrm>
          <a:prstGeom prst="roundRect">
            <a:avLst>
              <a:gd fmla="val 25000" name="adj"/>
            </a:avLst>
          </a:prstGeom>
          <a:solidFill>
            <a:srgbClr val="1E7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1"/>
          <p:cNvSpPr txBox="1"/>
          <p:nvPr/>
        </p:nvSpPr>
        <p:spPr>
          <a:xfrm>
            <a:off x="3197656" y="335584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FOR THIS CASE</a:t>
            </a:r>
            <a:endParaRPr/>
          </a:p>
        </p:txBody>
      </p:sp>
      <p:sp>
        <p:nvSpPr>
          <p:cNvPr id="402" name="Google Shape;402;p51"/>
          <p:cNvSpPr txBox="1"/>
          <p:nvPr/>
        </p:nvSpPr>
        <p:spPr>
          <a:xfrm>
            <a:off x="4450384" y="3355848"/>
            <a:ext cx="157276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(Case 02 – Natural Extreme Event)</a:t>
            </a:r>
            <a:endParaRPr/>
          </a:p>
        </p:txBody>
      </p:sp>
      <p:sp>
        <p:nvSpPr>
          <p:cNvPr id="403" name="Google Shape;403;p51"/>
          <p:cNvSpPr/>
          <p:nvPr/>
        </p:nvSpPr>
        <p:spPr>
          <a:xfrm>
            <a:off x="3151936" y="3566160"/>
            <a:ext cx="941832" cy="1243584"/>
          </a:xfrm>
          <a:prstGeom prst="roundRect">
            <a:avLst>
              <a:gd fmla="val 6000" name="adj"/>
            </a:avLst>
          </a:prstGeom>
          <a:solidFill>
            <a:srgbClr val="EAF2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1"/>
          <p:cNvSpPr/>
          <p:nvPr/>
        </p:nvSpPr>
        <p:spPr>
          <a:xfrm>
            <a:off x="4148632" y="3566160"/>
            <a:ext cx="566928" cy="1243584"/>
          </a:xfrm>
          <a:prstGeom prst="roundRect">
            <a:avLst>
              <a:gd fmla="val 8000" name="adj"/>
            </a:avLst>
          </a:prstGeom>
          <a:solidFill>
            <a:srgbClr val="E1F3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1"/>
          <p:cNvSpPr/>
          <p:nvPr/>
        </p:nvSpPr>
        <p:spPr>
          <a:xfrm>
            <a:off x="4770424" y="3566160"/>
            <a:ext cx="1261872" cy="1243584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_arrowR_g.png" id="406" name="Google Shape;406;p51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4089196" y="4133088"/>
            <a:ext cx="68580" cy="6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arrowR_g.png" id="407" name="Google Shape;407;p51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4710988" y="4133088"/>
            <a:ext cx="68580" cy="6858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1"/>
          <p:cNvSpPr txBox="1"/>
          <p:nvPr/>
        </p:nvSpPr>
        <p:spPr>
          <a:xfrm>
            <a:off x="3188512" y="3575304"/>
            <a:ext cx="8961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Input data (X</a:t>
            </a:r>
            <a:r>
              <a:rPr b="1" baseline="-25000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09" name="Google Shape;409;p51"/>
          <p:cNvSpPr txBox="1"/>
          <p:nvPr/>
        </p:nvSpPr>
        <p:spPr>
          <a:xfrm>
            <a:off x="4148632" y="3575304"/>
            <a:ext cx="5669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baseline="-25000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(X</a:t>
            </a:r>
            <a:r>
              <a:rPr b="1" baseline="-25000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10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10" name="Google Shape;410;p51"/>
          <p:cNvSpPr txBox="1"/>
          <p:nvPr/>
        </p:nvSpPr>
        <p:spPr>
          <a:xfrm>
            <a:off x="4816144" y="3575304"/>
            <a:ext cx="1216151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Output (Y</a:t>
            </a:r>
            <a:r>
              <a:rPr b="1" baseline="-25000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gee.png" id="411" name="Google Shape;411;p5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168800" y="3749050"/>
            <a:ext cx="237750" cy="22942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 txBox="1"/>
          <p:nvPr/>
        </p:nvSpPr>
        <p:spPr>
          <a:xfrm>
            <a:off x="3138225" y="4000350"/>
            <a:ext cx="290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Earth Engine</a:t>
            </a:r>
            <a:endParaRPr/>
          </a:p>
        </p:txBody>
      </p:sp>
      <p:pic>
        <p:nvPicPr>
          <p:cNvPr descr="cop.png" id="413" name="Google Shape;413;p5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488325" y="3749053"/>
            <a:ext cx="269050" cy="1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1"/>
          <p:cNvSpPr txBox="1"/>
          <p:nvPr/>
        </p:nvSpPr>
        <p:spPr>
          <a:xfrm>
            <a:off x="3441225" y="4008400"/>
            <a:ext cx="31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Copernicus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Sentinel-1/2</a:t>
            </a:r>
            <a:endParaRPr/>
          </a:p>
        </p:txBody>
      </p:sp>
      <p:pic>
        <p:nvPicPr>
          <p:cNvPr descr="meteo.png" id="415" name="Google Shape;415;p51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3818153" y="3749054"/>
            <a:ext cx="315450" cy="22083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/>
        </p:nvSpPr>
        <p:spPr>
          <a:xfrm>
            <a:off x="3745793" y="3990323"/>
            <a:ext cx="356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Open-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Meteo</a:t>
            </a:r>
            <a:endParaRPr/>
          </a:p>
        </p:txBody>
      </p:sp>
      <p:pic>
        <p:nvPicPr>
          <p:cNvPr descr="glacier.png" id="417" name="Google Shape;417;p51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3172968" y="4222251"/>
            <a:ext cx="429768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m2.png" id="418" name="Google Shape;418;p51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3648018" y="4222251"/>
            <a:ext cx="42976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1"/>
          <p:cNvSpPr txBox="1"/>
          <p:nvPr/>
        </p:nvSpPr>
        <p:spPr>
          <a:xfrm>
            <a:off x="3191242" y="4563291"/>
            <a:ext cx="4938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Glacier / terrain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(Sentinel-2)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20" name="Google Shape;420;p51"/>
          <p:cNvSpPr txBox="1"/>
          <p:nvPr/>
        </p:nvSpPr>
        <p:spPr>
          <a:xfrm>
            <a:off x="3643862" y="451948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DEM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GLO-30 / SRTM)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21" name="Google Shape;421;p51"/>
          <p:cNvSpPr/>
          <p:nvPr/>
        </p:nvSpPr>
        <p:spPr>
          <a:xfrm>
            <a:off x="4185208" y="3767328"/>
            <a:ext cx="493776" cy="98755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2.png" id="422" name="Google Shape;422;p51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4203496" y="3857105"/>
            <a:ext cx="457200" cy="259357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1"/>
          <p:cNvSpPr txBox="1"/>
          <p:nvPr/>
        </p:nvSpPr>
        <p:spPr>
          <a:xfrm>
            <a:off x="4176064" y="4187952"/>
            <a:ext cx="5120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Change detection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Event risk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5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/>
          </a:p>
        </p:txBody>
      </p:sp>
      <p:pic>
        <p:nvPicPr>
          <p:cNvPr descr="i_mtn.png" id="424" name="Google Shape;424;p51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4807000" y="378470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1"/>
          <p:cNvSpPr txBox="1"/>
          <p:nvPr/>
        </p:nvSpPr>
        <p:spPr>
          <a:xfrm>
            <a:off x="4962448" y="3749040"/>
            <a:ext cx="6585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Change map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(glacier / terrain)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t2_chg.png" id="426" name="Google Shape;426;p51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5639950" y="3760000"/>
            <a:ext cx="369225" cy="266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warn.png" id="427" name="Google Shape;427;p5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807000" y="399318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1"/>
          <p:cNvSpPr txBox="1"/>
          <p:nvPr/>
        </p:nvSpPr>
        <p:spPr>
          <a:xfrm>
            <a:off x="4962448" y="3957523"/>
            <a:ext cx="102412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Risk indication</a:t>
            </a:r>
            <a:endParaRPr/>
          </a:p>
        </p:txBody>
      </p:sp>
      <p:pic>
        <p:nvPicPr>
          <p:cNvPr descr="i_doclist.png" id="429" name="Google Shape;429;p51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807000" y="420166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1"/>
          <p:cNvSpPr txBox="1"/>
          <p:nvPr/>
        </p:nvSpPr>
        <p:spPr>
          <a:xfrm>
            <a:off x="4962448" y="4166006"/>
            <a:ext cx="6585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Possible event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t2_scn.png" id="431" name="Google Shape;431;p51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639950" y="4075625"/>
            <a:ext cx="365750" cy="28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map.png" id="432" name="Google Shape;432;p5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807000" y="441015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/>
          <p:nvPr/>
        </p:nvSpPr>
        <p:spPr>
          <a:xfrm>
            <a:off x="4962448" y="4374489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Flood extent (map)</a:t>
            </a:r>
            <a:endParaRPr/>
          </a:p>
        </p:txBody>
      </p:sp>
      <p:pic>
        <p:nvPicPr>
          <p:cNvPr descr="t2_fld.png" id="434" name="Google Shape;434;p51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5639950" y="4414575"/>
            <a:ext cx="384050" cy="28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waves.png" id="435" name="Google Shape;435;p5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807000" y="461863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1"/>
          <p:cNvSpPr txBox="1"/>
          <p:nvPr/>
        </p:nvSpPr>
        <p:spPr>
          <a:xfrm>
            <a:off x="4962448" y="4582972"/>
            <a:ext cx="102412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Depth &amp; arrival time</a:t>
            </a:r>
            <a:endParaRPr/>
          </a:p>
        </p:txBody>
      </p:sp>
      <p:sp>
        <p:nvSpPr>
          <p:cNvPr id="437" name="Google Shape;437;p51"/>
          <p:cNvSpPr/>
          <p:nvPr/>
        </p:nvSpPr>
        <p:spPr>
          <a:xfrm>
            <a:off x="3234232" y="4850892"/>
            <a:ext cx="2715768" cy="214884"/>
          </a:xfrm>
          <a:prstGeom prst="roundRect">
            <a:avLst>
              <a:gd fmla="val 30000" name="adj"/>
            </a:avLst>
          </a:prstGeom>
          <a:solidFill>
            <a:srgbClr val="1F4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_yt.png" id="438" name="Google Shape;438;p51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627424" y="4871923"/>
            <a:ext cx="237744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1"/>
          <p:cNvSpPr txBox="1"/>
          <p:nvPr/>
        </p:nvSpPr>
        <p:spPr>
          <a:xfrm>
            <a:off x="3929176" y="4850892"/>
            <a:ext cx="2011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45"/>
              </a:rPr>
              <a:t>SEE OUR WORKING DEMO </a:t>
            </a:r>
            <a:r>
              <a:rPr b="0" i="0" lang="en" sz="8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46"/>
              </a:rPr>
              <a:t>(YouTube ↗)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40" name="Google Shape;440;p51"/>
          <p:cNvSpPr/>
          <p:nvPr/>
        </p:nvSpPr>
        <p:spPr>
          <a:xfrm>
            <a:off x="6173114" y="3346704"/>
            <a:ext cx="2935224" cy="173736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1"/>
          <p:cNvSpPr/>
          <p:nvPr/>
        </p:nvSpPr>
        <p:spPr>
          <a:xfrm>
            <a:off x="6191402" y="3355848"/>
            <a:ext cx="2898648" cy="173736"/>
          </a:xfrm>
          <a:prstGeom prst="roundRect">
            <a:avLst>
              <a:gd fmla="val 25000" name="adj"/>
            </a:avLst>
          </a:prstGeom>
          <a:solidFill>
            <a:srgbClr val="B7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6246266" y="335584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FOR THIS CASE</a:t>
            </a:r>
            <a:endParaRPr/>
          </a:p>
        </p:txBody>
      </p:sp>
      <p:sp>
        <p:nvSpPr>
          <p:cNvPr id="443" name="Google Shape;443;p51"/>
          <p:cNvSpPr txBox="1"/>
          <p:nvPr/>
        </p:nvSpPr>
        <p:spPr>
          <a:xfrm>
            <a:off x="7498994" y="3355848"/>
            <a:ext cx="157276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(Case 03 – Human / Wartime Trigger)</a:t>
            </a:r>
            <a:endParaRPr/>
          </a:p>
        </p:txBody>
      </p:sp>
      <p:sp>
        <p:nvSpPr>
          <p:cNvPr id="444" name="Google Shape;444;p51"/>
          <p:cNvSpPr/>
          <p:nvPr/>
        </p:nvSpPr>
        <p:spPr>
          <a:xfrm>
            <a:off x="6200546" y="3566160"/>
            <a:ext cx="941832" cy="1243584"/>
          </a:xfrm>
          <a:prstGeom prst="roundRect">
            <a:avLst>
              <a:gd fmla="val 6000" name="adj"/>
            </a:avLst>
          </a:prstGeom>
          <a:solidFill>
            <a:srgbClr val="EAF2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1"/>
          <p:cNvSpPr/>
          <p:nvPr/>
        </p:nvSpPr>
        <p:spPr>
          <a:xfrm>
            <a:off x="7197242" y="3566160"/>
            <a:ext cx="566928" cy="1243584"/>
          </a:xfrm>
          <a:prstGeom prst="roundRect">
            <a:avLst>
              <a:gd fmla="val 8000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1"/>
          <p:cNvSpPr/>
          <p:nvPr/>
        </p:nvSpPr>
        <p:spPr>
          <a:xfrm>
            <a:off x="7819034" y="3566160"/>
            <a:ext cx="1261872" cy="1243584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_arrowR_g.png" id="447" name="Google Shape;447;p51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137806" y="4133088"/>
            <a:ext cx="68580" cy="6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arrowR_g.png" id="448" name="Google Shape;448;p51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759598" y="4133088"/>
            <a:ext cx="68580" cy="685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1"/>
          <p:cNvSpPr txBox="1"/>
          <p:nvPr/>
        </p:nvSpPr>
        <p:spPr>
          <a:xfrm>
            <a:off x="6237122" y="3575304"/>
            <a:ext cx="8961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Input data (X</a:t>
            </a:r>
            <a:r>
              <a:rPr b="1" baseline="-25000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50" name="Google Shape;450;p51"/>
          <p:cNvSpPr txBox="1"/>
          <p:nvPr/>
        </p:nvSpPr>
        <p:spPr>
          <a:xfrm>
            <a:off x="7197242" y="3575304"/>
            <a:ext cx="5669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baseline="-25000" i="0" lang="en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(X</a:t>
            </a:r>
            <a:r>
              <a:rPr b="1" baseline="-25000" i="0" lang="en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51" name="Google Shape;451;p51"/>
          <p:cNvSpPr txBox="1"/>
          <p:nvPr/>
        </p:nvSpPr>
        <p:spPr>
          <a:xfrm>
            <a:off x="7864754" y="3575304"/>
            <a:ext cx="1216151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Output (Y</a:t>
            </a:r>
            <a:r>
              <a:rPr b="1" baseline="-25000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9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gee.png" id="452" name="Google Shape;452;p5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03541" y="3749040"/>
            <a:ext cx="123194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1"/>
          <p:cNvSpPr txBox="1"/>
          <p:nvPr/>
        </p:nvSpPr>
        <p:spPr>
          <a:xfrm>
            <a:off x="6186830" y="3872484"/>
            <a:ext cx="3566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Earth Engine</a:t>
            </a:r>
            <a:endParaRPr/>
          </a:p>
        </p:txBody>
      </p:sp>
      <p:pic>
        <p:nvPicPr>
          <p:cNvPr descr="cop.png" id="454" name="Google Shape;454;p5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68592" y="3749040"/>
            <a:ext cx="205740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1"/>
          <p:cNvSpPr txBox="1"/>
          <p:nvPr/>
        </p:nvSpPr>
        <p:spPr>
          <a:xfrm>
            <a:off x="6493154" y="3872484"/>
            <a:ext cx="3566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Copernicus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Sentinel</a:t>
            </a:r>
            <a:endParaRPr/>
          </a:p>
        </p:txBody>
      </p:sp>
      <p:pic>
        <p:nvPicPr>
          <p:cNvPr descr="dam.png" id="456" name="Google Shape;456;p5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912564" y="3749040"/>
            <a:ext cx="130443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1"/>
          <p:cNvSpPr txBox="1"/>
          <p:nvPr/>
        </p:nvSpPr>
        <p:spPr>
          <a:xfrm>
            <a:off x="6799478" y="3872484"/>
            <a:ext cx="3566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Dam /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reservoir</a:t>
            </a:r>
            <a:endParaRPr/>
          </a:p>
        </p:txBody>
      </p:sp>
      <p:pic>
        <p:nvPicPr>
          <p:cNvPr descr="sat3.png" id="458" name="Google Shape;458;p51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6227978" y="4041648"/>
            <a:ext cx="429768" cy="210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m3.png" id="459" name="Google Shape;459;p51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685178" y="4041648"/>
            <a:ext cx="429768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1"/>
          <p:cNvSpPr txBox="1"/>
          <p:nvPr/>
        </p:nvSpPr>
        <p:spPr>
          <a:xfrm>
            <a:off x="6191402" y="4256532"/>
            <a:ext cx="4938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Satellite imagery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 / current)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61" name="Google Shape;461;p51"/>
          <p:cNvSpPr txBox="1"/>
          <p:nvPr/>
        </p:nvSpPr>
        <p:spPr>
          <a:xfrm>
            <a:off x="6657746" y="4256532"/>
            <a:ext cx="484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DEM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(SRTM / ALOS</a:t>
            </a:r>
            <a:r>
              <a:rPr b="0" i="0" lang="en" sz="459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i_people_b.png" id="462" name="Google Shape;462;p51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6227978" y="4434840"/>
            <a:ext cx="91440" cy="82296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1"/>
          <p:cNvSpPr txBox="1"/>
          <p:nvPr/>
        </p:nvSpPr>
        <p:spPr>
          <a:xfrm>
            <a:off x="6328562" y="4416552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Population &amp;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critical infra</a:t>
            </a:r>
            <a:endParaRPr/>
          </a:p>
        </p:txBody>
      </p:sp>
      <p:pic>
        <p:nvPicPr>
          <p:cNvPr descr="i_filecog.png" id="464" name="Google Shape;464;p51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6694322" y="4434840"/>
            <a:ext cx="82296" cy="82296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 txBox="1"/>
          <p:nvPr/>
        </p:nvSpPr>
        <p:spPr>
          <a:xfrm>
            <a:off x="6785762" y="44165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Breach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/>
          </a:p>
        </p:txBody>
      </p:sp>
      <p:pic>
        <p:nvPicPr>
          <p:cNvPr descr="map3a.png" id="466" name="Google Shape;466;p51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227978" y="4562856"/>
            <a:ext cx="429768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p3b.png" id="467" name="Google Shape;467;p51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6685178" y="4562856"/>
            <a:ext cx="4297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1"/>
          <p:cNvSpPr/>
          <p:nvPr/>
        </p:nvSpPr>
        <p:spPr>
          <a:xfrm>
            <a:off x="7224675" y="3767325"/>
            <a:ext cx="512100" cy="310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3a.png" id="469" name="Google Shape;469;p51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238390" y="3844667"/>
            <a:ext cx="128016" cy="1196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1"/>
          <p:cNvSpPr txBox="1"/>
          <p:nvPr/>
        </p:nvSpPr>
        <p:spPr>
          <a:xfrm>
            <a:off x="7370978" y="37673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/>
          </a:p>
        </p:txBody>
      </p:sp>
      <p:cxnSp>
        <p:nvCxnSpPr>
          <p:cNvPr id="471" name="Google Shape;471;p51"/>
          <p:cNvCxnSpPr/>
          <p:nvPr/>
        </p:nvCxnSpPr>
        <p:spPr>
          <a:xfrm>
            <a:off x="7480706" y="4041648"/>
            <a:ext cx="0" cy="77724"/>
          </a:xfrm>
          <a:prstGeom prst="straightConnector1">
            <a:avLst/>
          </a:prstGeom>
          <a:noFill/>
          <a:ln cap="flat" cmpd="sng" w="15875">
            <a:solidFill>
              <a:srgbClr val="1E7B3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2" name="Google Shape;472;p51"/>
          <p:cNvSpPr/>
          <p:nvPr/>
        </p:nvSpPr>
        <p:spPr>
          <a:xfrm>
            <a:off x="7224675" y="4119375"/>
            <a:ext cx="512100" cy="310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3b.png" id="473" name="Google Shape;473;p51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7238390" y="4198983"/>
            <a:ext cx="128016" cy="11509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1"/>
          <p:cNvSpPr txBox="1"/>
          <p:nvPr/>
        </p:nvSpPr>
        <p:spPr>
          <a:xfrm>
            <a:off x="7370978" y="4119372"/>
            <a:ext cx="38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Hydrodynamic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/>
          </a:p>
        </p:txBody>
      </p:sp>
      <p:cxnSp>
        <p:nvCxnSpPr>
          <p:cNvPr id="475" name="Google Shape;475;p51"/>
          <p:cNvCxnSpPr/>
          <p:nvPr/>
        </p:nvCxnSpPr>
        <p:spPr>
          <a:xfrm>
            <a:off x="7480706" y="4393692"/>
            <a:ext cx="0" cy="77724"/>
          </a:xfrm>
          <a:prstGeom prst="straightConnector1">
            <a:avLst/>
          </a:prstGeom>
          <a:noFill/>
          <a:ln cap="flat" cmpd="sng" w="15875">
            <a:solidFill>
              <a:srgbClr val="1E7B3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6" name="Google Shape;476;p51"/>
          <p:cNvSpPr/>
          <p:nvPr/>
        </p:nvSpPr>
        <p:spPr>
          <a:xfrm>
            <a:off x="7224675" y="4471426"/>
            <a:ext cx="512100" cy="310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3c.png" id="477" name="Google Shape;477;p51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7238390" y="4541302"/>
            <a:ext cx="128016" cy="134547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1"/>
          <p:cNvSpPr txBox="1"/>
          <p:nvPr/>
        </p:nvSpPr>
        <p:spPr>
          <a:xfrm>
            <a:off x="7370978" y="4471416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/>
          </a:p>
        </p:txBody>
      </p:sp>
      <p:pic>
        <p:nvPicPr>
          <p:cNvPr descr="i_warn.png" id="479" name="Google Shape;479;p5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855610" y="378470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1"/>
          <p:cNvSpPr txBox="1"/>
          <p:nvPr/>
        </p:nvSpPr>
        <p:spPr>
          <a:xfrm>
            <a:off x="8011058" y="3749040"/>
            <a:ext cx="6585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Inundation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map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t3_1.png" id="481" name="Google Shape;481;p51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8707006" y="3760012"/>
            <a:ext cx="318031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waves.png" id="482" name="Google Shape;482;p5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855610" y="399318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1"/>
          <p:cNvSpPr txBox="1"/>
          <p:nvPr/>
        </p:nvSpPr>
        <p:spPr>
          <a:xfrm>
            <a:off x="8011058" y="3957523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Flood extent map</a:t>
            </a:r>
            <a:endParaRPr/>
          </a:p>
        </p:txBody>
      </p:sp>
      <p:pic>
        <p:nvPicPr>
          <p:cNvPr descr="t3_2.png" id="484" name="Google Shape;484;p51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8708299" y="3968496"/>
            <a:ext cx="315445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gauge.png" id="485" name="Google Shape;485;p51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7855610" y="420166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1"/>
          <p:cNvSpPr txBox="1"/>
          <p:nvPr/>
        </p:nvSpPr>
        <p:spPr>
          <a:xfrm>
            <a:off x="8011058" y="4166006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Depth &amp; velocity</a:t>
            </a:r>
            <a:endParaRPr/>
          </a:p>
        </p:txBody>
      </p:sp>
      <p:pic>
        <p:nvPicPr>
          <p:cNvPr descr="t3_3.png" id="487" name="Google Shape;487;p51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8708299" y="4176979"/>
            <a:ext cx="315445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clock.png" id="488" name="Google Shape;488;p5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855610" y="441015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1"/>
          <p:cNvSpPr txBox="1"/>
          <p:nvPr/>
        </p:nvSpPr>
        <p:spPr>
          <a:xfrm>
            <a:off x="8011058" y="4374489"/>
            <a:ext cx="658368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Arrival time</a:t>
            </a:r>
            <a:endParaRPr/>
          </a:p>
        </p:txBody>
      </p:sp>
      <p:pic>
        <p:nvPicPr>
          <p:cNvPr descr="t3_4.png" id="490" name="Google Shape;490;p51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708299" y="4385462"/>
            <a:ext cx="315445" cy="18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_people.png" id="491" name="Google Shape;491;p51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855610" y="461863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1"/>
          <p:cNvSpPr txBox="1"/>
          <p:nvPr/>
        </p:nvSpPr>
        <p:spPr>
          <a:xfrm>
            <a:off x="8026426" y="4582975"/>
            <a:ext cx="567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" u="none" cap="none" strike="noStrike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Affected population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infrastructure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t3_5.png" id="493" name="Google Shape;493;p51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8726454" y="4593945"/>
            <a:ext cx="279135" cy="1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1"/>
          <p:cNvSpPr/>
          <p:nvPr/>
        </p:nvSpPr>
        <p:spPr>
          <a:xfrm>
            <a:off x="6282842" y="4850892"/>
            <a:ext cx="2715768" cy="214884"/>
          </a:xfrm>
          <a:prstGeom prst="roundRect">
            <a:avLst>
              <a:gd fmla="val 30000" name="adj"/>
            </a:avLst>
          </a:prstGeom>
          <a:solidFill>
            <a:srgbClr val="1F4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_yt.png" id="495" name="Google Shape;495;p51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676034" y="4871923"/>
            <a:ext cx="237744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1"/>
          <p:cNvSpPr txBox="1"/>
          <p:nvPr/>
        </p:nvSpPr>
        <p:spPr>
          <a:xfrm>
            <a:off x="6977786" y="4850892"/>
            <a:ext cx="2011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62"/>
              </a:rPr>
              <a:t>SEE OUR WORKING DEMO </a:t>
            </a:r>
            <a:r>
              <a:rPr b="0" i="0" lang="en" sz="8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63"/>
              </a:rPr>
              <a:t>(YouTube ↗)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497" name="Google Shape;497;p51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121625" y="2223850"/>
            <a:ext cx="1534374" cy="9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1"/>
          <p:cNvSpPr txBox="1"/>
          <p:nvPr/>
        </p:nvSpPr>
        <p:spPr>
          <a:xfrm>
            <a:off x="46650" y="3012375"/>
            <a:ext cx="193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>
                <a:solidFill>
                  <a:schemeClr val="hlink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  <a:hlinkClick r:id="rId65"/>
              </a:rPr>
              <a:t>Tiware Dam (Maharashtra, India – 2019)</a:t>
            </a:r>
            <a:endParaRPr b="1" sz="700">
              <a:solidFill>
                <a:srgbClr val="0000FF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2"/>
          <p:cNvSpPr/>
          <p:nvPr/>
        </p:nvSpPr>
        <p:spPr>
          <a:xfrm>
            <a:off x="1828" y="2743"/>
            <a:ext cx="9144000" cy="446227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iy_logo.png" id="504" name="Google Shape;50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4" y="7315"/>
            <a:ext cx="435254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2"/>
          <p:cNvSpPr txBox="1"/>
          <p:nvPr/>
        </p:nvSpPr>
        <p:spPr>
          <a:xfrm>
            <a:off x="621792" y="731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</a:t>
            </a:r>
            <a:endParaRPr/>
          </a:p>
        </p:txBody>
      </p:sp>
      <p:sp>
        <p:nvSpPr>
          <p:cNvPr id="506" name="Google Shape;506;p52"/>
          <p:cNvSpPr txBox="1"/>
          <p:nvPr/>
        </p:nvSpPr>
        <p:spPr>
          <a:xfrm>
            <a:off x="2743200" y="45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pic>
        <p:nvPicPr>
          <p:cNvPr descr="sih.png" id="507" name="Google Shape;50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153" y="0"/>
            <a:ext cx="1533448" cy="4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2"/>
          <p:cNvSpPr/>
          <p:nvPr/>
        </p:nvSpPr>
        <p:spPr>
          <a:xfrm>
            <a:off x="43891" y="475488"/>
            <a:ext cx="9038844" cy="322783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2"/>
          <p:cNvSpPr txBox="1"/>
          <p:nvPr/>
        </p:nvSpPr>
        <p:spPr>
          <a:xfrm>
            <a:off x="91440" y="475488"/>
            <a:ext cx="8961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Workflow - </a:t>
            </a:r>
            <a:r>
              <a:rPr b="0" i="1" lang="en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data streams</a:t>
            </a:r>
            <a:r>
              <a:rPr b="0" i="0" lang="en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→  one common computational engine  →  </a:t>
            </a:r>
            <a:r>
              <a:rPr lang="en" sz="1250"/>
              <a:t>advance </a:t>
            </a:r>
            <a:r>
              <a:rPr b="0" i="0" lang="en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flood outputs</a:t>
            </a:r>
            <a:endParaRPr/>
          </a:p>
        </p:txBody>
      </p:sp>
      <p:cxnSp>
        <p:nvCxnSpPr>
          <p:cNvPr id="510" name="Google Shape;510;p52"/>
          <p:cNvCxnSpPr/>
          <p:nvPr/>
        </p:nvCxnSpPr>
        <p:spPr>
          <a:xfrm>
            <a:off x="2000250" y="857250"/>
            <a:ext cx="0" cy="4246405"/>
          </a:xfrm>
          <a:prstGeom prst="straightConnector1">
            <a:avLst/>
          </a:prstGeom>
          <a:noFill/>
          <a:ln cap="flat" cmpd="sng" w="12700">
            <a:solidFill>
              <a:srgbClr val="A9CCE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1" name="Google Shape;511;p52"/>
          <p:cNvCxnSpPr/>
          <p:nvPr/>
        </p:nvCxnSpPr>
        <p:spPr>
          <a:xfrm>
            <a:off x="3354705" y="857250"/>
            <a:ext cx="0" cy="4246405"/>
          </a:xfrm>
          <a:prstGeom prst="straightConnector1">
            <a:avLst/>
          </a:prstGeom>
          <a:noFill/>
          <a:ln cap="flat" cmpd="sng" w="12700">
            <a:solidFill>
              <a:srgbClr val="A9CCE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2" name="Google Shape;512;p52"/>
          <p:cNvCxnSpPr/>
          <p:nvPr/>
        </p:nvCxnSpPr>
        <p:spPr>
          <a:xfrm>
            <a:off x="7406640" y="857250"/>
            <a:ext cx="0" cy="4246405"/>
          </a:xfrm>
          <a:prstGeom prst="straightConnector1">
            <a:avLst/>
          </a:prstGeom>
          <a:noFill/>
          <a:ln cap="flat" cmpd="sng" w="12700">
            <a:solidFill>
              <a:srgbClr val="A9CCE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3" name="Google Shape;513;p52"/>
          <p:cNvSpPr/>
          <p:nvPr/>
        </p:nvSpPr>
        <p:spPr>
          <a:xfrm>
            <a:off x="68580" y="857250"/>
            <a:ext cx="1845945" cy="244984"/>
          </a:xfrm>
          <a:prstGeom prst="roundRect">
            <a:avLst>
              <a:gd fmla="val 20000" name="adj"/>
            </a:avLst>
          </a:prstGeom>
          <a:solidFill>
            <a:srgbClr val="DCE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2"/>
          <p:cNvSpPr txBox="1"/>
          <p:nvPr/>
        </p:nvSpPr>
        <p:spPr>
          <a:xfrm>
            <a:off x="68580" y="857250"/>
            <a:ext cx="1845945" cy="24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/>
          </a:p>
        </p:txBody>
      </p:sp>
      <p:sp>
        <p:nvSpPr>
          <p:cNvPr id="515" name="Google Shape;515;p52"/>
          <p:cNvSpPr/>
          <p:nvPr/>
        </p:nvSpPr>
        <p:spPr>
          <a:xfrm>
            <a:off x="3531870" y="857250"/>
            <a:ext cx="3646170" cy="244984"/>
          </a:xfrm>
          <a:prstGeom prst="roundRect">
            <a:avLst>
              <a:gd fmla="val 20000" name="adj"/>
            </a:avLst>
          </a:prstGeom>
          <a:solidFill>
            <a:srgbClr val="FC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2"/>
          <p:cNvSpPr txBox="1"/>
          <p:nvPr/>
        </p:nvSpPr>
        <p:spPr>
          <a:xfrm>
            <a:off x="3531870" y="857250"/>
            <a:ext cx="3646170" cy="24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ALGORITHM / COMPUTATION LAYER</a:t>
            </a:r>
            <a:endParaRPr/>
          </a:p>
        </p:txBody>
      </p:sp>
      <p:sp>
        <p:nvSpPr>
          <p:cNvPr id="517" name="Google Shape;517;p52"/>
          <p:cNvSpPr/>
          <p:nvPr/>
        </p:nvSpPr>
        <p:spPr>
          <a:xfrm>
            <a:off x="7463790" y="857250"/>
            <a:ext cx="1623060" cy="244984"/>
          </a:xfrm>
          <a:prstGeom prst="roundRect">
            <a:avLst>
              <a:gd fmla="val 20000" name="adj"/>
            </a:avLst>
          </a:prstGeom>
          <a:solidFill>
            <a:srgbClr val="DDF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2"/>
          <p:cNvSpPr txBox="1"/>
          <p:nvPr/>
        </p:nvSpPr>
        <p:spPr>
          <a:xfrm>
            <a:off x="7463790" y="857250"/>
            <a:ext cx="1623060" cy="24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1B5E32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/>
          </a:p>
        </p:txBody>
      </p:sp>
      <p:sp>
        <p:nvSpPr>
          <p:cNvPr id="519" name="Google Shape;519;p52"/>
          <p:cNvSpPr/>
          <p:nvPr/>
        </p:nvSpPr>
        <p:spPr>
          <a:xfrm>
            <a:off x="68580" y="1145787"/>
            <a:ext cx="1720215" cy="1252145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2"/>
          <p:cNvSpPr/>
          <p:nvPr/>
        </p:nvSpPr>
        <p:spPr>
          <a:xfrm>
            <a:off x="80010" y="1156675"/>
            <a:ext cx="1697355" cy="261317"/>
          </a:xfrm>
          <a:prstGeom prst="round2SameRect">
            <a:avLst>
              <a:gd fmla="val 18000" name="adj1"/>
              <a:gd fmla="val 0" name="adj2"/>
            </a:avLst>
          </a:prstGeom>
          <a:solidFill>
            <a:srgbClr val="EAF3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2"/>
          <p:cNvSpPr/>
          <p:nvPr/>
        </p:nvSpPr>
        <p:spPr>
          <a:xfrm>
            <a:off x="142875" y="1183896"/>
            <a:ext cx="228600" cy="217764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2"/>
          <p:cNvSpPr txBox="1"/>
          <p:nvPr/>
        </p:nvSpPr>
        <p:spPr>
          <a:xfrm>
            <a:off x="142875" y="1183896"/>
            <a:ext cx="228600" cy="21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23" name="Google Shape;523;p52"/>
          <p:cNvSpPr txBox="1"/>
          <p:nvPr/>
        </p:nvSpPr>
        <p:spPr>
          <a:xfrm>
            <a:off x="474345" y="1189340"/>
            <a:ext cx="1297305" cy="20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30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Dam / Reservoir Inputs</a:t>
            </a:r>
            <a:endParaRPr/>
          </a:p>
        </p:txBody>
      </p:sp>
      <p:pic>
        <p:nvPicPr>
          <p:cNvPr descr="db.png" id="524" name="Google Shape;52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850" y="145610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2"/>
          <p:cNvSpPr txBox="1"/>
          <p:nvPr/>
        </p:nvSpPr>
        <p:spPr>
          <a:xfrm>
            <a:off x="480060" y="145610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India-WRIS (reservoir level)</a:t>
            </a:r>
            <a:endParaRPr/>
          </a:p>
        </p:txBody>
      </p:sp>
      <p:pic>
        <p:nvPicPr>
          <p:cNvPr descr="rain.png" id="526" name="Google Shape;526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1850" y="164120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2"/>
          <p:cNvSpPr txBox="1"/>
          <p:nvPr/>
        </p:nvSpPr>
        <p:spPr>
          <a:xfrm>
            <a:off x="480060" y="164120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IMD / ERA5 (inflow, rainfall)</a:t>
            </a:r>
            <a:endParaRPr/>
          </a:p>
        </p:txBody>
      </p:sp>
      <p:pic>
        <p:nvPicPr>
          <p:cNvPr descr="dam.png" id="528" name="Google Shape;528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1850" y="182630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2"/>
          <p:cNvSpPr txBox="1"/>
          <p:nvPr/>
        </p:nvSpPr>
        <p:spPr>
          <a:xfrm>
            <a:off x="480060" y="182630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Dam geometry (CWC/WRIS)</a:t>
            </a:r>
            <a:endParaRPr/>
          </a:p>
        </p:txBody>
      </p:sp>
      <p:pic>
        <p:nvPicPr>
          <p:cNvPr descr="mtn.png" id="530" name="Google Shape;530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850" y="201140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2"/>
          <p:cNvSpPr txBox="1"/>
          <p:nvPr/>
        </p:nvSpPr>
        <p:spPr>
          <a:xfrm>
            <a:off x="480060" y="201140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SRTM / Cartosat DEM</a:t>
            </a:r>
            <a:endParaRPr/>
          </a:p>
        </p:txBody>
      </p:sp>
      <p:pic>
        <p:nvPicPr>
          <p:cNvPr descr="doc.png" id="532" name="Google Shape;532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1850" y="2196500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2"/>
          <p:cNvSpPr txBox="1"/>
          <p:nvPr/>
        </p:nvSpPr>
        <p:spPr>
          <a:xfrm>
            <a:off x="480060" y="2196500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Historical records</a:t>
            </a:r>
            <a:endParaRPr/>
          </a:p>
        </p:txBody>
      </p:sp>
      <p:sp>
        <p:nvSpPr>
          <p:cNvPr id="534" name="Google Shape;534;p52"/>
          <p:cNvSpPr/>
          <p:nvPr/>
        </p:nvSpPr>
        <p:spPr>
          <a:xfrm>
            <a:off x="68580" y="2506815"/>
            <a:ext cx="1720215" cy="134469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7CC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2"/>
          <p:cNvSpPr/>
          <p:nvPr/>
        </p:nvSpPr>
        <p:spPr>
          <a:xfrm>
            <a:off x="80010" y="2517703"/>
            <a:ext cx="1697355" cy="261317"/>
          </a:xfrm>
          <a:prstGeom prst="round2SameRect">
            <a:avLst>
              <a:gd fmla="val 18000" name="adj1"/>
              <a:gd fmla="val 0" name="adj2"/>
            </a:avLst>
          </a:prstGeom>
          <a:solidFill>
            <a:srgbClr val="E8F6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2"/>
          <p:cNvSpPr/>
          <p:nvPr/>
        </p:nvSpPr>
        <p:spPr>
          <a:xfrm>
            <a:off x="142875" y="2544923"/>
            <a:ext cx="228600" cy="21776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2"/>
          <p:cNvSpPr txBox="1"/>
          <p:nvPr/>
        </p:nvSpPr>
        <p:spPr>
          <a:xfrm>
            <a:off x="142875" y="2544923"/>
            <a:ext cx="228600" cy="21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8" name="Google Shape;538;p52"/>
          <p:cNvSpPr txBox="1"/>
          <p:nvPr/>
        </p:nvSpPr>
        <p:spPr>
          <a:xfrm>
            <a:off x="474345" y="2550367"/>
            <a:ext cx="1297305" cy="20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3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Natural Event Inputs</a:t>
            </a:r>
            <a:endParaRPr/>
          </a:p>
        </p:txBody>
      </p:sp>
      <p:pic>
        <p:nvPicPr>
          <p:cNvPr descr="sat.png" id="539" name="Google Shape;539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850" y="280624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2"/>
          <p:cNvSpPr txBox="1"/>
          <p:nvPr/>
        </p:nvSpPr>
        <p:spPr>
          <a:xfrm>
            <a:off x="480060" y="280624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Sentinel-1 SAR (GEE)</a:t>
            </a:r>
            <a:endParaRPr/>
          </a:p>
        </p:txBody>
      </p:sp>
      <p:pic>
        <p:nvPicPr>
          <p:cNvPr descr="sat.png" id="541" name="Google Shape;541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850" y="2977186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2"/>
          <p:cNvSpPr txBox="1"/>
          <p:nvPr/>
        </p:nvSpPr>
        <p:spPr>
          <a:xfrm>
            <a:off x="480060" y="2977186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Sentinel-2 (Cartosat/Landsat)</a:t>
            </a:r>
            <a:endParaRPr/>
          </a:p>
        </p:txBody>
      </p:sp>
      <p:pic>
        <p:nvPicPr>
          <p:cNvPr descr="glacier.png" id="543" name="Google Shape;543;p5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1850" y="314813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2"/>
          <p:cNvSpPr txBox="1"/>
          <p:nvPr/>
        </p:nvSpPr>
        <p:spPr>
          <a:xfrm>
            <a:off x="480060" y="314813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Glacier segmentation (AI)</a:t>
            </a:r>
            <a:endParaRPr/>
          </a:p>
        </p:txBody>
      </p:sp>
      <p:pic>
        <p:nvPicPr>
          <p:cNvPr descr="mtn.png" id="545" name="Google Shape;545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850" y="3319076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2"/>
          <p:cNvSpPr txBox="1"/>
          <p:nvPr/>
        </p:nvSpPr>
        <p:spPr>
          <a:xfrm>
            <a:off x="480060" y="3319076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SRTM / Cartosat / ALOS DEM</a:t>
            </a:r>
            <a:endParaRPr/>
          </a:p>
        </p:txBody>
      </p:sp>
      <p:pic>
        <p:nvPicPr>
          <p:cNvPr descr="rain.png" id="547" name="Google Shape;547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1850" y="349002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2"/>
          <p:cNvSpPr txBox="1"/>
          <p:nvPr/>
        </p:nvSpPr>
        <p:spPr>
          <a:xfrm>
            <a:off x="480060" y="349002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IMD / ERA5 (rainfall, snow, LST)</a:t>
            </a:r>
            <a:endParaRPr/>
          </a:p>
        </p:txBody>
      </p:sp>
      <p:pic>
        <p:nvPicPr>
          <p:cNvPr descr="waves.png" id="549" name="Google Shape;549;p5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1850" y="3660966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2"/>
          <p:cNvSpPr txBox="1"/>
          <p:nvPr/>
        </p:nvSpPr>
        <p:spPr>
          <a:xfrm>
            <a:off x="480060" y="3660966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Seismic data (NCS/USGS)</a:t>
            </a:r>
            <a:endParaRPr/>
          </a:p>
        </p:txBody>
      </p:sp>
      <p:sp>
        <p:nvSpPr>
          <p:cNvPr id="551" name="Google Shape;551;p52"/>
          <p:cNvSpPr/>
          <p:nvPr/>
        </p:nvSpPr>
        <p:spPr>
          <a:xfrm>
            <a:off x="68580" y="3949503"/>
            <a:ext cx="1720215" cy="1154151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F4A5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2"/>
          <p:cNvSpPr/>
          <p:nvPr/>
        </p:nvSpPr>
        <p:spPr>
          <a:xfrm>
            <a:off x="80010" y="3960392"/>
            <a:ext cx="1697355" cy="261317"/>
          </a:xfrm>
          <a:prstGeom prst="round2SameRect">
            <a:avLst>
              <a:gd fmla="val 18000" name="adj1"/>
              <a:gd fmla="val 0" name="adj2"/>
            </a:avLst>
          </a:prstGeom>
          <a:solidFill>
            <a:srgbClr val="FDEE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2"/>
          <p:cNvSpPr/>
          <p:nvPr/>
        </p:nvSpPr>
        <p:spPr>
          <a:xfrm>
            <a:off x="142875" y="3987612"/>
            <a:ext cx="228600" cy="217764"/>
          </a:xfrm>
          <a:prstGeom prst="ellipse">
            <a:avLst/>
          </a:prstGeom>
          <a:solidFill>
            <a:srgbClr val="D843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52"/>
          <p:cNvSpPr txBox="1"/>
          <p:nvPr/>
        </p:nvSpPr>
        <p:spPr>
          <a:xfrm>
            <a:off x="142875" y="3987612"/>
            <a:ext cx="228600" cy="21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55" name="Google Shape;555;p52"/>
          <p:cNvSpPr txBox="1"/>
          <p:nvPr/>
        </p:nvSpPr>
        <p:spPr>
          <a:xfrm>
            <a:off x="474345" y="3993056"/>
            <a:ext cx="1297305" cy="20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30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Human / Wartime Inputs</a:t>
            </a:r>
            <a:endParaRPr/>
          </a:p>
        </p:txBody>
      </p:sp>
      <p:pic>
        <p:nvPicPr>
          <p:cNvPr descr="sat.png" id="556" name="Google Shape;556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850" y="423804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2"/>
          <p:cNvSpPr txBox="1"/>
          <p:nvPr/>
        </p:nvSpPr>
        <p:spPr>
          <a:xfrm>
            <a:off x="480060" y="423804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Pre/Post imagery (Sentinel-1/2)</a:t>
            </a:r>
            <a:endParaRPr/>
          </a:p>
        </p:txBody>
      </p:sp>
      <p:pic>
        <p:nvPicPr>
          <p:cNvPr descr="damage.png" id="558" name="Google Shape;558;p5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1850" y="4406809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2"/>
          <p:cNvSpPr txBox="1"/>
          <p:nvPr/>
        </p:nvSpPr>
        <p:spPr>
          <a:xfrm>
            <a:off x="480060" y="4406809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Damage assessment data</a:t>
            </a:r>
            <a:endParaRPr/>
          </a:p>
        </p:txBody>
      </p:sp>
      <p:pic>
        <p:nvPicPr>
          <p:cNvPr descr="dam.png" id="560" name="Google Shape;560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1850" y="4575576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2"/>
          <p:cNvSpPr txBox="1"/>
          <p:nvPr/>
        </p:nvSpPr>
        <p:spPr>
          <a:xfrm>
            <a:off x="480060" y="4575576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Dam geometry (CWC/WRIS)</a:t>
            </a:r>
            <a:endParaRPr/>
          </a:p>
        </p:txBody>
      </p:sp>
      <p:pic>
        <p:nvPicPr>
          <p:cNvPr descr="mtn.png" id="562" name="Google Shape;562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850" y="4744343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2"/>
          <p:cNvSpPr txBox="1"/>
          <p:nvPr/>
        </p:nvSpPr>
        <p:spPr>
          <a:xfrm>
            <a:off x="480060" y="4744343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SRTM / Cartosat DEM</a:t>
            </a:r>
            <a:endParaRPr/>
          </a:p>
        </p:txBody>
      </p:sp>
      <p:pic>
        <p:nvPicPr>
          <p:cNvPr descr="people.png" id="564" name="Google Shape;564;p5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1850" y="4913111"/>
            <a:ext cx="130658" cy="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2"/>
          <p:cNvSpPr txBox="1"/>
          <p:nvPr/>
        </p:nvSpPr>
        <p:spPr>
          <a:xfrm>
            <a:off x="480060" y="4913111"/>
            <a:ext cx="1291590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OSM / WorldPop / field data</a:t>
            </a:r>
            <a:endParaRPr/>
          </a:p>
        </p:txBody>
      </p:sp>
      <p:sp>
        <p:nvSpPr>
          <p:cNvPr id="566" name="Google Shape;566;p52"/>
          <p:cNvSpPr/>
          <p:nvPr/>
        </p:nvSpPr>
        <p:spPr>
          <a:xfrm>
            <a:off x="1771650" y="1543207"/>
            <a:ext cx="68580" cy="65329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2"/>
          <p:cNvSpPr/>
          <p:nvPr/>
        </p:nvSpPr>
        <p:spPr>
          <a:xfrm>
            <a:off x="1771650" y="2882458"/>
            <a:ext cx="68580" cy="65329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2"/>
          <p:cNvSpPr/>
          <p:nvPr/>
        </p:nvSpPr>
        <p:spPr>
          <a:xfrm>
            <a:off x="1771650" y="4357812"/>
            <a:ext cx="68580" cy="65329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52"/>
          <p:cNvCxnSpPr/>
          <p:nvPr/>
        </p:nvCxnSpPr>
        <p:spPr>
          <a:xfrm>
            <a:off x="1805940" y="1575872"/>
            <a:ext cx="19431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0" name="Google Shape;570;p52"/>
          <p:cNvCxnSpPr/>
          <p:nvPr/>
        </p:nvCxnSpPr>
        <p:spPr>
          <a:xfrm>
            <a:off x="2000250" y="1575872"/>
            <a:ext cx="0" cy="1339251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1" name="Google Shape;571;p52"/>
          <p:cNvCxnSpPr/>
          <p:nvPr/>
        </p:nvCxnSpPr>
        <p:spPr>
          <a:xfrm>
            <a:off x="1805940" y="4390476"/>
            <a:ext cx="19431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2" name="Google Shape;572;p52"/>
          <p:cNvCxnSpPr/>
          <p:nvPr/>
        </p:nvCxnSpPr>
        <p:spPr>
          <a:xfrm rot="10800000">
            <a:off x="2000250" y="2915123"/>
            <a:ext cx="0" cy="1475353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3" name="Google Shape;573;p52"/>
          <p:cNvCxnSpPr/>
          <p:nvPr/>
        </p:nvCxnSpPr>
        <p:spPr>
          <a:xfrm>
            <a:off x="1805940" y="2915123"/>
            <a:ext cx="222885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4" name="Google Shape;574;p52"/>
          <p:cNvSpPr/>
          <p:nvPr/>
        </p:nvSpPr>
        <p:spPr>
          <a:xfrm>
            <a:off x="1985962" y="2874292"/>
            <a:ext cx="85725" cy="81661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52"/>
          <p:cNvCxnSpPr/>
          <p:nvPr/>
        </p:nvCxnSpPr>
        <p:spPr>
          <a:xfrm>
            <a:off x="2028825" y="2915123"/>
            <a:ext cx="19440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6" name="Google Shape;576;p52"/>
          <p:cNvSpPr/>
          <p:nvPr/>
        </p:nvSpPr>
        <p:spPr>
          <a:xfrm>
            <a:off x="2228850" y="2365268"/>
            <a:ext cx="1062900" cy="1088700"/>
          </a:xfrm>
          <a:prstGeom prst="roundRect">
            <a:avLst>
              <a:gd fmla="val 6000" name="adj"/>
            </a:avLst>
          </a:prstGeom>
          <a:solidFill>
            <a:srgbClr val="F7F1FD"/>
          </a:solidFill>
          <a:ln cap="flat" cmpd="sng" w="15875">
            <a:solidFill>
              <a:srgbClr val="9B6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b_purple.png" id="577" name="Google Shape;577;p5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313194" y="2457818"/>
            <a:ext cx="174211" cy="17421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2"/>
          <p:cNvSpPr txBox="1"/>
          <p:nvPr/>
        </p:nvSpPr>
        <p:spPr>
          <a:xfrm>
            <a:off x="2554605" y="2463262"/>
            <a:ext cx="7143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">
                <a:solidFill>
                  <a:srgbClr val="2A1F4A"/>
                </a:solidFill>
                <a:latin typeface="Calibri"/>
                <a:ea typeface="Calibri"/>
                <a:cs typeface="Calibri"/>
                <a:sym typeface="Calibri"/>
              </a:rPr>
              <a:t>Scenario Spec</a:t>
            </a:r>
            <a:endParaRPr/>
          </a:p>
        </p:txBody>
      </p:sp>
      <p:sp>
        <p:nvSpPr>
          <p:cNvPr id="579" name="Google Shape;579;p52"/>
          <p:cNvSpPr txBox="1"/>
          <p:nvPr/>
        </p:nvSpPr>
        <p:spPr>
          <a:xfrm>
            <a:off x="2317433" y="2686470"/>
            <a:ext cx="1011600" cy="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Breach type &amp; location</a:t>
            </a:r>
            <a:endParaRPr/>
          </a:p>
        </p:txBody>
      </p:sp>
      <p:sp>
        <p:nvSpPr>
          <p:cNvPr id="580" name="Google Shape;580;p52"/>
          <p:cNvSpPr txBox="1"/>
          <p:nvPr/>
        </p:nvSpPr>
        <p:spPr>
          <a:xfrm>
            <a:off x="2303145" y="2817129"/>
            <a:ext cx="1011555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B, D, T</a:t>
            </a:r>
            <a:r>
              <a:rPr b="0" baseline="-2500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initial level</a:t>
            </a:r>
            <a:endParaRPr/>
          </a:p>
        </p:txBody>
      </p:sp>
      <p:sp>
        <p:nvSpPr>
          <p:cNvPr id="581" name="Google Shape;581;p52"/>
          <p:cNvSpPr txBox="1"/>
          <p:nvPr/>
        </p:nvSpPr>
        <p:spPr>
          <a:xfrm>
            <a:off x="2303145" y="2947787"/>
            <a:ext cx="1011555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Inflow / boundary conditions</a:t>
            </a:r>
            <a:endParaRPr/>
          </a:p>
        </p:txBody>
      </p:sp>
      <p:sp>
        <p:nvSpPr>
          <p:cNvPr id="582" name="Google Shape;582;p52"/>
          <p:cNvSpPr txBox="1"/>
          <p:nvPr/>
        </p:nvSpPr>
        <p:spPr>
          <a:xfrm>
            <a:off x="2303145" y="3078446"/>
            <a:ext cx="1011555" cy="13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DEM / river geometry</a:t>
            </a:r>
            <a:endParaRPr/>
          </a:p>
        </p:txBody>
      </p:sp>
      <p:sp>
        <p:nvSpPr>
          <p:cNvPr id="583" name="Google Shape;583;p52"/>
          <p:cNvSpPr txBox="1"/>
          <p:nvPr/>
        </p:nvSpPr>
        <p:spPr>
          <a:xfrm>
            <a:off x="2303145" y="3209105"/>
            <a:ext cx="1011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4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Roughness / land cover</a:t>
            </a:r>
            <a:endParaRPr/>
          </a:p>
        </p:txBody>
      </p:sp>
      <p:cxnSp>
        <p:nvCxnSpPr>
          <p:cNvPr id="584" name="Google Shape;584;p52"/>
          <p:cNvCxnSpPr/>
          <p:nvPr/>
        </p:nvCxnSpPr>
        <p:spPr>
          <a:xfrm>
            <a:off x="3291840" y="2871570"/>
            <a:ext cx="9144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5" name="Google Shape;585;p52"/>
          <p:cNvCxnSpPr/>
          <p:nvPr/>
        </p:nvCxnSpPr>
        <p:spPr>
          <a:xfrm rot="10800000">
            <a:off x="3383280" y="2218277"/>
            <a:ext cx="0" cy="653293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6" name="Google Shape;586;p52"/>
          <p:cNvCxnSpPr/>
          <p:nvPr/>
        </p:nvCxnSpPr>
        <p:spPr>
          <a:xfrm>
            <a:off x="3374705" y="2207402"/>
            <a:ext cx="9150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7" name="Google Shape;587;p52"/>
          <p:cNvSpPr/>
          <p:nvPr/>
        </p:nvSpPr>
        <p:spPr>
          <a:xfrm>
            <a:off x="3486150" y="1494210"/>
            <a:ext cx="1091565" cy="1502574"/>
          </a:xfrm>
          <a:prstGeom prst="roundRect">
            <a:avLst>
              <a:gd fmla="val 5000" name="adj"/>
            </a:avLst>
          </a:prstGeom>
          <a:solidFill>
            <a:srgbClr val="FFF4F3"/>
          </a:solidFill>
          <a:ln cap="flat" cmpd="sng" w="15875">
            <a:solidFill>
              <a:srgbClr val="E573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2"/>
          <p:cNvSpPr/>
          <p:nvPr/>
        </p:nvSpPr>
        <p:spPr>
          <a:xfrm>
            <a:off x="3497580" y="1505098"/>
            <a:ext cx="1068705" cy="255873"/>
          </a:xfrm>
          <a:prstGeom prst="round2SameRect">
            <a:avLst>
              <a:gd fmla="val 20000" name="adj1"/>
              <a:gd fmla="val 0" name="adj2"/>
            </a:avLst>
          </a:prstGeom>
          <a:solidFill>
            <a:srgbClr val="FCE1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2"/>
          <p:cNvSpPr/>
          <p:nvPr/>
        </p:nvSpPr>
        <p:spPr>
          <a:xfrm>
            <a:off x="3543300" y="1554095"/>
            <a:ext cx="171450" cy="163323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2"/>
          <p:cNvSpPr/>
          <p:nvPr/>
        </p:nvSpPr>
        <p:spPr>
          <a:xfrm>
            <a:off x="3583305" y="1592204"/>
            <a:ext cx="91440" cy="8710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2"/>
          <p:cNvSpPr/>
          <p:nvPr/>
        </p:nvSpPr>
        <p:spPr>
          <a:xfrm>
            <a:off x="3606165" y="1613981"/>
            <a:ext cx="45720" cy="4355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2"/>
          <p:cNvSpPr txBox="1"/>
          <p:nvPr/>
        </p:nvSpPr>
        <p:spPr>
          <a:xfrm>
            <a:off x="3760470" y="1554095"/>
            <a:ext cx="800100" cy="163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Breach Model</a:t>
            </a:r>
            <a:endParaRPr/>
          </a:p>
        </p:txBody>
      </p:sp>
      <p:sp>
        <p:nvSpPr>
          <p:cNvPr id="593" name="Google Shape;593;p52"/>
          <p:cNvSpPr txBox="1"/>
          <p:nvPr/>
        </p:nvSpPr>
        <p:spPr>
          <a:xfrm>
            <a:off x="3611880" y="1793636"/>
            <a:ext cx="948690" cy="12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Empirical methods</a:t>
            </a:r>
            <a:endParaRPr/>
          </a:p>
        </p:txBody>
      </p:sp>
      <p:sp>
        <p:nvSpPr>
          <p:cNvPr id="594" name="Google Shape;594;p52"/>
          <p:cNvSpPr/>
          <p:nvPr/>
        </p:nvSpPr>
        <p:spPr>
          <a:xfrm>
            <a:off x="3623310" y="1976014"/>
            <a:ext cx="28575" cy="272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2"/>
          <p:cNvSpPr txBox="1"/>
          <p:nvPr/>
        </p:nvSpPr>
        <p:spPr>
          <a:xfrm>
            <a:off x="3709035" y="1929739"/>
            <a:ext cx="86296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Froehlich (2008)</a:t>
            </a:r>
            <a:endParaRPr/>
          </a:p>
        </p:txBody>
      </p:sp>
      <p:sp>
        <p:nvSpPr>
          <p:cNvPr id="596" name="Google Shape;596;p52"/>
          <p:cNvSpPr/>
          <p:nvPr/>
        </p:nvSpPr>
        <p:spPr>
          <a:xfrm>
            <a:off x="3623310" y="2097418"/>
            <a:ext cx="28575" cy="272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2"/>
          <p:cNvSpPr txBox="1"/>
          <p:nvPr/>
        </p:nvSpPr>
        <p:spPr>
          <a:xfrm>
            <a:off x="3709035" y="2051143"/>
            <a:ext cx="86296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Froehlich (1995)</a:t>
            </a:r>
            <a:endParaRPr/>
          </a:p>
        </p:txBody>
      </p:sp>
      <p:sp>
        <p:nvSpPr>
          <p:cNvPr id="598" name="Google Shape;598;p52"/>
          <p:cNvSpPr/>
          <p:nvPr/>
        </p:nvSpPr>
        <p:spPr>
          <a:xfrm>
            <a:off x="3623310" y="2218821"/>
            <a:ext cx="28575" cy="272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2"/>
          <p:cNvSpPr txBox="1"/>
          <p:nvPr/>
        </p:nvSpPr>
        <p:spPr>
          <a:xfrm>
            <a:off x="3709035" y="2172546"/>
            <a:ext cx="86296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Von Thun &amp; Gillette</a:t>
            </a:r>
            <a:endParaRPr/>
          </a:p>
        </p:txBody>
      </p:sp>
      <p:sp>
        <p:nvSpPr>
          <p:cNvPr id="600" name="Google Shape;600;p52"/>
          <p:cNvSpPr/>
          <p:nvPr/>
        </p:nvSpPr>
        <p:spPr>
          <a:xfrm>
            <a:off x="3623310" y="2340225"/>
            <a:ext cx="28575" cy="272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2"/>
          <p:cNvSpPr txBox="1"/>
          <p:nvPr/>
        </p:nvSpPr>
        <p:spPr>
          <a:xfrm>
            <a:off x="3709035" y="2293950"/>
            <a:ext cx="86296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Xu &amp; Zhang</a:t>
            </a:r>
            <a:endParaRPr/>
          </a:p>
        </p:txBody>
      </p:sp>
      <p:sp>
        <p:nvSpPr>
          <p:cNvPr id="602" name="Google Shape;602;p52"/>
          <p:cNvSpPr/>
          <p:nvPr/>
        </p:nvSpPr>
        <p:spPr>
          <a:xfrm>
            <a:off x="3623310" y="2461628"/>
            <a:ext cx="28575" cy="272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2"/>
          <p:cNvSpPr txBox="1"/>
          <p:nvPr/>
        </p:nvSpPr>
        <p:spPr>
          <a:xfrm>
            <a:off x="3709035" y="2415353"/>
            <a:ext cx="86296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MacDonald &amp; Langridge</a:t>
            </a:r>
            <a:endParaRPr/>
          </a:p>
        </p:txBody>
      </p:sp>
      <p:sp>
        <p:nvSpPr>
          <p:cNvPr id="604" name="Google Shape;604;p52"/>
          <p:cNvSpPr/>
          <p:nvPr/>
        </p:nvSpPr>
        <p:spPr>
          <a:xfrm>
            <a:off x="3646170" y="2675582"/>
            <a:ext cx="845820" cy="250429"/>
          </a:xfrm>
          <a:custGeom>
            <a:rect b="b" l="l" r="r" t="t"/>
            <a:pathLst>
              <a:path extrusionOk="0" h="250429" w="845820">
                <a:moveTo>
                  <a:pt x="0" y="0"/>
                </a:moveTo>
                <a:lnTo>
                  <a:pt x="194310" y="0"/>
                </a:lnTo>
                <a:lnTo>
                  <a:pt x="325755" y="217764"/>
                </a:lnTo>
                <a:lnTo>
                  <a:pt x="525780" y="217764"/>
                </a:lnTo>
                <a:lnTo>
                  <a:pt x="651510" y="0"/>
                </a:lnTo>
                <a:lnTo>
                  <a:pt x="845820" y="0"/>
                </a:lnTo>
                <a:lnTo>
                  <a:pt x="845820" y="250429"/>
                </a:lnTo>
                <a:lnTo>
                  <a:pt x="0" y="250429"/>
                </a:lnTo>
                <a:close/>
              </a:path>
            </a:pathLst>
          </a:custGeom>
          <a:solidFill>
            <a:srgbClr val="C896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2"/>
          <p:cNvSpPr/>
          <p:nvPr/>
        </p:nvSpPr>
        <p:spPr>
          <a:xfrm>
            <a:off x="3646170" y="2675582"/>
            <a:ext cx="845820" cy="217764"/>
          </a:xfrm>
          <a:custGeom>
            <a:rect b="b" l="l" r="r" t="t"/>
            <a:pathLst>
              <a:path extrusionOk="0" h="217764" w="845820">
                <a:moveTo>
                  <a:pt x="0" y="0"/>
                </a:moveTo>
                <a:lnTo>
                  <a:pt x="194310" y="0"/>
                </a:lnTo>
                <a:lnTo>
                  <a:pt x="325755" y="217764"/>
                </a:lnTo>
                <a:lnTo>
                  <a:pt x="525780" y="217764"/>
                </a:lnTo>
                <a:lnTo>
                  <a:pt x="651510" y="0"/>
                </a:lnTo>
                <a:lnTo>
                  <a:pt x="845820" y="0"/>
                </a:lnTo>
              </a:path>
            </a:pathLst>
          </a:custGeom>
          <a:noFill/>
          <a:ln cap="flat" cmpd="sng" w="15875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52"/>
          <p:cNvCxnSpPr/>
          <p:nvPr/>
        </p:nvCxnSpPr>
        <p:spPr>
          <a:xfrm>
            <a:off x="3903345" y="2670138"/>
            <a:ext cx="337185" cy="0"/>
          </a:xfrm>
          <a:prstGeom prst="straightConnector1">
            <a:avLst/>
          </a:prstGeom>
          <a:noFill/>
          <a:ln cap="flat" cmpd="sng" w="1142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7" name="Google Shape;607;p52"/>
          <p:cNvCxnSpPr/>
          <p:nvPr/>
        </p:nvCxnSpPr>
        <p:spPr>
          <a:xfrm rot="10800000">
            <a:off x="3903345" y="2670138"/>
            <a:ext cx="337185" cy="0"/>
          </a:xfrm>
          <a:prstGeom prst="straightConnector1">
            <a:avLst/>
          </a:prstGeom>
          <a:noFill/>
          <a:ln cap="flat" cmpd="sng" w="1142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8" name="Google Shape;608;p52"/>
          <p:cNvSpPr txBox="1"/>
          <p:nvPr/>
        </p:nvSpPr>
        <p:spPr>
          <a:xfrm>
            <a:off x="4000500" y="2561256"/>
            <a:ext cx="142875" cy="10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3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609" name="Google Shape;609;p52"/>
          <p:cNvCxnSpPr/>
          <p:nvPr/>
        </p:nvCxnSpPr>
        <p:spPr>
          <a:xfrm>
            <a:off x="4069080" y="2708247"/>
            <a:ext cx="0" cy="174211"/>
          </a:xfrm>
          <a:prstGeom prst="straightConnector1">
            <a:avLst/>
          </a:prstGeom>
          <a:noFill/>
          <a:ln cap="flat" cmpd="sng" w="1142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0" name="Google Shape;610;p52"/>
          <p:cNvCxnSpPr/>
          <p:nvPr/>
        </p:nvCxnSpPr>
        <p:spPr>
          <a:xfrm rot="10800000">
            <a:off x="4069080" y="2708247"/>
            <a:ext cx="0" cy="174211"/>
          </a:xfrm>
          <a:prstGeom prst="straightConnector1">
            <a:avLst/>
          </a:prstGeom>
          <a:noFill/>
          <a:ln cap="flat" cmpd="sng" w="1142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1" name="Google Shape;611;p52"/>
          <p:cNvSpPr txBox="1"/>
          <p:nvPr/>
        </p:nvSpPr>
        <p:spPr>
          <a:xfrm>
            <a:off x="4109085" y="2740911"/>
            <a:ext cx="102870" cy="10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3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612" name="Google Shape;612;p52"/>
          <p:cNvCxnSpPr/>
          <p:nvPr/>
        </p:nvCxnSpPr>
        <p:spPr>
          <a:xfrm>
            <a:off x="4577715" y="2136615"/>
            <a:ext cx="9144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3" name="Google Shape;613;p52"/>
          <p:cNvSpPr/>
          <p:nvPr/>
        </p:nvSpPr>
        <p:spPr>
          <a:xfrm>
            <a:off x="4674870" y="1494210"/>
            <a:ext cx="1080135" cy="1366471"/>
          </a:xfrm>
          <a:prstGeom prst="roundRect">
            <a:avLst>
              <a:gd fmla="val 5000" name="adj"/>
            </a:avLst>
          </a:prstGeom>
          <a:solidFill>
            <a:srgbClr val="FFF9EE"/>
          </a:solidFill>
          <a:ln cap="flat" cmpd="sng" w="15875">
            <a:solidFill>
              <a:srgbClr val="F2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2"/>
          <p:cNvSpPr/>
          <p:nvPr/>
        </p:nvSpPr>
        <p:spPr>
          <a:xfrm>
            <a:off x="4743450" y="1554095"/>
            <a:ext cx="182880" cy="174211"/>
          </a:xfrm>
          <a:prstGeom prst="roundRect">
            <a:avLst>
              <a:gd fmla="val 2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w.png" id="615" name="Google Shape;615;p5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780448" y="1586760"/>
            <a:ext cx="108882" cy="10888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52"/>
          <p:cNvSpPr txBox="1"/>
          <p:nvPr/>
        </p:nvSpPr>
        <p:spPr>
          <a:xfrm>
            <a:off x="4983480" y="1554095"/>
            <a:ext cx="760095" cy="163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>
                <a:solidFill>
                  <a:srgbClr val="8A4B08"/>
                </a:solidFill>
                <a:latin typeface="Calibri"/>
                <a:ea typeface="Calibri"/>
                <a:cs typeface="Calibri"/>
                <a:sym typeface="Calibri"/>
              </a:rPr>
              <a:t>Breach Outflow</a:t>
            </a:r>
            <a:endParaRPr/>
          </a:p>
        </p:txBody>
      </p:sp>
      <p:sp>
        <p:nvSpPr>
          <p:cNvPr id="617" name="Google Shape;617;p52"/>
          <p:cNvSpPr txBox="1"/>
          <p:nvPr/>
        </p:nvSpPr>
        <p:spPr>
          <a:xfrm>
            <a:off x="4983480" y="1722863"/>
            <a:ext cx="76009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Hydrograph </a:t>
            </a: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baseline="-2500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(t)</a:t>
            </a:r>
            <a:endParaRPr/>
          </a:p>
        </p:txBody>
      </p:sp>
      <p:cxnSp>
        <p:nvCxnSpPr>
          <p:cNvPr id="618" name="Google Shape;618;p52"/>
          <p:cNvCxnSpPr/>
          <p:nvPr/>
        </p:nvCxnSpPr>
        <p:spPr>
          <a:xfrm rot="10800000">
            <a:off x="4926330" y="2011401"/>
            <a:ext cx="0" cy="544411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9" name="Google Shape;619;p52"/>
          <p:cNvCxnSpPr/>
          <p:nvPr/>
        </p:nvCxnSpPr>
        <p:spPr>
          <a:xfrm>
            <a:off x="4926330" y="2555812"/>
            <a:ext cx="760095" cy="0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0" name="Google Shape;620;p52"/>
          <p:cNvSpPr/>
          <p:nvPr/>
        </p:nvSpPr>
        <p:spPr>
          <a:xfrm>
            <a:off x="4960620" y="2131643"/>
            <a:ext cx="694944" cy="420285"/>
          </a:xfrm>
          <a:custGeom>
            <a:rect b="b" l="l" r="r" t="t"/>
            <a:pathLst>
              <a:path extrusionOk="0" h="420285" w="694944">
                <a:moveTo>
                  <a:pt x="0" y="420285"/>
                </a:moveTo>
                <a:lnTo>
                  <a:pt x="18288" y="417369"/>
                </a:lnTo>
                <a:lnTo>
                  <a:pt x="36576" y="412681"/>
                </a:lnTo>
                <a:lnTo>
                  <a:pt x="54864" y="405438"/>
                </a:lnTo>
                <a:lnTo>
                  <a:pt x="73152" y="394696"/>
                </a:lnTo>
                <a:lnTo>
                  <a:pt x="91440" y="379412"/>
                </a:lnTo>
                <a:lnTo>
                  <a:pt x="109728" y="358576"/>
                </a:lnTo>
                <a:lnTo>
                  <a:pt x="128016" y="331398"/>
                </a:lnTo>
                <a:lnTo>
                  <a:pt x="146304" y="297542"/>
                </a:lnTo>
                <a:lnTo>
                  <a:pt x="164592" y="257368"/>
                </a:lnTo>
                <a:lnTo>
                  <a:pt x="182880" y="212124"/>
                </a:lnTo>
                <a:lnTo>
                  <a:pt x="201168" y="164023"/>
                </a:lnTo>
                <a:lnTo>
                  <a:pt x="219456" y="116159"/>
                </a:lnTo>
                <a:lnTo>
                  <a:pt x="237744" y="72227"/>
                </a:lnTo>
                <a:lnTo>
                  <a:pt x="256032" y="36076"/>
                </a:lnTo>
                <a:lnTo>
                  <a:pt x="274320" y="11161"/>
                </a:lnTo>
                <a:lnTo>
                  <a:pt x="292608" y="0"/>
                </a:lnTo>
                <a:lnTo>
                  <a:pt x="310896" y="1639"/>
                </a:lnTo>
                <a:lnTo>
                  <a:pt x="329184" y="10893"/>
                </a:lnTo>
                <a:lnTo>
                  <a:pt x="347472" y="27043"/>
                </a:lnTo>
                <a:lnTo>
                  <a:pt x="365760" y="49262"/>
                </a:lnTo>
                <a:lnTo>
                  <a:pt x="384048" y="76454"/>
                </a:lnTo>
                <a:lnTo>
                  <a:pt x="402336" y="107337"/>
                </a:lnTo>
                <a:lnTo>
                  <a:pt x="420624" y="140546"/>
                </a:lnTo>
                <a:lnTo>
                  <a:pt x="438912" y="174733"/>
                </a:lnTo>
                <a:lnTo>
                  <a:pt x="457200" y="208651"/>
                </a:lnTo>
                <a:lnTo>
                  <a:pt x="475488" y="241227"/>
                </a:lnTo>
                <a:lnTo>
                  <a:pt x="493776" y="271606"/>
                </a:lnTo>
                <a:lnTo>
                  <a:pt x="512064" y="299174"/>
                </a:lnTo>
                <a:lnTo>
                  <a:pt x="530352" y="323559"/>
                </a:lnTo>
                <a:lnTo>
                  <a:pt x="548640" y="344609"/>
                </a:lnTo>
                <a:lnTo>
                  <a:pt x="566928" y="362360"/>
                </a:lnTo>
                <a:lnTo>
                  <a:pt x="585216" y="376993"/>
                </a:lnTo>
                <a:lnTo>
                  <a:pt x="603504" y="388794"/>
                </a:lnTo>
                <a:lnTo>
                  <a:pt x="621792" y="398109"/>
                </a:lnTo>
                <a:lnTo>
                  <a:pt x="640080" y="405308"/>
                </a:lnTo>
                <a:lnTo>
                  <a:pt x="658368" y="410758"/>
                </a:lnTo>
                <a:lnTo>
                  <a:pt x="676656" y="414801"/>
                </a:lnTo>
                <a:lnTo>
                  <a:pt x="694944" y="417740"/>
                </a:lnTo>
              </a:path>
            </a:pathLst>
          </a:custGeom>
          <a:noFill/>
          <a:ln cap="flat" cmpd="sng" w="22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2"/>
          <p:cNvSpPr txBox="1"/>
          <p:nvPr/>
        </p:nvSpPr>
        <p:spPr>
          <a:xfrm rot="-5400000">
            <a:off x="4640580" y="2218277"/>
            <a:ext cx="457200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(m³/s)</a:t>
            </a:r>
            <a:endParaRPr/>
          </a:p>
        </p:txBody>
      </p:sp>
      <p:sp>
        <p:nvSpPr>
          <p:cNvPr id="622" name="Google Shape;622;p52"/>
          <p:cNvSpPr txBox="1"/>
          <p:nvPr/>
        </p:nvSpPr>
        <p:spPr>
          <a:xfrm>
            <a:off x="5057775" y="2566700"/>
            <a:ext cx="42862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(hours)</a:t>
            </a:r>
            <a:endParaRPr/>
          </a:p>
        </p:txBody>
      </p:sp>
      <p:cxnSp>
        <p:nvCxnSpPr>
          <p:cNvPr id="623" name="Google Shape;623;p52"/>
          <p:cNvCxnSpPr/>
          <p:nvPr/>
        </p:nvCxnSpPr>
        <p:spPr>
          <a:xfrm>
            <a:off x="5755005" y="2136615"/>
            <a:ext cx="97155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4" name="Google Shape;624;p52"/>
          <p:cNvSpPr/>
          <p:nvPr/>
        </p:nvSpPr>
        <p:spPr>
          <a:xfrm>
            <a:off x="5857875" y="1494210"/>
            <a:ext cx="1343025" cy="1366471"/>
          </a:xfrm>
          <a:prstGeom prst="roundRect">
            <a:avLst>
              <a:gd fmla="val 5000" name="adj"/>
            </a:avLst>
          </a:prstGeom>
          <a:solidFill>
            <a:srgbClr val="F2F7FD"/>
          </a:solidFill>
          <a:ln cap="flat" cmpd="sng" w="158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2"/>
          <p:cNvSpPr/>
          <p:nvPr/>
        </p:nvSpPr>
        <p:spPr>
          <a:xfrm>
            <a:off x="5869305" y="1505098"/>
            <a:ext cx="1320165" cy="255873"/>
          </a:xfrm>
          <a:prstGeom prst="round2SameRect">
            <a:avLst>
              <a:gd fmla="val 20000" name="adj1"/>
              <a:gd fmla="val 0" name="adj2"/>
            </a:avLst>
          </a:prstGeom>
          <a:solidFill>
            <a:srgbClr val="DDEB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2"/>
          <p:cNvSpPr/>
          <p:nvPr/>
        </p:nvSpPr>
        <p:spPr>
          <a:xfrm>
            <a:off x="5926455" y="1548651"/>
            <a:ext cx="194310" cy="185099"/>
          </a:xfrm>
          <a:prstGeom prst="ellipse">
            <a:avLst/>
          </a:prstGeom>
          <a:solidFill>
            <a:srgbClr val="1E6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ols_w.png" id="627" name="Google Shape;627;p5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74613" y="1592204"/>
            <a:ext cx="97993" cy="97993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2"/>
          <p:cNvSpPr txBox="1"/>
          <p:nvPr/>
        </p:nvSpPr>
        <p:spPr>
          <a:xfrm>
            <a:off x="6177915" y="1554095"/>
            <a:ext cx="1011555" cy="163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Hydrodynamic Solver</a:t>
            </a:r>
            <a:endParaRPr/>
          </a:p>
        </p:txBody>
      </p:sp>
      <p:pic>
        <p:nvPicPr>
          <p:cNvPr descr="hec.png" id="629" name="Google Shape;629;p5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138696" y="1842633"/>
            <a:ext cx="261317" cy="26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ube.png" id="630" name="Google Shape;630;p5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160201" y="2207389"/>
            <a:ext cx="206876" cy="206876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2"/>
          <p:cNvSpPr/>
          <p:nvPr/>
        </p:nvSpPr>
        <p:spPr>
          <a:xfrm>
            <a:off x="6237922" y="2634751"/>
            <a:ext cx="40005" cy="38108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6300787" y="2640195"/>
            <a:ext cx="28575" cy="27220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6272212" y="2687343"/>
            <a:ext cx="28575" cy="27220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2"/>
          <p:cNvSpPr/>
          <p:nvPr/>
        </p:nvSpPr>
        <p:spPr>
          <a:xfrm>
            <a:off x="6215062" y="2687343"/>
            <a:ext cx="28575" cy="27220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2"/>
          <p:cNvSpPr/>
          <p:nvPr/>
        </p:nvSpPr>
        <p:spPr>
          <a:xfrm>
            <a:off x="6186487" y="2640195"/>
            <a:ext cx="28575" cy="27220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2"/>
          <p:cNvSpPr/>
          <p:nvPr/>
        </p:nvSpPr>
        <p:spPr>
          <a:xfrm>
            <a:off x="6215062" y="2593048"/>
            <a:ext cx="28575" cy="27220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52"/>
          <p:cNvSpPr/>
          <p:nvPr/>
        </p:nvSpPr>
        <p:spPr>
          <a:xfrm>
            <a:off x="6272212" y="2593048"/>
            <a:ext cx="28575" cy="27220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52"/>
          <p:cNvSpPr/>
          <p:nvPr/>
        </p:nvSpPr>
        <p:spPr>
          <a:xfrm>
            <a:off x="6355080" y="2642917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52"/>
          <p:cNvSpPr/>
          <p:nvPr/>
        </p:nvSpPr>
        <p:spPr>
          <a:xfrm>
            <a:off x="6340532" y="2694636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52"/>
          <p:cNvSpPr/>
          <p:nvPr/>
        </p:nvSpPr>
        <p:spPr>
          <a:xfrm>
            <a:off x="6300787" y="2732497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6246495" y="2746355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2"/>
          <p:cNvSpPr/>
          <p:nvPr/>
        </p:nvSpPr>
        <p:spPr>
          <a:xfrm>
            <a:off x="6192202" y="2732497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2"/>
          <p:cNvSpPr/>
          <p:nvPr/>
        </p:nvSpPr>
        <p:spPr>
          <a:xfrm>
            <a:off x="6152457" y="2694636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2"/>
          <p:cNvSpPr/>
          <p:nvPr/>
        </p:nvSpPr>
        <p:spPr>
          <a:xfrm>
            <a:off x="6137910" y="2642917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2"/>
          <p:cNvSpPr/>
          <p:nvPr/>
        </p:nvSpPr>
        <p:spPr>
          <a:xfrm>
            <a:off x="6152457" y="2591198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2"/>
          <p:cNvSpPr/>
          <p:nvPr/>
        </p:nvSpPr>
        <p:spPr>
          <a:xfrm>
            <a:off x="6192202" y="2553337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2"/>
          <p:cNvSpPr/>
          <p:nvPr/>
        </p:nvSpPr>
        <p:spPr>
          <a:xfrm>
            <a:off x="6246495" y="2539479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2"/>
          <p:cNvSpPr/>
          <p:nvPr/>
        </p:nvSpPr>
        <p:spPr>
          <a:xfrm>
            <a:off x="6300787" y="2553337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2"/>
          <p:cNvSpPr/>
          <p:nvPr/>
        </p:nvSpPr>
        <p:spPr>
          <a:xfrm>
            <a:off x="6340532" y="2591198"/>
            <a:ext cx="22860" cy="21776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2"/>
          <p:cNvSpPr/>
          <p:nvPr/>
        </p:nvSpPr>
        <p:spPr>
          <a:xfrm>
            <a:off x="6397942" y="2645639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2"/>
          <p:cNvSpPr/>
          <p:nvPr/>
        </p:nvSpPr>
        <p:spPr>
          <a:xfrm>
            <a:off x="6386631" y="2699807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2"/>
          <p:cNvSpPr/>
          <p:nvPr/>
        </p:nvSpPr>
        <p:spPr>
          <a:xfrm>
            <a:off x="6354421" y="2745728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2"/>
          <p:cNvSpPr/>
          <p:nvPr/>
        </p:nvSpPr>
        <p:spPr>
          <a:xfrm>
            <a:off x="6306215" y="2776412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2"/>
          <p:cNvSpPr/>
          <p:nvPr/>
        </p:nvSpPr>
        <p:spPr>
          <a:xfrm>
            <a:off x="6249352" y="2787186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2"/>
          <p:cNvSpPr/>
          <p:nvPr/>
        </p:nvSpPr>
        <p:spPr>
          <a:xfrm>
            <a:off x="6192489" y="2776412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2"/>
          <p:cNvSpPr/>
          <p:nvPr/>
        </p:nvSpPr>
        <p:spPr>
          <a:xfrm>
            <a:off x="6144283" y="2745728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2"/>
          <p:cNvSpPr/>
          <p:nvPr/>
        </p:nvSpPr>
        <p:spPr>
          <a:xfrm>
            <a:off x="6112073" y="2699807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2"/>
          <p:cNvSpPr/>
          <p:nvPr/>
        </p:nvSpPr>
        <p:spPr>
          <a:xfrm>
            <a:off x="6100762" y="2645639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2"/>
          <p:cNvSpPr/>
          <p:nvPr/>
        </p:nvSpPr>
        <p:spPr>
          <a:xfrm>
            <a:off x="6112073" y="2591472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2"/>
          <p:cNvSpPr/>
          <p:nvPr/>
        </p:nvSpPr>
        <p:spPr>
          <a:xfrm>
            <a:off x="6144283" y="2545551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2"/>
          <p:cNvSpPr/>
          <p:nvPr/>
        </p:nvSpPr>
        <p:spPr>
          <a:xfrm>
            <a:off x="6192489" y="2514867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2"/>
          <p:cNvSpPr/>
          <p:nvPr/>
        </p:nvSpPr>
        <p:spPr>
          <a:xfrm>
            <a:off x="6249352" y="2504092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2"/>
          <p:cNvSpPr/>
          <p:nvPr/>
        </p:nvSpPr>
        <p:spPr>
          <a:xfrm>
            <a:off x="6306215" y="2514867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2"/>
          <p:cNvSpPr/>
          <p:nvPr/>
        </p:nvSpPr>
        <p:spPr>
          <a:xfrm>
            <a:off x="6354421" y="2545551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2"/>
          <p:cNvSpPr/>
          <p:nvPr/>
        </p:nvSpPr>
        <p:spPr>
          <a:xfrm>
            <a:off x="6386631" y="2591472"/>
            <a:ext cx="17145" cy="16332"/>
          </a:xfrm>
          <a:prstGeom prst="ellipse">
            <a:avLst/>
          </a:prstGeom>
          <a:solidFill>
            <a:srgbClr val="1B2F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2"/>
          <p:cNvSpPr txBox="1"/>
          <p:nvPr/>
        </p:nvSpPr>
        <p:spPr>
          <a:xfrm>
            <a:off x="6532245" y="1858966"/>
            <a:ext cx="68008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HEC-RAS</a:t>
            </a:r>
            <a:endParaRPr/>
          </a:p>
        </p:txBody>
      </p:sp>
      <p:sp>
        <p:nvSpPr>
          <p:cNvPr id="667" name="Google Shape;667;p52"/>
          <p:cNvSpPr txBox="1"/>
          <p:nvPr/>
        </p:nvSpPr>
        <p:spPr>
          <a:xfrm>
            <a:off x="6532245" y="1978736"/>
            <a:ext cx="657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(1D/2D)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68" name="Google Shape;668;p52"/>
          <p:cNvSpPr txBox="1"/>
          <p:nvPr/>
        </p:nvSpPr>
        <p:spPr>
          <a:xfrm>
            <a:off x="6532245" y="2196500"/>
            <a:ext cx="68008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Delft3D/ANUGA</a:t>
            </a:r>
            <a:endParaRPr/>
          </a:p>
        </p:txBody>
      </p:sp>
      <p:sp>
        <p:nvSpPr>
          <p:cNvPr id="669" name="Google Shape;669;p52"/>
          <p:cNvSpPr txBox="1"/>
          <p:nvPr/>
        </p:nvSpPr>
        <p:spPr>
          <a:xfrm>
            <a:off x="6532245" y="2316271"/>
            <a:ext cx="657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(2D/3D)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0" name="Google Shape;670;p52"/>
          <p:cNvSpPr txBox="1"/>
          <p:nvPr/>
        </p:nvSpPr>
        <p:spPr>
          <a:xfrm>
            <a:off x="6532245" y="2534035"/>
            <a:ext cx="68008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>
                <a:solidFill>
                  <a:srgbClr val="1B2F63"/>
                </a:solidFill>
                <a:latin typeface="Calibri"/>
                <a:ea typeface="Calibri"/>
                <a:cs typeface="Calibri"/>
                <a:sym typeface="Calibri"/>
              </a:rPr>
              <a:t>SPH</a:t>
            </a:r>
            <a:endParaRPr/>
          </a:p>
        </p:txBody>
      </p:sp>
      <p:sp>
        <p:nvSpPr>
          <p:cNvPr id="671" name="Google Shape;671;p52"/>
          <p:cNvSpPr txBox="1"/>
          <p:nvPr/>
        </p:nvSpPr>
        <p:spPr>
          <a:xfrm>
            <a:off x="6532245" y="2653805"/>
            <a:ext cx="657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(fast simulation)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72" name="Google Shape;672;p52"/>
          <p:cNvCxnSpPr/>
          <p:nvPr/>
        </p:nvCxnSpPr>
        <p:spPr>
          <a:xfrm>
            <a:off x="6543675" y="2871570"/>
            <a:ext cx="0" cy="157879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73" name="Google Shape;673;p52"/>
          <p:cNvSpPr/>
          <p:nvPr/>
        </p:nvSpPr>
        <p:spPr>
          <a:xfrm>
            <a:off x="4326250" y="3045775"/>
            <a:ext cx="2886000" cy="1154100"/>
          </a:xfrm>
          <a:prstGeom prst="roundRect">
            <a:avLst>
              <a:gd fmla="val 4000" name="adj"/>
            </a:avLst>
          </a:prstGeom>
          <a:solidFill>
            <a:srgbClr val="F7FAFE"/>
          </a:solidFill>
          <a:ln cap="flat" cmpd="sng" w="158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2"/>
          <p:cNvSpPr/>
          <p:nvPr/>
        </p:nvSpPr>
        <p:spPr>
          <a:xfrm>
            <a:off x="4337685" y="3056670"/>
            <a:ext cx="2863215" cy="195987"/>
          </a:xfrm>
          <a:prstGeom prst="round2SameRect">
            <a:avLst>
              <a:gd fmla="val 20000" name="adj1"/>
              <a:gd fmla="val 0" name="adj2"/>
            </a:avLst>
          </a:prstGeom>
          <a:solidFill>
            <a:srgbClr val="E3EE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2"/>
          <p:cNvSpPr txBox="1"/>
          <p:nvPr/>
        </p:nvSpPr>
        <p:spPr>
          <a:xfrm>
            <a:off x="4411980" y="3056670"/>
            <a:ext cx="2760345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Governing Equations (1D Saint-Venant)</a:t>
            </a:r>
            <a:endParaRPr/>
          </a:p>
        </p:txBody>
      </p:sp>
      <p:sp>
        <p:nvSpPr>
          <p:cNvPr id="676" name="Google Shape;676;p52"/>
          <p:cNvSpPr/>
          <p:nvPr/>
        </p:nvSpPr>
        <p:spPr>
          <a:xfrm>
            <a:off x="4371975" y="3279878"/>
            <a:ext cx="1200150" cy="46274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E3E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5646420" y="3279878"/>
            <a:ext cx="1525905" cy="46274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E3E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4411980" y="3301654"/>
            <a:ext cx="1143000" cy="10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7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Continuity (Mass Conservation)</a:t>
            </a:r>
            <a:endParaRPr/>
          </a:p>
        </p:txBody>
      </p:sp>
      <p:sp>
        <p:nvSpPr>
          <p:cNvPr id="679" name="Google Shape;679;p52"/>
          <p:cNvSpPr txBox="1"/>
          <p:nvPr/>
        </p:nvSpPr>
        <p:spPr>
          <a:xfrm>
            <a:off x="5692140" y="3301654"/>
            <a:ext cx="14631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7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Momentum Conservation</a:t>
            </a:r>
            <a:endParaRPr b="1"/>
          </a:p>
        </p:txBody>
      </p:sp>
      <p:pic>
        <p:nvPicPr>
          <p:cNvPr descr="eq_cont.png" id="680" name="Google Shape;680;p5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572000" y="3443201"/>
            <a:ext cx="722742" cy="26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_mom.png" id="681" name="Google Shape;681;p5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686425" y="3459525"/>
            <a:ext cx="1457325" cy="19089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 txBox="1"/>
          <p:nvPr/>
        </p:nvSpPr>
        <p:spPr>
          <a:xfrm>
            <a:off x="4417695" y="3791624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flow area (m²)</a:t>
            </a:r>
            <a:endParaRPr sz="1500"/>
          </a:p>
        </p:txBody>
      </p:sp>
      <p:sp>
        <p:nvSpPr>
          <p:cNvPr id="683" name="Google Shape;683;p52"/>
          <p:cNvSpPr txBox="1"/>
          <p:nvPr/>
        </p:nvSpPr>
        <p:spPr>
          <a:xfrm>
            <a:off x="4417695" y="3905951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:  time (s)</a:t>
            </a:r>
            <a:endParaRPr sz="1500"/>
          </a:p>
        </p:txBody>
      </p:sp>
      <p:sp>
        <p:nvSpPr>
          <p:cNvPr id="684" name="Google Shape;684;p52"/>
          <p:cNvSpPr txBox="1"/>
          <p:nvPr/>
        </p:nvSpPr>
        <p:spPr>
          <a:xfrm>
            <a:off x="4417695" y="4020277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: distance (m)</a:t>
            </a:r>
            <a:endParaRPr sz="1500"/>
          </a:p>
        </p:txBody>
      </p:sp>
      <p:sp>
        <p:nvSpPr>
          <p:cNvPr id="685" name="Google Shape;685;p52"/>
          <p:cNvSpPr txBox="1"/>
          <p:nvPr/>
        </p:nvSpPr>
        <p:spPr>
          <a:xfrm>
            <a:off x="5114925" y="3791624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:  discharge (m³/s)</a:t>
            </a:r>
            <a:endParaRPr sz="1500"/>
          </a:p>
        </p:txBody>
      </p:sp>
      <p:sp>
        <p:nvSpPr>
          <p:cNvPr id="686" name="Google Shape;686;p52"/>
          <p:cNvSpPr txBox="1"/>
          <p:nvPr/>
        </p:nvSpPr>
        <p:spPr>
          <a:xfrm>
            <a:off x="5926455" y="3791624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 gravitational acceleration</a:t>
            </a:r>
            <a:endParaRPr sz="1500"/>
          </a:p>
        </p:txBody>
      </p:sp>
      <p:sp>
        <p:nvSpPr>
          <p:cNvPr id="687" name="Google Shape;687;p52"/>
          <p:cNvSpPr txBox="1"/>
          <p:nvPr/>
        </p:nvSpPr>
        <p:spPr>
          <a:xfrm>
            <a:off x="5926455" y="3873286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 :  water surface elevation</a:t>
            </a:r>
            <a:endParaRPr sz="1500"/>
          </a:p>
        </p:txBody>
      </p:sp>
      <p:sp>
        <p:nvSpPr>
          <p:cNvPr id="688" name="Google Shape;688;p52"/>
          <p:cNvSpPr txBox="1"/>
          <p:nvPr/>
        </p:nvSpPr>
        <p:spPr>
          <a:xfrm>
            <a:off x="5926455" y="3960392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 friction slope</a:t>
            </a:r>
            <a:endParaRPr sz="1500"/>
          </a:p>
        </p:txBody>
      </p:sp>
      <p:sp>
        <p:nvSpPr>
          <p:cNvPr id="689" name="Google Shape;689;p52"/>
          <p:cNvSpPr txBox="1"/>
          <p:nvPr/>
        </p:nvSpPr>
        <p:spPr>
          <a:xfrm>
            <a:off x="5926455" y="4052941"/>
            <a:ext cx="12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" sz="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 energy slope (bed slope)</a:t>
            </a:r>
            <a:endParaRPr sz="1500"/>
          </a:p>
        </p:txBody>
      </p:sp>
      <p:cxnSp>
        <p:nvCxnSpPr>
          <p:cNvPr id="690" name="Google Shape;690;p52"/>
          <p:cNvCxnSpPr/>
          <p:nvPr/>
        </p:nvCxnSpPr>
        <p:spPr>
          <a:xfrm>
            <a:off x="5674995" y="4161824"/>
            <a:ext cx="0" cy="97994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91" name="Google Shape;691;p52"/>
          <p:cNvSpPr/>
          <p:nvPr/>
        </p:nvSpPr>
        <p:spPr>
          <a:xfrm>
            <a:off x="3531870" y="4276150"/>
            <a:ext cx="3680460" cy="827504"/>
          </a:xfrm>
          <a:prstGeom prst="roundRect">
            <a:avLst>
              <a:gd fmla="val 6000" name="adj"/>
            </a:avLst>
          </a:prstGeom>
          <a:solidFill>
            <a:srgbClr val="F6F1FC"/>
          </a:solidFill>
          <a:ln cap="flat" cmpd="sng" w="15875">
            <a:solidFill>
              <a:srgbClr val="B39D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2"/>
          <p:cNvSpPr/>
          <p:nvPr/>
        </p:nvSpPr>
        <p:spPr>
          <a:xfrm>
            <a:off x="3577590" y="4314259"/>
            <a:ext cx="205740" cy="195987"/>
          </a:xfrm>
          <a:prstGeom prst="roundRect">
            <a:avLst>
              <a:gd fmla="val 20000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cog_w.png" id="693" name="Google Shape;693;p5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20574" y="4352367"/>
            <a:ext cx="119770" cy="11977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2"/>
          <p:cNvSpPr txBox="1"/>
          <p:nvPr/>
        </p:nvSpPr>
        <p:spPr>
          <a:xfrm>
            <a:off x="3880485" y="4314259"/>
            <a:ext cx="3263265" cy="12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30">
                <a:solidFill>
                  <a:srgbClr val="5E35B1"/>
                </a:solidFill>
                <a:latin typeface="Calibri"/>
                <a:ea typeface="Calibri"/>
                <a:cs typeface="Calibri"/>
                <a:sym typeface="Calibri"/>
              </a:rPr>
              <a:t>Flood-Wave Propagation</a:t>
            </a:r>
            <a:endParaRPr/>
          </a:p>
        </p:txBody>
      </p:sp>
      <p:sp>
        <p:nvSpPr>
          <p:cNvPr id="695" name="Google Shape;695;p52"/>
          <p:cNvSpPr txBox="1"/>
          <p:nvPr/>
        </p:nvSpPr>
        <p:spPr>
          <a:xfrm>
            <a:off x="3880485" y="4439473"/>
            <a:ext cx="3263265" cy="10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Compute </a:t>
            </a:r>
            <a:r>
              <a:rPr b="0" i="1" lang="en" sz="7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H(x, t), Q(x, t)</a:t>
            </a:r>
            <a:r>
              <a:rPr b="0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, depth, velocity and arrival time</a:t>
            </a:r>
            <a:endParaRPr/>
          </a:p>
        </p:txBody>
      </p:sp>
      <p:sp>
        <p:nvSpPr>
          <p:cNvPr id="696" name="Google Shape;696;p52"/>
          <p:cNvSpPr/>
          <p:nvPr/>
        </p:nvSpPr>
        <p:spPr>
          <a:xfrm>
            <a:off x="3606165" y="4613685"/>
            <a:ext cx="1108710" cy="4137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2"/>
          <p:cNvSpPr txBox="1"/>
          <p:nvPr/>
        </p:nvSpPr>
        <p:spPr>
          <a:xfrm>
            <a:off x="3606165" y="4646349"/>
            <a:ext cx="1108710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Depth</a:t>
            </a:r>
            <a:endParaRPr/>
          </a:p>
        </p:txBody>
      </p:sp>
      <p:pic>
        <p:nvPicPr>
          <p:cNvPr descr="eq_depth.png" id="698" name="Google Shape;698;p5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646170" y="4841718"/>
            <a:ext cx="979939" cy="8834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2"/>
          <p:cNvSpPr/>
          <p:nvPr/>
        </p:nvSpPr>
        <p:spPr>
          <a:xfrm>
            <a:off x="4789170" y="4613685"/>
            <a:ext cx="908685" cy="4137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2"/>
          <p:cNvSpPr txBox="1"/>
          <p:nvPr/>
        </p:nvSpPr>
        <p:spPr>
          <a:xfrm>
            <a:off x="4789170" y="4646349"/>
            <a:ext cx="908685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Velocity</a:t>
            </a:r>
            <a:endParaRPr/>
          </a:p>
        </p:txBody>
      </p:sp>
      <p:pic>
        <p:nvPicPr>
          <p:cNvPr descr="eq_vel.png" id="701" name="Google Shape;701;p5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922680" y="4777008"/>
            <a:ext cx="611249" cy="21776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2"/>
          <p:cNvSpPr/>
          <p:nvPr/>
        </p:nvSpPr>
        <p:spPr>
          <a:xfrm>
            <a:off x="5772150" y="4613685"/>
            <a:ext cx="1360170" cy="4137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2"/>
          <p:cNvSpPr txBox="1"/>
          <p:nvPr/>
        </p:nvSpPr>
        <p:spPr>
          <a:xfrm>
            <a:off x="5772150" y="4646349"/>
            <a:ext cx="1360170" cy="119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Arrival Time</a:t>
            </a:r>
            <a:endParaRPr/>
          </a:p>
        </p:txBody>
      </p:sp>
      <p:pic>
        <p:nvPicPr>
          <p:cNvPr descr="eq_arr.png" id="704" name="Google Shape;704;p5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812155" y="4831968"/>
            <a:ext cx="1219480" cy="1078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5" name="Google Shape;705;p52"/>
          <p:cNvCxnSpPr/>
          <p:nvPr/>
        </p:nvCxnSpPr>
        <p:spPr>
          <a:xfrm>
            <a:off x="7212330" y="2152947"/>
            <a:ext cx="200025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06" name="Google Shape;706;p52"/>
          <p:cNvCxnSpPr/>
          <p:nvPr/>
        </p:nvCxnSpPr>
        <p:spPr>
          <a:xfrm>
            <a:off x="7412355" y="2156085"/>
            <a:ext cx="0" cy="251520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07" name="Google Shape;707;p52"/>
          <p:cNvCxnSpPr/>
          <p:nvPr/>
        </p:nvCxnSpPr>
        <p:spPr>
          <a:xfrm>
            <a:off x="7412355" y="2207389"/>
            <a:ext cx="51435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08" name="Google Shape;708;p52"/>
          <p:cNvCxnSpPr/>
          <p:nvPr/>
        </p:nvCxnSpPr>
        <p:spPr>
          <a:xfrm>
            <a:off x="7212330" y="4668126"/>
            <a:ext cx="251460" cy="0"/>
          </a:xfrm>
          <a:prstGeom prst="straightConnector1">
            <a:avLst/>
          </a:prstGeom>
          <a:noFill/>
          <a:ln cap="flat" cmpd="sng" w="22225">
            <a:solidFill>
              <a:srgbClr val="1F3A6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09" name="Google Shape;709;p52"/>
          <p:cNvSpPr/>
          <p:nvPr/>
        </p:nvSpPr>
        <p:spPr>
          <a:xfrm>
            <a:off x="7475225" y="1145775"/>
            <a:ext cx="1611600" cy="3859800"/>
          </a:xfrm>
          <a:prstGeom prst="roundRect">
            <a:avLst>
              <a:gd fmla="val 3000" name="adj"/>
            </a:avLst>
          </a:prstGeom>
          <a:solidFill>
            <a:srgbClr val="F3FBF4"/>
          </a:solidFill>
          <a:ln cap="flat" cmpd="sng" w="127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2"/>
          <p:cNvSpPr/>
          <p:nvPr/>
        </p:nvSpPr>
        <p:spPr>
          <a:xfrm>
            <a:off x="7560945" y="1281890"/>
            <a:ext cx="1457325" cy="45730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2"/>
          <p:cNvSpPr/>
          <p:nvPr/>
        </p:nvSpPr>
        <p:spPr>
          <a:xfrm>
            <a:off x="7606665" y="1303666"/>
            <a:ext cx="560070" cy="413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und.png" id="712" name="Google Shape;712;p5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612380" y="1309111"/>
            <a:ext cx="522634" cy="402864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2"/>
          <p:cNvSpPr txBox="1"/>
          <p:nvPr/>
        </p:nvSpPr>
        <p:spPr>
          <a:xfrm>
            <a:off x="8229600" y="1379884"/>
            <a:ext cx="800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Flood Inundation Map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7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(extent)</a:t>
            </a:r>
            <a:endParaRPr b="1"/>
          </a:p>
        </p:txBody>
      </p:sp>
      <p:sp>
        <p:nvSpPr>
          <p:cNvPr id="714" name="Google Shape;714;p52"/>
          <p:cNvSpPr/>
          <p:nvPr/>
        </p:nvSpPr>
        <p:spPr>
          <a:xfrm>
            <a:off x="7560945" y="1771860"/>
            <a:ext cx="1457325" cy="45730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2"/>
          <p:cNvSpPr/>
          <p:nvPr/>
        </p:nvSpPr>
        <p:spPr>
          <a:xfrm>
            <a:off x="7606665" y="1793636"/>
            <a:ext cx="560070" cy="413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pth.png" id="716" name="Google Shape;716;p5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612380" y="1799080"/>
            <a:ext cx="522634" cy="402864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2"/>
          <p:cNvSpPr txBox="1"/>
          <p:nvPr/>
        </p:nvSpPr>
        <p:spPr>
          <a:xfrm>
            <a:off x="8229600" y="1869854"/>
            <a:ext cx="80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Depth Map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70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d(x, t)</a:t>
            </a:r>
            <a:endParaRPr b="1"/>
          </a:p>
        </p:txBody>
      </p:sp>
      <p:sp>
        <p:nvSpPr>
          <p:cNvPr id="718" name="Google Shape;718;p52"/>
          <p:cNvSpPr/>
          <p:nvPr/>
        </p:nvSpPr>
        <p:spPr>
          <a:xfrm>
            <a:off x="7560945" y="2272718"/>
            <a:ext cx="1457325" cy="45730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2"/>
          <p:cNvSpPr/>
          <p:nvPr/>
        </p:nvSpPr>
        <p:spPr>
          <a:xfrm>
            <a:off x="7606665" y="2294494"/>
            <a:ext cx="560070" cy="413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el.png" id="720" name="Google Shape;720;p5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612380" y="2299938"/>
            <a:ext cx="522634" cy="402864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2"/>
          <p:cNvSpPr txBox="1"/>
          <p:nvPr/>
        </p:nvSpPr>
        <p:spPr>
          <a:xfrm>
            <a:off x="8229600" y="2370712"/>
            <a:ext cx="80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Velocity Map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70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v(x, t)</a:t>
            </a:r>
            <a:endParaRPr b="1"/>
          </a:p>
        </p:txBody>
      </p:sp>
      <p:sp>
        <p:nvSpPr>
          <p:cNvPr id="722" name="Google Shape;722;p52"/>
          <p:cNvSpPr/>
          <p:nvPr/>
        </p:nvSpPr>
        <p:spPr>
          <a:xfrm>
            <a:off x="7560945" y="2773576"/>
            <a:ext cx="1457325" cy="45730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2"/>
          <p:cNvSpPr/>
          <p:nvPr/>
        </p:nvSpPr>
        <p:spPr>
          <a:xfrm>
            <a:off x="7612380" y="2806241"/>
            <a:ext cx="548640" cy="3919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4" name="Google Shape;724;p52"/>
          <p:cNvCxnSpPr/>
          <p:nvPr/>
        </p:nvCxnSpPr>
        <p:spPr>
          <a:xfrm rot="10800000">
            <a:off x="7686675" y="2838905"/>
            <a:ext cx="0" cy="30487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25" name="Google Shape;725;p52"/>
          <p:cNvCxnSpPr/>
          <p:nvPr/>
        </p:nvCxnSpPr>
        <p:spPr>
          <a:xfrm>
            <a:off x="7686675" y="3143775"/>
            <a:ext cx="440055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26" name="Google Shape;726;p52"/>
          <p:cNvSpPr/>
          <p:nvPr/>
        </p:nvSpPr>
        <p:spPr>
          <a:xfrm>
            <a:off x="7703820" y="2871570"/>
            <a:ext cx="400050" cy="271680"/>
          </a:xfrm>
          <a:custGeom>
            <a:rect b="b" l="l" r="r" t="t"/>
            <a:pathLst>
              <a:path extrusionOk="0" h="271680" w="400050">
                <a:moveTo>
                  <a:pt x="0" y="271680"/>
                </a:moveTo>
                <a:lnTo>
                  <a:pt x="11430" y="271029"/>
                </a:lnTo>
                <a:lnTo>
                  <a:pt x="22860" y="269716"/>
                </a:lnTo>
                <a:lnTo>
                  <a:pt x="34290" y="267220"/>
                </a:lnTo>
                <a:lnTo>
                  <a:pt x="45720" y="262761"/>
                </a:lnTo>
                <a:lnTo>
                  <a:pt x="57150" y="255280"/>
                </a:lnTo>
                <a:lnTo>
                  <a:pt x="68580" y="243515"/>
                </a:lnTo>
                <a:lnTo>
                  <a:pt x="80010" y="226199"/>
                </a:lnTo>
                <a:lnTo>
                  <a:pt x="91440" y="202418"/>
                </a:lnTo>
                <a:lnTo>
                  <a:pt x="102870" y="172066"/>
                </a:lnTo>
                <a:lnTo>
                  <a:pt x="114300" y="136279"/>
                </a:lnTo>
                <a:lnTo>
                  <a:pt x="125730" y="97672"/>
                </a:lnTo>
                <a:lnTo>
                  <a:pt x="137160" y="60211"/>
                </a:lnTo>
                <a:lnTo>
                  <a:pt x="148590" y="28625"/>
                </a:lnTo>
                <a:lnTo>
                  <a:pt x="160020" y="7457"/>
                </a:lnTo>
                <a:lnTo>
                  <a:pt x="171450" y="0"/>
                </a:lnTo>
                <a:lnTo>
                  <a:pt x="182880" y="3340"/>
                </a:lnTo>
                <a:lnTo>
                  <a:pt x="194310" y="13116"/>
                </a:lnTo>
                <a:lnTo>
                  <a:pt x="205740" y="28625"/>
                </a:lnTo>
                <a:lnTo>
                  <a:pt x="217170" y="48791"/>
                </a:lnTo>
                <a:lnTo>
                  <a:pt x="228600" y="72286"/>
                </a:lnTo>
                <a:lnTo>
                  <a:pt x="240030" y="97672"/>
                </a:lnTo>
                <a:lnTo>
                  <a:pt x="251460" y="123552"/>
                </a:lnTo>
                <a:lnTo>
                  <a:pt x="262890" y="148682"/>
                </a:lnTo>
                <a:lnTo>
                  <a:pt x="274320" y="172066"/>
                </a:lnTo>
                <a:lnTo>
                  <a:pt x="285750" y="193004"/>
                </a:lnTo>
                <a:lnTo>
                  <a:pt x="297180" y="211092"/>
                </a:lnTo>
                <a:lnTo>
                  <a:pt x="308610" y="226199"/>
                </a:lnTo>
                <a:lnTo>
                  <a:pt x="320040" y="238416"/>
                </a:lnTo>
                <a:lnTo>
                  <a:pt x="331470" y="247994"/>
                </a:lnTo>
                <a:lnTo>
                  <a:pt x="342900" y="255280"/>
                </a:lnTo>
                <a:lnTo>
                  <a:pt x="354330" y="260662"/>
                </a:lnTo>
                <a:lnTo>
                  <a:pt x="365760" y="264525"/>
                </a:lnTo>
                <a:lnTo>
                  <a:pt x="377190" y="267220"/>
                </a:lnTo>
                <a:lnTo>
                  <a:pt x="388620" y="269048"/>
                </a:lnTo>
                <a:lnTo>
                  <a:pt x="400050" y="270254"/>
                </a:lnTo>
              </a:path>
            </a:pathLst>
          </a:cu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2"/>
          <p:cNvSpPr txBox="1"/>
          <p:nvPr/>
        </p:nvSpPr>
        <p:spPr>
          <a:xfrm>
            <a:off x="8229600" y="2871570"/>
            <a:ext cx="80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Flood Hydrograph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70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1" i="0" lang="en" sz="67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b="1" i="1" lang="en" sz="670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1"/>
          </a:p>
        </p:txBody>
      </p:sp>
      <p:sp>
        <p:nvSpPr>
          <p:cNvPr id="728" name="Google Shape;728;p52"/>
          <p:cNvSpPr/>
          <p:nvPr/>
        </p:nvSpPr>
        <p:spPr>
          <a:xfrm>
            <a:off x="7560945" y="3268990"/>
            <a:ext cx="1457325" cy="35386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ck.png" id="729" name="Google Shape;729;p5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749784" y="3326153"/>
            <a:ext cx="239540" cy="23954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2"/>
          <p:cNvSpPr txBox="1"/>
          <p:nvPr/>
        </p:nvSpPr>
        <p:spPr>
          <a:xfrm>
            <a:off x="8229600" y="3315265"/>
            <a:ext cx="800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Arrival Time</a:t>
            </a:r>
            <a:endParaRPr b="1" i="0" sz="73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70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" sz="6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arrival</a:t>
            </a:r>
            <a:r>
              <a:rPr b="1" i="0" lang="en" sz="67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67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(key locations)</a:t>
            </a:r>
            <a:endParaRPr b="1"/>
          </a:p>
        </p:txBody>
      </p:sp>
      <p:sp>
        <p:nvSpPr>
          <p:cNvPr id="731" name="Google Shape;731;p52"/>
          <p:cNvSpPr/>
          <p:nvPr/>
        </p:nvSpPr>
        <p:spPr>
          <a:xfrm>
            <a:off x="7560945" y="3666410"/>
            <a:ext cx="1457325" cy="34842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eople.png" id="732" name="Google Shape;732;p5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49784" y="3720851"/>
            <a:ext cx="239540" cy="23954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2"/>
          <p:cNvSpPr txBox="1"/>
          <p:nvPr/>
        </p:nvSpPr>
        <p:spPr>
          <a:xfrm>
            <a:off x="8229600" y="3709963"/>
            <a:ext cx="80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Affected Population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7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(WorldPop / Census)</a:t>
            </a:r>
            <a:endParaRPr b="1"/>
          </a:p>
        </p:txBody>
      </p:sp>
      <p:sp>
        <p:nvSpPr>
          <p:cNvPr id="734" name="Google Shape;734;p52"/>
          <p:cNvSpPr/>
          <p:nvPr/>
        </p:nvSpPr>
        <p:spPr>
          <a:xfrm>
            <a:off x="7560945" y="4047497"/>
            <a:ext cx="1457325" cy="359311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idge.png" id="735" name="Google Shape;735;p5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749784" y="4107383"/>
            <a:ext cx="239540" cy="23954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52"/>
          <p:cNvSpPr txBox="1"/>
          <p:nvPr/>
        </p:nvSpPr>
        <p:spPr>
          <a:xfrm>
            <a:off x="8229600" y="4096500"/>
            <a:ext cx="94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Infrastructure Impact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7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(OSM)</a:t>
            </a:r>
            <a:endParaRPr b="1"/>
          </a:p>
        </p:txBody>
      </p:sp>
      <p:sp>
        <p:nvSpPr>
          <p:cNvPr id="737" name="Google Shape;737;p52"/>
          <p:cNvSpPr/>
          <p:nvPr/>
        </p:nvSpPr>
        <p:spPr>
          <a:xfrm>
            <a:off x="7560945" y="4461250"/>
            <a:ext cx="1457325" cy="48996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.png" id="738" name="Google Shape;738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33452" y="4570132"/>
            <a:ext cx="272205" cy="27220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2"/>
          <p:cNvSpPr txBox="1"/>
          <p:nvPr/>
        </p:nvSpPr>
        <p:spPr>
          <a:xfrm>
            <a:off x="8229600" y="4575575"/>
            <a:ext cx="10116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Reports &amp; GIS Export</a:t>
            </a:r>
            <a:endParaRPr b="1" i="0" sz="73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(GeoTIFF, SHP, KML, PDF)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3"/>
          <p:cNvSpPr/>
          <p:nvPr/>
        </p:nvSpPr>
        <p:spPr>
          <a:xfrm>
            <a:off x="1828" y="2743"/>
            <a:ext cx="9144000" cy="446227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iy_logo.png" id="745" name="Google Shape;74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4" y="7315"/>
            <a:ext cx="435254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3"/>
          <p:cNvSpPr txBox="1"/>
          <p:nvPr/>
        </p:nvSpPr>
        <p:spPr>
          <a:xfrm>
            <a:off x="621792" y="731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</a:t>
            </a:r>
            <a:endParaRPr/>
          </a:p>
        </p:txBody>
      </p:sp>
      <p:sp>
        <p:nvSpPr>
          <p:cNvPr id="747" name="Google Shape;747;p53"/>
          <p:cNvSpPr txBox="1"/>
          <p:nvPr/>
        </p:nvSpPr>
        <p:spPr>
          <a:xfrm>
            <a:off x="2377440" y="457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pic>
        <p:nvPicPr>
          <p:cNvPr descr="sih.png" id="748" name="Google Shape;74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153" y="0"/>
            <a:ext cx="1533448" cy="4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53"/>
          <p:cNvSpPr/>
          <p:nvPr/>
        </p:nvSpPr>
        <p:spPr>
          <a:xfrm>
            <a:off x="43891" y="475488"/>
            <a:ext cx="9038844" cy="292608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3"/>
          <p:cNvSpPr txBox="1"/>
          <p:nvPr/>
        </p:nvSpPr>
        <p:spPr>
          <a:xfrm>
            <a:off x="91440" y="47548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NIYANTA - </a:t>
            </a:r>
            <a:r>
              <a:rPr b="0" i="1" lang="en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Early Warning to Safer India</a:t>
            </a:r>
            <a:r>
              <a:rPr b="0" i="0" lang="en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Protecting People, Infrastructure, Environment and Economy</a:t>
            </a:r>
            <a:endParaRPr/>
          </a:p>
        </p:txBody>
      </p:sp>
      <p:sp>
        <p:nvSpPr>
          <p:cNvPr id="751" name="Google Shape;751;p53"/>
          <p:cNvSpPr/>
          <p:nvPr/>
        </p:nvSpPr>
        <p:spPr>
          <a:xfrm>
            <a:off x="68580" y="833909"/>
            <a:ext cx="2817495" cy="333945"/>
          </a:xfrm>
          <a:prstGeom prst="roundRect">
            <a:avLst>
              <a:gd fmla="val 12000" name="adj"/>
            </a:avLst>
          </a:prstGeom>
          <a:solidFill>
            <a:srgbClr val="1F4E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3"/>
          <p:cNvSpPr/>
          <p:nvPr/>
        </p:nvSpPr>
        <p:spPr>
          <a:xfrm>
            <a:off x="125730" y="861281"/>
            <a:ext cx="251459" cy="273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53" name="Google Shape;753;p53"/>
          <p:cNvSpPr txBox="1"/>
          <p:nvPr/>
        </p:nvSpPr>
        <p:spPr>
          <a:xfrm>
            <a:off x="445770" y="850332"/>
            <a:ext cx="2417445" cy="164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 RESPONSE &amp; PREPAREDNESS</a:t>
            </a:r>
            <a:endParaRPr/>
          </a:p>
        </p:txBody>
      </p:sp>
      <p:sp>
        <p:nvSpPr>
          <p:cNvPr id="754" name="Google Shape;754;p53"/>
          <p:cNvSpPr txBox="1"/>
          <p:nvPr/>
        </p:nvSpPr>
        <p:spPr>
          <a:xfrm>
            <a:off x="445770" y="1009093"/>
            <a:ext cx="2417445" cy="14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Faster, targeted and data-driven action</a:t>
            </a:r>
            <a:endParaRPr/>
          </a:p>
        </p:txBody>
      </p:sp>
      <p:sp>
        <p:nvSpPr>
          <p:cNvPr id="755" name="Google Shape;755;p53"/>
          <p:cNvSpPr/>
          <p:nvPr/>
        </p:nvSpPr>
        <p:spPr>
          <a:xfrm>
            <a:off x="68580" y="1178803"/>
            <a:ext cx="2817495" cy="2890542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3"/>
          <p:cNvSpPr/>
          <p:nvPr/>
        </p:nvSpPr>
        <p:spPr>
          <a:xfrm>
            <a:off x="2943225" y="833909"/>
            <a:ext cx="3640455" cy="333945"/>
          </a:xfrm>
          <a:prstGeom prst="roundRect">
            <a:avLst>
              <a:gd fmla="val 12000" name="adj"/>
            </a:avLst>
          </a:prstGeom>
          <a:solidFill>
            <a:srgbClr val="1E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3"/>
          <p:cNvSpPr/>
          <p:nvPr/>
        </p:nvSpPr>
        <p:spPr>
          <a:xfrm>
            <a:off x="3000375" y="861281"/>
            <a:ext cx="251459" cy="273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E6B3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58" name="Google Shape;758;p53"/>
          <p:cNvSpPr txBox="1"/>
          <p:nvPr/>
        </p:nvSpPr>
        <p:spPr>
          <a:xfrm>
            <a:off x="3320415" y="850332"/>
            <a:ext cx="3240404" cy="164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CAPABILITIES &amp; INTEGRATION</a:t>
            </a:r>
            <a:endParaRPr/>
          </a:p>
        </p:txBody>
      </p:sp>
      <p:sp>
        <p:nvSpPr>
          <p:cNvPr id="759" name="Google Shape;759;p53"/>
          <p:cNvSpPr txBox="1"/>
          <p:nvPr/>
        </p:nvSpPr>
        <p:spPr>
          <a:xfrm>
            <a:off x="3320415" y="1009093"/>
            <a:ext cx="3240404" cy="14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Seamless data flow and automated decision support</a:t>
            </a:r>
            <a:endParaRPr/>
          </a:p>
        </p:txBody>
      </p:sp>
      <p:sp>
        <p:nvSpPr>
          <p:cNvPr id="760" name="Google Shape;760;p53"/>
          <p:cNvSpPr/>
          <p:nvPr/>
        </p:nvSpPr>
        <p:spPr>
          <a:xfrm>
            <a:off x="2943225" y="1178803"/>
            <a:ext cx="3640455" cy="2890542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3"/>
          <p:cNvSpPr/>
          <p:nvPr/>
        </p:nvSpPr>
        <p:spPr>
          <a:xfrm>
            <a:off x="6629400" y="822975"/>
            <a:ext cx="2445900" cy="345000"/>
          </a:xfrm>
          <a:prstGeom prst="roundRect">
            <a:avLst>
              <a:gd fmla="val 12000" name="adj"/>
            </a:avLst>
          </a:prstGeom>
          <a:solidFill>
            <a:srgbClr val="A04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3"/>
          <p:cNvSpPr/>
          <p:nvPr/>
        </p:nvSpPr>
        <p:spPr>
          <a:xfrm>
            <a:off x="6686550" y="861281"/>
            <a:ext cx="251460" cy="273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A0400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63" name="Google Shape;763;p53"/>
          <p:cNvSpPr txBox="1"/>
          <p:nvPr/>
        </p:nvSpPr>
        <p:spPr>
          <a:xfrm>
            <a:off x="7006601" y="850325"/>
            <a:ext cx="22338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&amp; REAL-WORLD CASE STUDIES</a:t>
            </a:r>
            <a:endParaRPr/>
          </a:p>
        </p:txBody>
      </p:sp>
      <p:sp>
        <p:nvSpPr>
          <p:cNvPr id="764" name="Google Shape;764;p53"/>
          <p:cNvSpPr txBox="1"/>
          <p:nvPr/>
        </p:nvSpPr>
        <p:spPr>
          <a:xfrm>
            <a:off x="6995165" y="1025518"/>
            <a:ext cx="20460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Model output matched with actual incidents</a:t>
            </a:r>
            <a:endParaRPr/>
          </a:p>
        </p:txBody>
      </p:sp>
      <p:sp>
        <p:nvSpPr>
          <p:cNvPr id="765" name="Google Shape;765;p53"/>
          <p:cNvSpPr/>
          <p:nvPr/>
        </p:nvSpPr>
        <p:spPr>
          <a:xfrm>
            <a:off x="6629400" y="1178803"/>
            <a:ext cx="2446020" cy="2890542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3"/>
          <p:cNvSpPr/>
          <p:nvPr/>
        </p:nvSpPr>
        <p:spPr>
          <a:xfrm>
            <a:off x="102870" y="1233548"/>
            <a:ext cx="2754630" cy="134673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al_rescue.png" id="767" name="Google Shape;767;p53"/>
          <p:cNvPicPr preferRelativeResize="0"/>
          <p:nvPr/>
        </p:nvPicPr>
        <p:blipFill rotWithShape="1">
          <a:blip r:embed="rId5">
            <a:alphaModFix/>
          </a:blip>
          <a:srcRect b="2422" l="0" r="0" t="2422"/>
          <a:stretch/>
        </p:blipFill>
        <p:spPr>
          <a:xfrm>
            <a:off x="154305" y="1288293"/>
            <a:ext cx="1062990" cy="1160596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3"/>
          <p:cNvSpPr/>
          <p:nvPr/>
        </p:nvSpPr>
        <p:spPr>
          <a:xfrm>
            <a:off x="154305" y="2448890"/>
            <a:ext cx="1062990" cy="93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3"/>
          <p:cNvSpPr txBox="1"/>
          <p:nvPr/>
        </p:nvSpPr>
        <p:spPr>
          <a:xfrm>
            <a:off x="165735" y="2448890"/>
            <a:ext cx="1394460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3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Operation Jal Rahat, Manipur 2025</a:t>
            </a:r>
            <a:endParaRPr/>
          </a:p>
        </p:txBody>
      </p:sp>
      <p:sp>
        <p:nvSpPr>
          <p:cNvPr id="770" name="Google Shape;770;p53"/>
          <p:cNvSpPr/>
          <p:nvPr/>
        </p:nvSpPr>
        <p:spPr>
          <a:xfrm>
            <a:off x="1325880" y="1310191"/>
            <a:ext cx="331470" cy="295623"/>
          </a:xfrm>
          <a:prstGeom prst="ellipse">
            <a:avLst/>
          </a:prstGeom>
          <a:solidFill>
            <a:srgbClr val="E3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iren.png" id="771" name="Google Shape;771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1031" y="1357419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3"/>
          <p:cNvSpPr txBox="1"/>
          <p:nvPr/>
        </p:nvSpPr>
        <p:spPr>
          <a:xfrm>
            <a:off x="1725930" y="1299242"/>
            <a:ext cx="1120139" cy="317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Better Response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Preparedness</a:t>
            </a:r>
            <a:endParaRPr/>
          </a:p>
        </p:txBody>
      </p:sp>
      <p:sp>
        <p:nvSpPr>
          <p:cNvPr id="773" name="Google Shape;773;p53"/>
          <p:cNvSpPr txBox="1"/>
          <p:nvPr/>
        </p:nvSpPr>
        <p:spPr>
          <a:xfrm>
            <a:off x="1303020" y="1638662"/>
            <a:ext cx="1537335" cy="9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High-accuracy real-time data for disaster response organizations (like NDRF teams)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Faster and more targeted deployment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Reduces loss of life and injuries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Improved evacuation planning</a:t>
            </a:r>
            <a:endParaRPr/>
          </a:p>
        </p:txBody>
      </p:sp>
      <p:sp>
        <p:nvSpPr>
          <p:cNvPr id="774" name="Google Shape;774;p53"/>
          <p:cNvSpPr/>
          <p:nvPr/>
        </p:nvSpPr>
        <p:spPr>
          <a:xfrm>
            <a:off x="102870" y="2629549"/>
            <a:ext cx="2754630" cy="139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al_evac.png" id="775" name="Google Shape;775;p53"/>
          <p:cNvPicPr preferRelativeResize="0"/>
          <p:nvPr/>
        </p:nvPicPr>
        <p:blipFill rotWithShape="1">
          <a:blip r:embed="rId8">
            <a:alphaModFix/>
          </a:blip>
          <a:srcRect b="402" l="0" r="0" t="402"/>
          <a:stretch/>
        </p:blipFill>
        <p:spPr>
          <a:xfrm>
            <a:off x="154305" y="2684294"/>
            <a:ext cx="1062990" cy="1209867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53"/>
          <p:cNvSpPr/>
          <p:nvPr/>
        </p:nvSpPr>
        <p:spPr>
          <a:xfrm>
            <a:off x="154305" y="3894161"/>
            <a:ext cx="1062990" cy="93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3"/>
          <p:cNvSpPr txBox="1"/>
          <p:nvPr/>
        </p:nvSpPr>
        <p:spPr>
          <a:xfrm>
            <a:off x="165735" y="3894161"/>
            <a:ext cx="1394460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3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Army &amp; IAF evacuation, Manipur 2025</a:t>
            </a:r>
            <a:endParaRPr/>
          </a:p>
        </p:txBody>
      </p:sp>
      <p:sp>
        <p:nvSpPr>
          <p:cNvPr id="778" name="Google Shape;778;p53"/>
          <p:cNvSpPr/>
          <p:nvPr/>
        </p:nvSpPr>
        <p:spPr>
          <a:xfrm>
            <a:off x="1325880" y="2706192"/>
            <a:ext cx="331470" cy="295623"/>
          </a:xfrm>
          <a:prstGeom prst="ellipse">
            <a:avLst/>
          </a:prstGeom>
          <a:solidFill>
            <a:srgbClr val="E3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.png" id="779" name="Google Shape;779;p5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91031" y="27534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3"/>
          <p:cNvSpPr txBox="1"/>
          <p:nvPr/>
        </p:nvSpPr>
        <p:spPr>
          <a:xfrm>
            <a:off x="1725930" y="2695243"/>
            <a:ext cx="1120139" cy="317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Disaster &amp; Defense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/>
          </a:p>
        </p:txBody>
      </p:sp>
      <p:sp>
        <p:nvSpPr>
          <p:cNvPr id="781" name="Google Shape;781;p53"/>
          <p:cNvSpPr txBox="1"/>
          <p:nvPr/>
        </p:nvSpPr>
        <p:spPr>
          <a:xfrm>
            <a:off x="1303020" y="3034663"/>
            <a:ext cx="1537335" cy="9580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Proactive threat planning and impact area prediction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Helps in decision making before critical events or attacks occur (e.g., casualty and flooding estimations in the Bihar case)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Supports strategic infrastructure planning (dams, rivers, border regions)</a:t>
            </a:r>
            <a:endParaRPr/>
          </a:p>
        </p:txBody>
      </p:sp>
      <p:sp>
        <p:nvSpPr>
          <p:cNvPr id="782" name="Google Shape;782;p53"/>
          <p:cNvSpPr/>
          <p:nvPr/>
        </p:nvSpPr>
        <p:spPr>
          <a:xfrm>
            <a:off x="2983230" y="1304717"/>
            <a:ext cx="994409" cy="4105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C8D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p2.png" id="783" name="Google Shape;783;p53"/>
          <p:cNvPicPr preferRelativeResize="0"/>
          <p:nvPr/>
        </p:nvPicPr>
        <p:blipFill rotWithShape="1">
          <a:blip r:embed="rId11">
            <a:alphaModFix/>
          </a:blip>
          <a:srcRect b="12481" l="0" r="0" t="12481"/>
          <a:stretch/>
        </p:blipFill>
        <p:spPr>
          <a:xfrm>
            <a:off x="3017520" y="1343038"/>
            <a:ext cx="342900" cy="33394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53"/>
          <p:cNvSpPr txBox="1"/>
          <p:nvPr/>
        </p:nvSpPr>
        <p:spPr>
          <a:xfrm>
            <a:off x="3383280" y="1326615"/>
            <a:ext cx="588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4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Satellite Data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(Sentinel-2 via GEE)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85" name="Google Shape;785;p53"/>
          <p:cNvCxnSpPr/>
          <p:nvPr/>
        </p:nvCxnSpPr>
        <p:spPr>
          <a:xfrm>
            <a:off x="3977639" y="1510011"/>
            <a:ext cx="91441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6" name="Google Shape;786;p53"/>
          <p:cNvCxnSpPr/>
          <p:nvPr/>
        </p:nvCxnSpPr>
        <p:spPr>
          <a:xfrm>
            <a:off x="4069080" y="1510011"/>
            <a:ext cx="0" cy="763694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7" name="Google Shape;787;p53"/>
          <p:cNvSpPr/>
          <p:nvPr/>
        </p:nvSpPr>
        <p:spPr>
          <a:xfrm>
            <a:off x="2983230" y="1786474"/>
            <a:ext cx="994409" cy="40511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C8D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teo.png" id="788" name="Google Shape;788;p5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17520" y="1869016"/>
            <a:ext cx="342900" cy="2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3"/>
          <p:cNvSpPr txBox="1"/>
          <p:nvPr/>
        </p:nvSpPr>
        <p:spPr>
          <a:xfrm>
            <a:off x="3383280" y="1808372"/>
            <a:ext cx="588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4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Weather &amp;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4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Climate APIs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" sz="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Open-Meteo)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90" name="Google Shape;790;p53"/>
          <p:cNvCxnSpPr/>
          <p:nvPr/>
        </p:nvCxnSpPr>
        <p:spPr>
          <a:xfrm>
            <a:off x="3977639" y="1989031"/>
            <a:ext cx="91441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1" name="Google Shape;791;p53"/>
          <p:cNvCxnSpPr/>
          <p:nvPr/>
        </p:nvCxnSpPr>
        <p:spPr>
          <a:xfrm>
            <a:off x="4069080" y="1989031"/>
            <a:ext cx="0" cy="284674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92" name="Google Shape;792;p53"/>
          <p:cNvSpPr/>
          <p:nvPr/>
        </p:nvSpPr>
        <p:spPr>
          <a:xfrm>
            <a:off x="2983230" y="2251807"/>
            <a:ext cx="994409" cy="39963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C8D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chhu.png" id="793" name="Google Shape;793;p53"/>
          <p:cNvPicPr preferRelativeResize="0"/>
          <p:nvPr/>
        </p:nvPicPr>
        <p:blipFill rotWithShape="1">
          <a:blip r:embed="rId16">
            <a:alphaModFix/>
          </a:blip>
          <a:srcRect b="0" l="21047" r="21047" t="0"/>
          <a:stretch/>
        </p:blipFill>
        <p:spPr>
          <a:xfrm>
            <a:off x="3017520" y="2290129"/>
            <a:ext cx="342900" cy="322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53"/>
          <p:cNvSpPr txBox="1"/>
          <p:nvPr/>
        </p:nvSpPr>
        <p:spPr>
          <a:xfrm>
            <a:off x="3383280" y="2273705"/>
            <a:ext cx="588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4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Historical Data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(Machhu Dam II, 1979)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95" name="Google Shape;795;p53"/>
          <p:cNvCxnSpPr/>
          <p:nvPr/>
        </p:nvCxnSpPr>
        <p:spPr>
          <a:xfrm>
            <a:off x="3977639" y="2451627"/>
            <a:ext cx="91441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6" name="Google Shape;796;p53"/>
          <p:cNvCxnSpPr/>
          <p:nvPr/>
        </p:nvCxnSpPr>
        <p:spPr>
          <a:xfrm rot="10800000">
            <a:off x="4069080" y="2273705"/>
            <a:ext cx="0" cy="177922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97" name="Google Shape;797;p53"/>
          <p:cNvSpPr/>
          <p:nvPr/>
        </p:nvSpPr>
        <p:spPr>
          <a:xfrm>
            <a:off x="2983230" y="2711666"/>
            <a:ext cx="994409" cy="38869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C8D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ishi.png" id="798" name="Google Shape;798;p53"/>
          <p:cNvPicPr preferRelativeResize="0"/>
          <p:nvPr/>
        </p:nvPicPr>
        <p:blipFill rotWithShape="1">
          <a:blip r:embed="rId18">
            <a:alphaModFix/>
          </a:blip>
          <a:srcRect b="0" l="15080" r="15080" t="0"/>
          <a:stretch/>
        </p:blipFill>
        <p:spPr>
          <a:xfrm>
            <a:off x="3017520" y="2749988"/>
            <a:ext cx="342900" cy="312047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53"/>
          <p:cNvSpPr txBox="1"/>
          <p:nvPr/>
        </p:nvSpPr>
        <p:spPr>
          <a:xfrm>
            <a:off x="3383280" y="2733564"/>
            <a:ext cx="588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4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Offline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4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/>
              </a:rPr>
              <a:t>Repository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(pre/post event imagery)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800" name="Google Shape;800;p53"/>
          <p:cNvCxnSpPr/>
          <p:nvPr/>
        </p:nvCxnSpPr>
        <p:spPr>
          <a:xfrm>
            <a:off x="3977639" y="2906012"/>
            <a:ext cx="91441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1" name="Google Shape;801;p53"/>
          <p:cNvCxnSpPr/>
          <p:nvPr/>
        </p:nvCxnSpPr>
        <p:spPr>
          <a:xfrm rot="10800000">
            <a:off x="4069080" y="2273705"/>
            <a:ext cx="0" cy="632307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2" name="Google Shape;802;p53"/>
          <p:cNvCxnSpPr/>
          <p:nvPr/>
        </p:nvCxnSpPr>
        <p:spPr>
          <a:xfrm>
            <a:off x="4069080" y="1507274"/>
            <a:ext cx="0" cy="1423373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3" name="Google Shape;803;p53"/>
          <p:cNvCxnSpPr/>
          <p:nvPr/>
        </p:nvCxnSpPr>
        <p:spPr>
          <a:xfrm>
            <a:off x="4069080" y="2273705"/>
            <a:ext cx="9715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04" name="Google Shape;804;p53"/>
          <p:cNvSpPr/>
          <p:nvPr/>
        </p:nvSpPr>
        <p:spPr>
          <a:xfrm>
            <a:off x="4211955" y="1332089"/>
            <a:ext cx="1131569" cy="427011"/>
          </a:xfrm>
          <a:prstGeom prst="roundRect">
            <a:avLst>
              <a:gd fmla="val 10000" name="adj"/>
            </a:avLst>
          </a:prstGeom>
          <a:solidFill>
            <a:srgbClr val="E3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3"/>
          <p:cNvSpPr txBox="1"/>
          <p:nvPr/>
        </p:nvSpPr>
        <p:spPr>
          <a:xfrm>
            <a:off x="4211955" y="1353987"/>
            <a:ext cx="1131569" cy="394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NIYANTA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AI Platform</a:t>
            </a:r>
            <a:endParaRPr/>
          </a:p>
        </p:txBody>
      </p:sp>
      <p:sp>
        <p:nvSpPr>
          <p:cNvPr id="806" name="Google Shape;806;p53"/>
          <p:cNvSpPr/>
          <p:nvPr/>
        </p:nvSpPr>
        <p:spPr>
          <a:xfrm>
            <a:off x="4171950" y="1770050"/>
            <a:ext cx="1211580" cy="952565"/>
          </a:xfrm>
          <a:prstGeom prst="roundRect">
            <a:avLst>
              <a:gd fmla="val 5000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3"/>
          <p:cNvSpPr/>
          <p:nvPr/>
        </p:nvSpPr>
        <p:spPr>
          <a:xfrm>
            <a:off x="4217670" y="1808372"/>
            <a:ext cx="1120140" cy="85949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.png" id="808" name="Google Shape;808;p53"/>
          <p:cNvPicPr preferRelativeResize="0"/>
          <p:nvPr/>
        </p:nvPicPr>
        <p:blipFill rotWithShape="1">
          <a:blip r:embed="rId21">
            <a:alphaModFix/>
          </a:blip>
          <a:srcRect b="1789" l="0" r="0" t="1789"/>
          <a:stretch/>
        </p:blipFill>
        <p:spPr>
          <a:xfrm>
            <a:off x="4229100" y="1819321"/>
            <a:ext cx="1097280" cy="8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3"/>
          <p:cNvSpPr/>
          <p:nvPr/>
        </p:nvSpPr>
        <p:spPr>
          <a:xfrm>
            <a:off x="4686300" y="2722615"/>
            <a:ext cx="182880" cy="8759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3"/>
          <p:cNvSpPr/>
          <p:nvPr/>
        </p:nvSpPr>
        <p:spPr>
          <a:xfrm>
            <a:off x="4514850" y="2810208"/>
            <a:ext cx="525780" cy="54745"/>
          </a:xfrm>
          <a:prstGeom prst="roundRect">
            <a:avLst>
              <a:gd fmla="val 30000" name="adj"/>
            </a:avLst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53"/>
          <p:cNvCxnSpPr/>
          <p:nvPr/>
        </p:nvCxnSpPr>
        <p:spPr>
          <a:xfrm>
            <a:off x="4777740" y="2875902"/>
            <a:ext cx="0" cy="208031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12" name="Google Shape;812;p53"/>
          <p:cNvCxnSpPr/>
          <p:nvPr/>
        </p:nvCxnSpPr>
        <p:spPr>
          <a:xfrm>
            <a:off x="4246245" y="3100357"/>
            <a:ext cx="102298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13" name="Google Shape;813;p53"/>
          <p:cNvCxnSpPr/>
          <p:nvPr/>
        </p:nvCxnSpPr>
        <p:spPr>
          <a:xfrm>
            <a:off x="4246245" y="3100357"/>
            <a:ext cx="0" cy="147812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14" name="Google Shape;814;p53"/>
          <p:cNvCxnSpPr/>
          <p:nvPr/>
        </p:nvCxnSpPr>
        <p:spPr>
          <a:xfrm>
            <a:off x="5269230" y="3100357"/>
            <a:ext cx="0" cy="147812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5" name="Google Shape;815;p53"/>
          <p:cNvSpPr/>
          <p:nvPr/>
        </p:nvSpPr>
        <p:spPr>
          <a:xfrm>
            <a:off x="5554980" y="1233548"/>
            <a:ext cx="1005839" cy="1998197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8D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3"/>
          <p:cNvSpPr txBox="1"/>
          <p:nvPr/>
        </p:nvSpPr>
        <p:spPr>
          <a:xfrm>
            <a:off x="5572125" y="1255446"/>
            <a:ext cx="977264" cy="251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1-Click Data Sharing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Across Departments</a:t>
            </a:r>
            <a:endParaRPr/>
          </a:p>
        </p:txBody>
      </p:sp>
      <p:sp>
        <p:nvSpPr>
          <p:cNvPr id="817" name="Google Shape;817;p53"/>
          <p:cNvSpPr/>
          <p:nvPr/>
        </p:nvSpPr>
        <p:spPr>
          <a:xfrm>
            <a:off x="5589270" y="1540121"/>
            <a:ext cx="942975" cy="257302"/>
          </a:xfrm>
          <a:prstGeom prst="roundRect">
            <a:avLst>
              <a:gd fmla="val 10000" name="adj"/>
            </a:avLst>
          </a:prstGeom>
          <a:solidFill>
            <a:srgbClr val="F5F8FC"/>
          </a:solidFill>
          <a:ln cap="flat" cmpd="sng" w="9525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drf.png" id="818" name="Google Shape;818;p5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662422" y="1581904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53"/>
          <p:cNvSpPr txBox="1"/>
          <p:nvPr/>
        </p:nvSpPr>
        <p:spPr>
          <a:xfrm>
            <a:off x="5897880" y="1540121"/>
            <a:ext cx="634364" cy="25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NDRF</a:t>
            </a:r>
            <a:endParaRPr/>
          </a:p>
        </p:txBody>
      </p:sp>
      <p:cxnSp>
        <p:nvCxnSpPr>
          <p:cNvPr id="820" name="Google Shape;820;p53"/>
          <p:cNvCxnSpPr/>
          <p:nvPr/>
        </p:nvCxnSpPr>
        <p:spPr>
          <a:xfrm>
            <a:off x="5440680" y="1668772"/>
            <a:ext cx="13144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1" name="Google Shape;821;p53"/>
          <p:cNvSpPr/>
          <p:nvPr/>
        </p:nvSpPr>
        <p:spPr>
          <a:xfrm>
            <a:off x="5589270" y="1822058"/>
            <a:ext cx="942975" cy="257302"/>
          </a:xfrm>
          <a:prstGeom prst="roundRect">
            <a:avLst>
              <a:gd fmla="val 10000" name="adj"/>
            </a:avLst>
          </a:prstGeom>
          <a:solidFill>
            <a:srgbClr val="F5F8FC"/>
          </a:solidFill>
          <a:ln cap="flat" cmpd="sng" w="9525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al.png" id="822" name="Google Shape;822;p5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662422" y="1863841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53"/>
          <p:cNvSpPr txBox="1"/>
          <p:nvPr/>
        </p:nvSpPr>
        <p:spPr>
          <a:xfrm>
            <a:off x="5897880" y="1822058"/>
            <a:ext cx="634364" cy="25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Ministry of Jal Shakti</a:t>
            </a:r>
            <a:endParaRPr/>
          </a:p>
        </p:txBody>
      </p:sp>
      <p:cxnSp>
        <p:nvCxnSpPr>
          <p:cNvPr id="824" name="Google Shape;824;p53"/>
          <p:cNvCxnSpPr/>
          <p:nvPr/>
        </p:nvCxnSpPr>
        <p:spPr>
          <a:xfrm>
            <a:off x="5440680" y="1950709"/>
            <a:ext cx="13144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5" name="Google Shape;825;p53"/>
          <p:cNvSpPr/>
          <p:nvPr/>
        </p:nvSpPr>
        <p:spPr>
          <a:xfrm>
            <a:off x="5589270" y="2103995"/>
            <a:ext cx="942975" cy="257302"/>
          </a:xfrm>
          <a:prstGeom prst="roundRect">
            <a:avLst>
              <a:gd fmla="val 10000" name="adj"/>
            </a:avLst>
          </a:prstGeom>
          <a:solidFill>
            <a:srgbClr val="F5F8FC"/>
          </a:solidFill>
          <a:ln cap="flat" cmpd="sng" w="9525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f.png" id="826" name="Google Shape;826;p5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662422" y="2145779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53"/>
          <p:cNvSpPr txBox="1"/>
          <p:nvPr/>
        </p:nvSpPr>
        <p:spPr>
          <a:xfrm>
            <a:off x="5897880" y="2103995"/>
            <a:ext cx="634364" cy="25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Ministry of Defence</a:t>
            </a:r>
            <a:endParaRPr/>
          </a:p>
        </p:txBody>
      </p:sp>
      <p:cxnSp>
        <p:nvCxnSpPr>
          <p:cNvPr id="828" name="Google Shape;828;p53"/>
          <p:cNvCxnSpPr/>
          <p:nvPr/>
        </p:nvCxnSpPr>
        <p:spPr>
          <a:xfrm>
            <a:off x="5440680" y="2232647"/>
            <a:ext cx="13144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9" name="Google Shape;829;p53"/>
          <p:cNvSpPr/>
          <p:nvPr/>
        </p:nvSpPr>
        <p:spPr>
          <a:xfrm>
            <a:off x="5589270" y="2385933"/>
            <a:ext cx="942975" cy="257302"/>
          </a:xfrm>
          <a:prstGeom prst="roundRect">
            <a:avLst>
              <a:gd fmla="val 10000" name="adj"/>
            </a:avLst>
          </a:prstGeom>
          <a:solidFill>
            <a:srgbClr val="F5F8FC"/>
          </a:solidFill>
          <a:ln cap="flat" cmpd="sng" w="9525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ate.png" id="830" name="Google Shape;830;p5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62422" y="2427716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3"/>
          <p:cNvSpPr txBox="1"/>
          <p:nvPr/>
        </p:nvSpPr>
        <p:spPr>
          <a:xfrm>
            <a:off x="5897880" y="2385933"/>
            <a:ext cx="634364" cy="25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State Governments</a:t>
            </a:r>
            <a:endParaRPr/>
          </a:p>
        </p:txBody>
      </p:sp>
      <p:cxnSp>
        <p:nvCxnSpPr>
          <p:cNvPr id="832" name="Google Shape;832;p53"/>
          <p:cNvCxnSpPr/>
          <p:nvPr/>
        </p:nvCxnSpPr>
        <p:spPr>
          <a:xfrm>
            <a:off x="5440680" y="2514584"/>
            <a:ext cx="13144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33" name="Google Shape;833;p53"/>
          <p:cNvSpPr/>
          <p:nvPr/>
        </p:nvSpPr>
        <p:spPr>
          <a:xfrm>
            <a:off x="5589270" y="2667870"/>
            <a:ext cx="942975" cy="257302"/>
          </a:xfrm>
          <a:prstGeom prst="roundRect">
            <a:avLst>
              <a:gd fmla="val 10000" name="adj"/>
            </a:avLst>
          </a:prstGeom>
          <a:solidFill>
            <a:srgbClr val="F5F8FC"/>
          </a:solidFill>
          <a:ln cap="flat" cmpd="sng" w="9525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dma.png" id="834" name="Google Shape;834;p5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662422" y="2709653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3"/>
          <p:cNvSpPr txBox="1"/>
          <p:nvPr/>
        </p:nvSpPr>
        <p:spPr>
          <a:xfrm>
            <a:off x="5897880" y="2667870"/>
            <a:ext cx="634364" cy="25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Disaster Management Authorities</a:t>
            </a:r>
            <a:endParaRPr/>
          </a:p>
        </p:txBody>
      </p:sp>
      <p:cxnSp>
        <p:nvCxnSpPr>
          <p:cNvPr id="836" name="Google Shape;836;p53"/>
          <p:cNvCxnSpPr/>
          <p:nvPr/>
        </p:nvCxnSpPr>
        <p:spPr>
          <a:xfrm>
            <a:off x="5440680" y="2796521"/>
            <a:ext cx="13144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37" name="Google Shape;837;p53"/>
          <p:cNvSpPr/>
          <p:nvPr/>
        </p:nvSpPr>
        <p:spPr>
          <a:xfrm>
            <a:off x="5589270" y="2949808"/>
            <a:ext cx="942975" cy="257302"/>
          </a:xfrm>
          <a:prstGeom prst="roundRect">
            <a:avLst>
              <a:gd fmla="val 10000" name="adj"/>
            </a:avLst>
          </a:prstGeom>
          <a:solidFill>
            <a:srgbClr val="F5F8FC"/>
          </a:solidFill>
          <a:ln cap="flat" cmpd="sng" w="9525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.png" id="838" name="Google Shape;838;p5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662422" y="2991591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53"/>
          <p:cNvSpPr txBox="1"/>
          <p:nvPr/>
        </p:nvSpPr>
        <p:spPr>
          <a:xfrm>
            <a:off x="5897880" y="2949808"/>
            <a:ext cx="634364" cy="25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Research &amp; Academic Institutions</a:t>
            </a:r>
            <a:endParaRPr/>
          </a:p>
        </p:txBody>
      </p:sp>
      <p:cxnSp>
        <p:nvCxnSpPr>
          <p:cNvPr id="840" name="Google Shape;840;p53"/>
          <p:cNvCxnSpPr/>
          <p:nvPr/>
        </p:nvCxnSpPr>
        <p:spPr>
          <a:xfrm>
            <a:off x="5440680" y="3078459"/>
            <a:ext cx="131445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41" name="Google Shape;841;p53"/>
          <p:cNvCxnSpPr/>
          <p:nvPr/>
        </p:nvCxnSpPr>
        <p:spPr>
          <a:xfrm>
            <a:off x="5383530" y="2246333"/>
            <a:ext cx="57150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42" name="Google Shape;842;p53"/>
          <p:cNvCxnSpPr/>
          <p:nvPr/>
        </p:nvCxnSpPr>
        <p:spPr>
          <a:xfrm>
            <a:off x="5440680" y="1666034"/>
            <a:ext cx="0" cy="1412425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43" name="Google Shape;843;p53"/>
          <p:cNvSpPr/>
          <p:nvPr/>
        </p:nvSpPr>
        <p:spPr>
          <a:xfrm>
            <a:off x="2983230" y="3286490"/>
            <a:ext cx="3571875" cy="750008"/>
          </a:xfrm>
          <a:prstGeom prst="roundRect">
            <a:avLst>
              <a:gd fmla="val 6000" name="adj"/>
            </a:avLst>
          </a:prstGeom>
          <a:solidFill>
            <a:srgbClr val="F3F6FB"/>
          </a:solidFill>
          <a:ln cap="flat" cmpd="sng" w="9525">
            <a:solidFill>
              <a:srgbClr val="C8D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port.png" id="844" name="Google Shape;844;p5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988945" y="346137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53"/>
          <p:cNvSpPr txBox="1"/>
          <p:nvPr/>
        </p:nvSpPr>
        <p:spPr>
          <a:xfrm>
            <a:off x="3040380" y="3740875"/>
            <a:ext cx="194309" cy="27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3"/>
          <p:cNvSpPr txBox="1"/>
          <p:nvPr/>
        </p:nvSpPr>
        <p:spPr>
          <a:xfrm>
            <a:off x="3257550" y="3308388"/>
            <a:ext cx="1143000" cy="12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0" u="none" cap="none" strike="noStrike">
                <a:solidFill>
                  <a:srgbClr val="3949AB"/>
                </a:solidFill>
                <a:latin typeface="Calibri"/>
                <a:ea typeface="Calibri"/>
                <a:cs typeface="Calibri"/>
                <a:sym typeface="Calibri"/>
              </a:rPr>
              <a:t>Automated Report Module</a:t>
            </a:r>
            <a:endParaRPr/>
          </a:p>
        </p:txBody>
      </p:sp>
      <p:sp>
        <p:nvSpPr>
          <p:cNvPr id="847" name="Google Shape;847;p53"/>
          <p:cNvSpPr txBox="1"/>
          <p:nvPr/>
        </p:nvSpPr>
        <p:spPr>
          <a:xfrm>
            <a:off x="3280410" y="3445251"/>
            <a:ext cx="1120140" cy="58029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20"/>
              <a:buFont typeface="Arial"/>
              <a:buChar char="•"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Impact &amp; summary reports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  <a:buClr>
                <a:srgbClr val="1F1F1F"/>
              </a:buClr>
              <a:buSzPts val="620"/>
              <a:buFont typeface="Arial"/>
              <a:buChar char="•"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Flood extent, depth, arrival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  <a:buClr>
                <a:srgbClr val="1F1F1F"/>
              </a:buClr>
              <a:buSzPts val="620"/>
              <a:buFont typeface="Arial"/>
              <a:buChar char="•"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Casualty &amp; exposure estimates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  <a:buClr>
                <a:srgbClr val="1F1F1F"/>
              </a:buClr>
              <a:buSzPts val="620"/>
              <a:buFont typeface="Arial"/>
              <a:buChar char="•"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PDF · CSV · GIS (SHP/KML)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4411980" y="3313863"/>
            <a:ext cx="1045844" cy="7007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4411980" y="3313863"/>
            <a:ext cx="1045844" cy="87592"/>
          </a:xfrm>
          <a:prstGeom prst="rect">
            <a:avLst/>
          </a:prstGeom>
          <a:solidFill>
            <a:srgbClr val="1B3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3"/>
          <p:cNvSpPr txBox="1"/>
          <p:nvPr/>
        </p:nvSpPr>
        <p:spPr>
          <a:xfrm>
            <a:off x="4429125" y="3313863"/>
            <a:ext cx="1017269" cy="8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Flood Impact Report – Tehri Dam</a:t>
            </a:r>
            <a:endParaRPr/>
          </a:p>
        </p:txBody>
      </p:sp>
      <p:sp>
        <p:nvSpPr>
          <p:cNvPr id="851" name="Google Shape;851;p53"/>
          <p:cNvSpPr/>
          <p:nvPr/>
        </p:nvSpPr>
        <p:spPr>
          <a:xfrm>
            <a:off x="4434840" y="3423353"/>
            <a:ext cx="488632" cy="169709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3"/>
          <p:cNvSpPr txBox="1"/>
          <p:nvPr/>
        </p:nvSpPr>
        <p:spPr>
          <a:xfrm>
            <a:off x="4434840" y="3428828"/>
            <a:ext cx="488632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6.59 L m³/s</a:t>
            </a:r>
            <a:endParaRPr/>
          </a:p>
        </p:txBody>
      </p:sp>
      <p:sp>
        <p:nvSpPr>
          <p:cNvPr id="853" name="Google Shape;853;p53"/>
          <p:cNvSpPr txBox="1"/>
          <p:nvPr/>
        </p:nvSpPr>
        <p:spPr>
          <a:xfrm>
            <a:off x="4434840" y="3516420"/>
            <a:ext cx="488632" cy="7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Peak breach flow</a:t>
            </a:r>
            <a:endParaRPr/>
          </a:p>
        </p:txBody>
      </p:sp>
      <p:sp>
        <p:nvSpPr>
          <p:cNvPr id="854" name="Google Shape;854;p53"/>
          <p:cNvSpPr/>
          <p:nvPr/>
        </p:nvSpPr>
        <p:spPr>
          <a:xfrm>
            <a:off x="4946332" y="3423353"/>
            <a:ext cx="488632" cy="169709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53"/>
          <p:cNvSpPr txBox="1"/>
          <p:nvPr/>
        </p:nvSpPr>
        <p:spPr>
          <a:xfrm>
            <a:off x="4946332" y="3428828"/>
            <a:ext cx="488632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~1 h</a:t>
            </a:r>
            <a:endParaRPr/>
          </a:p>
        </p:txBody>
      </p:sp>
      <p:sp>
        <p:nvSpPr>
          <p:cNvPr id="856" name="Google Shape;856;p53"/>
          <p:cNvSpPr txBox="1"/>
          <p:nvPr/>
        </p:nvSpPr>
        <p:spPr>
          <a:xfrm>
            <a:off x="4946332" y="3516420"/>
            <a:ext cx="488632" cy="7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First arrival</a:t>
            </a:r>
            <a:endParaRPr/>
          </a:p>
        </p:txBody>
      </p:sp>
      <p:sp>
        <p:nvSpPr>
          <p:cNvPr id="857" name="Google Shape;857;p53"/>
          <p:cNvSpPr/>
          <p:nvPr/>
        </p:nvSpPr>
        <p:spPr>
          <a:xfrm>
            <a:off x="4434840" y="3609487"/>
            <a:ext cx="488632" cy="169709"/>
          </a:xfrm>
          <a:prstGeom prst="rect">
            <a:avLst/>
          </a:prstGeom>
          <a:solidFill>
            <a:srgbClr val="FCE4EC"/>
          </a:solidFill>
          <a:ln cap="flat" cmpd="sng" w="952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3"/>
          <p:cNvSpPr txBox="1"/>
          <p:nvPr/>
        </p:nvSpPr>
        <p:spPr>
          <a:xfrm>
            <a:off x="4434840" y="3614961"/>
            <a:ext cx="488632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~2.66 L</a:t>
            </a:r>
            <a:endParaRPr/>
          </a:p>
        </p:txBody>
      </p:sp>
      <p:sp>
        <p:nvSpPr>
          <p:cNvPr id="859" name="Google Shape;859;p53"/>
          <p:cNvSpPr txBox="1"/>
          <p:nvPr/>
        </p:nvSpPr>
        <p:spPr>
          <a:xfrm>
            <a:off x="4434840" y="3702553"/>
            <a:ext cx="488632" cy="7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People exposed</a:t>
            </a:r>
            <a:endParaRPr/>
          </a:p>
        </p:txBody>
      </p:sp>
      <p:sp>
        <p:nvSpPr>
          <p:cNvPr id="860" name="Google Shape;860;p53"/>
          <p:cNvSpPr/>
          <p:nvPr/>
        </p:nvSpPr>
        <p:spPr>
          <a:xfrm>
            <a:off x="4946332" y="3609487"/>
            <a:ext cx="488632" cy="16970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3"/>
          <p:cNvSpPr txBox="1"/>
          <p:nvPr/>
        </p:nvSpPr>
        <p:spPr>
          <a:xfrm>
            <a:off x="4946332" y="3614961"/>
            <a:ext cx="488632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126</a:t>
            </a:r>
            <a:endParaRPr/>
          </a:p>
        </p:txBody>
      </p:sp>
      <p:sp>
        <p:nvSpPr>
          <p:cNvPr id="862" name="Google Shape;862;p53"/>
          <p:cNvSpPr txBox="1"/>
          <p:nvPr/>
        </p:nvSpPr>
        <p:spPr>
          <a:xfrm>
            <a:off x="4946332" y="3702553"/>
            <a:ext cx="488632" cy="7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Critical assets</a:t>
            </a:r>
            <a:endParaRPr/>
          </a:p>
        </p:txBody>
      </p:sp>
      <p:sp>
        <p:nvSpPr>
          <p:cNvPr id="863" name="Google Shape;863;p53"/>
          <p:cNvSpPr txBox="1"/>
          <p:nvPr/>
        </p:nvSpPr>
        <p:spPr>
          <a:xfrm>
            <a:off x="4434850" y="3806575"/>
            <a:ext cx="1051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 overtopping • Solver: ANUGA 2D</a:t>
            </a:r>
            <a:endParaRPr b="0" i="0" sz="4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4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NIYANTA research paper (2026)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4" name="Google Shape;864;p53"/>
          <p:cNvSpPr/>
          <p:nvPr/>
        </p:nvSpPr>
        <p:spPr>
          <a:xfrm>
            <a:off x="5486400" y="3313863"/>
            <a:ext cx="1045844" cy="7007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5486400" y="3313863"/>
            <a:ext cx="1045844" cy="87592"/>
          </a:xfrm>
          <a:prstGeom prst="rect">
            <a:avLst/>
          </a:prstGeom>
          <a:solidFill>
            <a:srgbClr val="1B3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3"/>
          <p:cNvSpPr txBox="1"/>
          <p:nvPr/>
        </p:nvSpPr>
        <p:spPr>
          <a:xfrm>
            <a:off x="5503545" y="3313863"/>
            <a:ext cx="1017269" cy="8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Exposure &amp; Validation</a:t>
            </a:r>
            <a:endParaRPr/>
          </a:p>
        </p:txBody>
      </p:sp>
      <p:sp>
        <p:nvSpPr>
          <p:cNvPr id="867" name="Google Shape;867;p53"/>
          <p:cNvSpPr/>
          <p:nvPr/>
        </p:nvSpPr>
        <p:spPr>
          <a:xfrm>
            <a:off x="5503545" y="3412404"/>
            <a:ext cx="1011555" cy="5748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3"/>
          <p:cNvSpPr txBox="1"/>
          <p:nvPr/>
        </p:nvSpPr>
        <p:spPr>
          <a:xfrm>
            <a:off x="5520690" y="3412404"/>
            <a:ext cx="6515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Buildings (OSM)</a:t>
            </a:r>
            <a:endParaRPr/>
          </a:p>
        </p:txBody>
      </p:sp>
      <p:sp>
        <p:nvSpPr>
          <p:cNvPr id="869" name="Google Shape;869;p53"/>
          <p:cNvSpPr txBox="1"/>
          <p:nvPr/>
        </p:nvSpPr>
        <p:spPr>
          <a:xfrm>
            <a:off x="6189345" y="3412404"/>
            <a:ext cx="3086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1,592</a:t>
            </a:r>
            <a:endParaRPr/>
          </a:p>
        </p:txBody>
      </p:sp>
      <p:sp>
        <p:nvSpPr>
          <p:cNvPr id="870" name="Google Shape;870;p53"/>
          <p:cNvSpPr/>
          <p:nvPr/>
        </p:nvSpPr>
        <p:spPr>
          <a:xfrm>
            <a:off x="5503545" y="3472624"/>
            <a:ext cx="1011555" cy="574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3"/>
          <p:cNvSpPr txBox="1"/>
          <p:nvPr/>
        </p:nvSpPr>
        <p:spPr>
          <a:xfrm>
            <a:off x="5520690" y="3472624"/>
            <a:ext cx="6515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Road segments</a:t>
            </a:r>
            <a:endParaRPr/>
          </a:p>
        </p:txBody>
      </p:sp>
      <p:sp>
        <p:nvSpPr>
          <p:cNvPr id="872" name="Google Shape;872;p53"/>
          <p:cNvSpPr txBox="1"/>
          <p:nvPr/>
        </p:nvSpPr>
        <p:spPr>
          <a:xfrm>
            <a:off x="6189345" y="3472624"/>
            <a:ext cx="3086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998</a:t>
            </a:r>
            <a:endParaRPr/>
          </a:p>
        </p:txBody>
      </p:sp>
      <p:sp>
        <p:nvSpPr>
          <p:cNvPr id="873" name="Google Shape;873;p53"/>
          <p:cNvSpPr/>
          <p:nvPr/>
        </p:nvSpPr>
        <p:spPr>
          <a:xfrm>
            <a:off x="5503545" y="3532843"/>
            <a:ext cx="1011555" cy="5748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3"/>
          <p:cNvSpPr txBox="1"/>
          <p:nvPr/>
        </p:nvSpPr>
        <p:spPr>
          <a:xfrm>
            <a:off x="5520690" y="3532843"/>
            <a:ext cx="6515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Critical assets</a:t>
            </a:r>
            <a:endParaRPr/>
          </a:p>
        </p:txBody>
      </p:sp>
      <p:sp>
        <p:nvSpPr>
          <p:cNvPr id="875" name="Google Shape;875;p53"/>
          <p:cNvSpPr txBox="1"/>
          <p:nvPr/>
        </p:nvSpPr>
        <p:spPr>
          <a:xfrm>
            <a:off x="6189345" y="3532843"/>
            <a:ext cx="3086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126</a:t>
            </a:r>
            <a:endParaRPr/>
          </a:p>
        </p:txBody>
      </p:sp>
      <p:sp>
        <p:nvSpPr>
          <p:cNvPr id="876" name="Google Shape;876;p53"/>
          <p:cNvSpPr/>
          <p:nvPr/>
        </p:nvSpPr>
        <p:spPr>
          <a:xfrm>
            <a:off x="5503545" y="3593063"/>
            <a:ext cx="1011555" cy="574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3"/>
          <p:cNvSpPr txBox="1"/>
          <p:nvPr/>
        </p:nvSpPr>
        <p:spPr>
          <a:xfrm>
            <a:off x="5520690" y="3593063"/>
            <a:ext cx="6515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Downstream points</a:t>
            </a:r>
            <a:endParaRPr/>
          </a:p>
        </p:txBody>
      </p:sp>
      <p:sp>
        <p:nvSpPr>
          <p:cNvPr id="878" name="Google Shape;878;p53"/>
          <p:cNvSpPr txBox="1"/>
          <p:nvPr/>
        </p:nvSpPr>
        <p:spPr>
          <a:xfrm>
            <a:off x="6189345" y="3593063"/>
            <a:ext cx="308610" cy="5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184</a:t>
            </a:r>
            <a:endParaRPr/>
          </a:p>
        </p:txBody>
      </p:sp>
      <p:sp>
        <p:nvSpPr>
          <p:cNvPr id="879" name="Google Shape;879;p53"/>
          <p:cNvSpPr txBox="1"/>
          <p:nvPr/>
        </p:nvSpPr>
        <p:spPr>
          <a:xfrm>
            <a:off x="5509260" y="3658757"/>
            <a:ext cx="1005839" cy="60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Peak stage (m amsl) at 0 / 15 / 33 km</a:t>
            </a:r>
            <a:endParaRPr/>
          </a:p>
        </p:txBody>
      </p:sp>
      <p:sp>
        <p:nvSpPr>
          <p:cNvPr id="880" name="Google Shape;880;p53"/>
          <p:cNvSpPr/>
          <p:nvPr/>
        </p:nvSpPr>
        <p:spPr>
          <a:xfrm>
            <a:off x="5543550" y="3875909"/>
            <a:ext cx="57150" cy="105844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3"/>
          <p:cNvSpPr/>
          <p:nvPr/>
        </p:nvSpPr>
        <p:spPr>
          <a:xfrm>
            <a:off x="5612130" y="3742504"/>
            <a:ext cx="57150" cy="239249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53"/>
          <p:cNvSpPr/>
          <p:nvPr/>
        </p:nvSpPr>
        <p:spPr>
          <a:xfrm>
            <a:off x="5737860" y="3925218"/>
            <a:ext cx="57150" cy="56535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3"/>
          <p:cNvSpPr/>
          <p:nvPr/>
        </p:nvSpPr>
        <p:spPr>
          <a:xfrm>
            <a:off x="5806440" y="3837439"/>
            <a:ext cx="57150" cy="144314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53"/>
          <p:cNvSpPr/>
          <p:nvPr/>
        </p:nvSpPr>
        <p:spPr>
          <a:xfrm>
            <a:off x="5932170" y="3951502"/>
            <a:ext cx="57150" cy="30251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53"/>
          <p:cNvSpPr/>
          <p:nvPr/>
        </p:nvSpPr>
        <p:spPr>
          <a:xfrm>
            <a:off x="6000750" y="3893124"/>
            <a:ext cx="57150" cy="88629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3"/>
          <p:cNvSpPr txBox="1"/>
          <p:nvPr/>
        </p:nvSpPr>
        <p:spPr>
          <a:xfrm>
            <a:off x="6166485" y="3762773"/>
            <a:ext cx="348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43A0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30">
              <a:solidFill>
                <a:srgbClr val="43A0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■ NIYANTA</a:t>
            </a:r>
            <a:endParaRPr sz="1600"/>
          </a:p>
        </p:txBody>
      </p:sp>
      <p:sp>
        <p:nvSpPr>
          <p:cNvPr id="887" name="Google Shape;887;p53"/>
          <p:cNvSpPr/>
          <p:nvPr/>
        </p:nvSpPr>
        <p:spPr>
          <a:xfrm>
            <a:off x="6657975" y="1233548"/>
            <a:ext cx="2400300" cy="930667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ishi.png" id="888" name="Google Shape;888;p53"/>
          <p:cNvPicPr preferRelativeResize="0"/>
          <p:nvPr/>
        </p:nvPicPr>
        <p:blipFill rotWithShape="1">
          <a:blip r:embed="rId18">
            <a:alphaModFix/>
          </a:blip>
          <a:srcRect b="0" l="727" r="727" t="0"/>
          <a:stretch/>
        </p:blipFill>
        <p:spPr>
          <a:xfrm>
            <a:off x="6703695" y="1288293"/>
            <a:ext cx="1154430" cy="744533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53"/>
          <p:cNvSpPr/>
          <p:nvPr/>
        </p:nvSpPr>
        <p:spPr>
          <a:xfrm>
            <a:off x="6703695" y="2032827"/>
            <a:ext cx="1154430" cy="93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3"/>
          <p:cNvSpPr txBox="1"/>
          <p:nvPr/>
        </p:nvSpPr>
        <p:spPr>
          <a:xfrm>
            <a:off x="6715125" y="2032827"/>
            <a:ext cx="1485900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3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9"/>
              </a:rPr>
              <a:t>Rishiganga, Uttarakhand (2021)</a:t>
            </a:r>
            <a:endParaRPr/>
          </a:p>
        </p:txBody>
      </p:sp>
      <p:sp>
        <p:nvSpPr>
          <p:cNvPr id="891" name="Google Shape;891;p53">
            <a:hlinkClick r:id="rId30"/>
          </p:cNvPr>
          <p:cNvSpPr/>
          <p:nvPr/>
        </p:nvSpPr>
        <p:spPr>
          <a:xfrm>
            <a:off x="7143750" y="1551070"/>
            <a:ext cx="285750" cy="164235"/>
          </a:xfrm>
          <a:prstGeom prst="roundRect">
            <a:avLst>
              <a:gd fmla="val 25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lay.png" id="892" name="Google Shape;892;p5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240905" y="1587467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3"/>
          <p:cNvSpPr txBox="1"/>
          <p:nvPr/>
        </p:nvSpPr>
        <p:spPr>
          <a:xfrm>
            <a:off x="7920990" y="1277344"/>
            <a:ext cx="1131570" cy="14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Rishi Ganga Incident Video</a:t>
            </a:r>
            <a:endParaRPr/>
          </a:p>
        </p:txBody>
      </p:sp>
      <p:sp>
        <p:nvSpPr>
          <p:cNvPr id="894" name="Google Shape;894;p53"/>
          <p:cNvSpPr txBox="1"/>
          <p:nvPr/>
        </p:nvSpPr>
        <p:spPr>
          <a:xfrm>
            <a:off x="7920990" y="1430630"/>
            <a:ext cx="1108710" cy="459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Model output matched with real-world incident data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80% – 90% accuracy</a:t>
            </a:r>
            <a:endParaRPr/>
          </a:p>
        </p:txBody>
      </p:sp>
      <p:sp>
        <p:nvSpPr>
          <p:cNvPr id="895" name="Google Shape;895;p53">
            <a:hlinkClick r:id="rId32"/>
          </p:cNvPr>
          <p:cNvSpPr/>
          <p:nvPr/>
        </p:nvSpPr>
        <p:spPr>
          <a:xfrm>
            <a:off x="8081010" y="1923337"/>
            <a:ext cx="748664" cy="175184"/>
          </a:xfrm>
          <a:prstGeom prst="roundRect">
            <a:avLst>
              <a:gd fmla="val 20000" name="adj"/>
            </a:avLst>
          </a:prstGeom>
          <a:solidFill>
            <a:srgbClr val="E539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View Video</a:t>
            </a:r>
            <a:endParaRPr/>
          </a:p>
        </p:txBody>
      </p:sp>
      <p:sp>
        <p:nvSpPr>
          <p:cNvPr id="896" name="Google Shape;896;p53"/>
          <p:cNvSpPr/>
          <p:nvPr/>
        </p:nvSpPr>
        <p:spPr>
          <a:xfrm>
            <a:off x="6657975" y="2218960"/>
            <a:ext cx="2400300" cy="958039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p2.png" id="897" name="Google Shape;897;p53"/>
          <p:cNvPicPr preferRelativeResize="0"/>
          <p:nvPr/>
        </p:nvPicPr>
        <p:blipFill rotWithShape="1">
          <a:blip r:embed="rId11">
            <a:alphaModFix/>
          </a:blip>
          <a:srcRect b="24240" l="0" r="0" t="24240"/>
          <a:stretch/>
        </p:blipFill>
        <p:spPr>
          <a:xfrm>
            <a:off x="6703695" y="2273705"/>
            <a:ext cx="1154430" cy="771906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53"/>
          <p:cNvSpPr/>
          <p:nvPr/>
        </p:nvSpPr>
        <p:spPr>
          <a:xfrm>
            <a:off x="6703695" y="3045612"/>
            <a:ext cx="1154430" cy="93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53"/>
          <p:cNvSpPr txBox="1"/>
          <p:nvPr/>
        </p:nvSpPr>
        <p:spPr>
          <a:xfrm>
            <a:off x="6715125" y="3045612"/>
            <a:ext cx="1485900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3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3"/>
              </a:rPr>
              <a:t>Nepal flash flood – Sentinel-2 (ESA)</a:t>
            </a:r>
            <a:endParaRPr/>
          </a:p>
        </p:txBody>
      </p:sp>
      <p:sp>
        <p:nvSpPr>
          <p:cNvPr id="900" name="Google Shape;900;p53">
            <a:hlinkClick r:id="rId34"/>
          </p:cNvPr>
          <p:cNvSpPr/>
          <p:nvPr/>
        </p:nvSpPr>
        <p:spPr>
          <a:xfrm>
            <a:off x="7143750" y="2550168"/>
            <a:ext cx="285750" cy="164235"/>
          </a:xfrm>
          <a:prstGeom prst="roundRect">
            <a:avLst>
              <a:gd fmla="val 25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lay.png" id="901" name="Google Shape;901;p5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240905" y="2586566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53"/>
          <p:cNvSpPr txBox="1"/>
          <p:nvPr/>
        </p:nvSpPr>
        <p:spPr>
          <a:xfrm>
            <a:off x="7920990" y="2262756"/>
            <a:ext cx="1131570" cy="14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Nepal Case Study Video</a:t>
            </a:r>
            <a:endParaRPr/>
          </a:p>
        </p:txBody>
      </p:sp>
      <p:sp>
        <p:nvSpPr>
          <p:cNvPr id="903" name="Google Shape;903;p53"/>
          <p:cNvSpPr txBox="1"/>
          <p:nvPr/>
        </p:nvSpPr>
        <p:spPr>
          <a:xfrm>
            <a:off x="7920990" y="2416043"/>
            <a:ext cx="1108710" cy="487231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Real-world matched results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80% accuracy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AI 85% accuracy</a:t>
            </a:r>
            <a:endParaRPr/>
          </a:p>
        </p:txBody>
      </p:sp>
      <p:sp>
        <p:nvSpPr>
          <p:cNvPr id="904" name="Google Shape;904;p53">
            <a:hlinkClick r:id="rId35"/>
          </p:cNvPr>
          <p:cNvSpPr/>
          <p:nvPr/>
        </p:nvSpPr>
        <p:spPr>
          <a:xfrm>
            <a:off x="8081010" y="2936121"/>
            <a:ext cx="748664" cy="175184"/>
          </a:xfrm>
          <a:prstGeom prst="roundRect">
            <a:avLst>
              <a:gd fmla="val 20000" name="adj"/>
            </a:avLst>
          </a:prstGeom>
          <a:solidFill>
            <a:srgbClr val="E539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View Video</a:t>
            </a:r>
            <a:endParaRPr/>
          </a:p>
        </p:txBody>
      </p:sp>
      <p:sp>
        <p:nvSpPr>
          <p:cNvPr id="905" name="Google Shape;905;p53"/>
          <p:cNvSpPr/>
          <p:nvPr/>
        </p:nvSpPr>
        <p:spPr>
          <a:xfrm>
            <a:off x="6657975" y="3220796"/>
            <a:ext cx="2400300" cy="832125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akhovka.png" id="906" name="Google Shape;906;p53"/>
          <p:cNvPicPr preferRelativeResize="0"/>
          <p:nvPr/>
        </p:nvPicPr>
        <p:blipFill rotWithShape="1">
          <a:blip r:embed="rId36">
            <a:alphaModFix/>
          </a:blip>
          <a:srcRect b="6025" l="0" r="0" t="6025"/>
          <a:stretch/>
        </p:blipFill>
        <p:spPr>
          <a:xfrm>
            <a:off x="6703695" y="3275541"/>
            <a:ext cx="1154430" cy="645992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53"/>
          <p:cNvSpPr/>
          <p:nvPr/>
        </p:nvSpPr>
        <p:spPr>
          <a:xfrm>
            <a:off x="6703695" y="3921534"/>
            <a:ext cx="1154430" cy="93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3"/>
          <p:cNvSpPr txBox="1"/>
          <p:nvPr/>
        </p:nvSpPr>
        <p:spPr>
          <a:xfrm>
            <a:off x="6715125" y="3921534"/>
            <a:ext cx="1485900" cy="93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3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7"/>
              </a:rPr>
              <a:t>Kakhovka Dam, Ukraine (2023)</a:t>
            </a:r>
            <a:endParaRPr/>
          </a:p>
        </p:txBody>
      </p:sp>
      <p:sp>
        <p:nvSpPr>
          <p:cNvPr id="909" name="Google Shape;909;p53">
            <a:hlinkClick r:id="rId38"/>
          </p:cNvPr>
          <p:cNvSpPr/>
          <p:nvPr/>
        </p:nvSpPr>
        <p:spPr>
          <a:xfrm>
            <a:off x="7143750" y="3489047"/>
            <a:ext cx="285750" cy="164235"/>
          </a:xfrm>
          <a:prstGeom prst="roundRect">
            <a:avLst>
              <a:gd fmla="val 25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lay.png" id="910" name="Google Shape;910;p5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240905" y="3525445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53"/>
          <p:cNvSpPr txBox="1"/>
          <p:nvPr/>
        </p:nvSpPr>
        <p:spPr>
          <a:xfrm>
            <a:off x="7920990" y="3264592"/>
            <a:ext cx="1131570" cy="14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Kakhovka Incident Video</a:t>
            </a:r>
            <a:endParaRPr/>
          </a:p>
        </p:txBody>
      </p:sp>
      <p:sp>
        <p:nvSpPr>
          <p:cNvPr id="912" name="Google Shape;912;p53"/>
          <p:cNvSpPr txBox="1"/>
          <p:nvPr/>
        </p:nvSpPr>
        <p:spPr>
          <a:xfrm>
            <a:off x="7920990" y="3417879"/>
            <a:ext cx="1108710" cy="36131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Regional impact analysis and incident verification</a:t>
            </a:r>
            <a:endParaRPr/>
          </a:p>
        </p:txBody>
      </p:sp>
      <p:sp>
        <p:nvSpPr>
          <p:cNvPr id="913" name="Google Shape;913;p53">
            <a:hlinkClick r:id="rId39"/>
          </p:cNvPr>
          <p:cNvSpPr/>
          <p:nvPr/>
        </p:nvSpPr>
        <p:spPr>
          <a:xfrm>
            <a:off x="8081010" y="3812043"/>
            <a:ext cx="748664" cy="175184"/>
          </a:xfrm>
          <a:prstGeom prst="roundRect">
            <a:avLst>
              <a:gd fmla="val 20000" name="adj"/>
            </a:avLst>
          </a:prstGeom>
          <a:solidFill>
            <a:srgbClr val="E539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View Video</a:t>
            </a:r>
            <a:endParaRPr/>
          </a:p>
        </p:txBody>
      </p:sp>
      <p:sp>
        <p:nvSpPr>
          <p:cNvPr id="914" name="Google Shape;914;p53"/>
          <p:cNvSpPr/>
          <p:nvPr/>
        </p:nvSpPr>
        <p:spPr>
          <a:xfrm>
            <a:off x="68580" y="4145989"/>
            <a:ext cx="4389120" cy="208031"/>
          </a:xfrm>
          <a:prstGeom prst="roundRect">
            <a:avLst>
              <a:gd fmla="val 20000" name="adj"/>
            </a:avLst>
          </a:prstGeom>
          <a:solidFill>
            <a:srgbClr val="1F4E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cog.png" id="915" name="Google Shape;915;p53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76022" y="4185997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53"/>
          <p:cNvSpPr txBox="1"/>
          <p:nvPr/>
        </p:nvSpPr>
        <p:spPr>
          <a:xfrm>
            <a:off x="400050" y="4145989"/>
            <a:ext cx="4057650" cy="208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IMPACT NUMBERS (WITH SOURCES)</a:t>
            </a:r>
            <a:endParaRPr/>
          </a:p>
        </p:txBody>
      </p:sp>
      <p:sp>
        <p:nvSpPr>
          <p:cNvPr id="917" name="Google Shape;917;p53"/>
          <p:cNvSpPr/>
          <p:nvPr/>
        </p:nvSpPr>
        <p:spPr>
          <a:xfrm>
            <a:off x="4514850" y="4145989"/>
            <a:ext cx="4560570" cy="208031"/>
          </a:xfrm>
          <a:prstGeom prst="roundRect">
            <a:avLst>
              <a:gd fmla="val 20000" name="adj"/>
            </a:avLst>
          </a:prstGeom>
          <a:solidFill>
            <a:srgbClr val="1F4E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target.png" id="918" name="Google Shape;918;p53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605147" y="4185997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53"/>
          <p:cNvSpPr txBox="1"/>
          <p:nvPr/>
        </p:nvSpPr>
        <p:spPr>
          <a:xfrm>
            <a:off x="4812030" y="4145989"/>
            <a:ext cx="4263390" cy="208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IMPACT</a:t>
            </a:r>
            <a:endParaRPr/>
          </a:p>
        </p:txBody>
      </p:sp>
      <p:sp>
        <p:nvSpPr>
          <p:cNvPr id="920" name="Google Shape;920;p53"/>
          <p:cNvSpPr/>
          <p:nvPr/>
        </p:nvSpPr>
        <p:spPr>
          <a:xfrm>
            <a:off x="68580" y="4364969"/>
            <a:ext cx="4389120" cy="755482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3"/>
          <p:cNvSpPr/>
          <p:nvPr/>
        </p:nvSpPr>
        <p:spPr>
          <a:xfrm>
            <a:off x="4514850" y="4364969"/>
            <a:ext cx="4560570" cy="755482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3"/>
          <p:cNvSpPr/>
          <p:nvPr/>
        </p:nvSpPr>
        <p:spPr>
          <a:xfrm>
            <a:off x="97155" y="4397816"/>
            <a:ext cx="834390" cy="700737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_people.png" id="923" name="Google Shape;923;p53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45770" y="442777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53"/>
          <p:cNvSpPr txBox="1"/>
          <p:nvPr/>
        </p:nvSpPr>
        <p:spPr>
          <a:xfrm>
            <a:off x="97155" y="4556577"/>
            <a:ext cx="834390" cy="147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97.5 M</a:t>
            </a:r>
            <a:endParaRPr/>
          </a:p>
        </p:txBody>
      </p:sp>
      <p:sp>
        <p:nvSpPr>
          <p:cNvPr id="925" name="Google Shape;925;p53"/>
          <p:cNvSpPr txBox="1"/>
          <p:nvPr/>
        </p:nvSpPr>
        <p:spPr>
          <a:xfrm>
            <a:off x="125730" y="4698915"/>
            <a:ext cx="777240" cy="235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People exposed to extreme floods yearly</a:t>
            </a:r>
            <a:endParaRPr/>
          </a:p>
        </p:txBody>
      </p:sp>
      <p:sp>
        <p:nvSpPr>
          <p:cNvPr id="926" name="Google Shape;926;p53"/>
          <p:cNvSpPr txBox="1"/>
          <p:nvPr/>
        </p:nvSpPr>
        <p:spPr>
          <a:xfrm>
            <a:off x="114300" y="4956217"/>
            <a:ext cx="800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3"/>
              </a:rPr>
              <a:t>CEEW (2020)</a:t>
            </a:r>
            <a:endParaRPr/>
          </a:p>
        </p:txBody>
      </p:sp>
      <p:sp>
        <p:nvSpPr>
          <p:cNvPr id="927" name="Google Shape;927;p53"/>
          <p:cNvSpPr/>
          <p:nvPr/>
        </p:nvSpPr>
        <p:spPr>
          <a:xfrm>
            <a:off x="968692" y="4397816"/>
            <a:ext cx="834390" cy="700737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_dam.png" id="928" name="Google Shape;928;p53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1317307" y="442777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53"/>
          <p:cNvSpPr txBox="1"/>
          <p:nvPr/>
        </p:nvSpPr>
        <p:spPr>
          <a:xfrm>
            <a:off x="968692" y="4556577"/>
            <a:ext cx="834390" cy="147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6,138</a:t>
            </a:r>
            <a:endParaRPr/>
          </a:p>
        </p:txBody>
      </p:sp>
      <p:sp>
        <p:nvSpPr>
          <p:cNvPr id="930" name="Google Shape;930;p53"/>
          <p:cNvSpPr txBox="1"/>
          <p:nvPr/>
        </p:nvSpPr>
        <p:spPr>
          <a:xfrm>
            <a:off x="997267" y="4698915"/>
            <a:ext cx="777240" cy="235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Large dams; 1,289 are 50+ years old</a:t>
            </a:r>
            <a:endParaRPr/>
          </a:p>
        </p:txBody>
      </p:sp>
      <p:sp>
        <p:nvSpPr>
          <p:cNvPr id="931" name="Google Shape;931;p53"/>
          <p:cNvSpPr txBox="1"/>
          <p:nvPr/>
        </p:nvSpPr>
        <p:spPr>
          <a:xfrm>
            <a:off x="985837" y="4956217"/>
            <a:ext cx="800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5"/>
              </a:rPr>
              <a:t>NRLD 2023</a:t>
            </a:r>
            <a:endParaRPr/>
          </a:p>
        </p:txBody>
      </p:sp>
      <p:sp>
        <p:nvSpPr>
          <p:cNvPr id="932" name="Google Shape;932;p53"/>
          <p:cNvSpPr/>
          <p:nvPr/>
        </p:nvSpPr>
        <p:spPr>
          <a:xfrm>
            <a:off x="1840230" y="4397816"/>
            <a:ext cx="834389" cy="700737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_land.png" id="933" name="Google Shape;933;p53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2188845" y="442777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53"/>
          <p:cNvSpPr txBox="1"/>
          <p:nvPr/>
        </p:nvSpPr>
        <p:spPr>
          <a:xfrm>
            <a:off x="1840230" y="4556577"/>
            <a:ext cx="834389" cy="147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40 M ha</a:t>
            </a:r>
            <a:endParaRPr/>
          </a:p>
        </p:txBody>
      </p:sp>
      <p:sp>
        <p:nvSpPr>
          <p:cNvPr id="935" name="Google Shape;935;p53"/>
          <p:cNvSpPr txBox="1"/>
          <p:nvPr/>
        </p:nvSpPr>
        <p:spPr>
          <a:xfrm>
            <a:off x="1868805" y="4698915"/>
            <a:ext cx="777239" cy="235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Flood-prone land (1/8th of India)</a:t>
            </a:r>
            <a:endParaRPr/>
          </a:p>
        </p:txBody>
      </p:sp>
      <p:sp>
        <p:nvSpPr>
          <p:cNvPr id="936" name="Google Shape;936;p53"/>
          <p:cNvSpPr txBox="1"/>
          <p:nvPr/>
        </p:nvSpPr>
        <p:spPr>
          <a:xfrm>
            <a:off x="1857375" y="4956217"/>
            <a:ext cx="800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7"/>
              </a:rPr>
              <a:t>RBA via PIB</a:t>
            </a:r>
            <a:endParaRPr/>
          </a:p>
        </p:txBody>
      </p:sp>
      <p:sp>
        <p:nvSpPr>
          <p:cNvPr id="937" name="Google Shape;937;p53"/>
          <p:cNvSpPr/>
          <p:nvPr/>
        </p:nvSpPr>
        <p:spPr>
          <a:xfrm>
            <a:off x="2711767" y="4397816"/>
            <a:ext cx="834389" cy="700737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_bolt.png" id="938" name="Google Shape;938;p53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3060382" y="442777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53"/>
          <p:cNvSpPr txBox="1"/>
          <p:nvPr/>
        </p:nvSpPr>
        <p:spPr>
          <a:xfrm>
            <a:off x="2711767" y="4556577"/>
            <a:ext cx="834389" cy="147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42,105 MW</a:t>
            </a:r>
            <a:endParaRPr/>
          </a:p>
        </p:txBody>
      </p:sp>
      <p:sp>
        <p:nvSpPr>
          <p:cNvPr id="940" name="Google Shape;940;p53"/>
          <p:cNvSpPr txBox="1"/>
          <p:nvPr/>
        </p:nvSpPr>
        <p:spPr>
          <a:xfrm>
            <a:off x="2740342" y="4698915"/>
            <a:ext cx="777239" cy="235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Hydropower built (145 GW potential)</a:t>
            </a:r>
            <a:endParaRPr/>
          </a:p>
        </p:txBody>
      </p:sp>
      <p:sp>
        <p:nvSpPr>
          <p:cNvPr id="941" name="Google Shape;941;p53"/>
          <p:cNvSpPr txBox="1"/>
          <p:nvPr/>
        </p:nvSpPr>
        <p:spPr>
          <a:xfrm>
            <a:off x="2728912" y="4956217"/>
            <a:ext cx="800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9"/>
              </a:rPr>
              <a:t>CEA via PIB</a:t>
            </a:r>
            <a:endParaRPr/>
          </a:p>
        </p:txBody>
      </p:sp>
      <p:sp>
        <p:nvSpPr>
          <p:cNvPr id="942" name="Google Shape;942;p53"/>
          <p:cNvSpPr/>
          <p:nvPr/>
        </p:nvSpPr>
        <p:spPr>
          <a:xfrm>
            <a:off x="3583305" y="4397816"/>
            <a:ext cx="834389" cy="700737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_city.png" id="943" name="Google Shape;943;p53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3931920" y="442777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3"/>
          <p:cNvSpPr txBox="1"/>
          <p:nvPr/>
        </p:nvSpPr>
        <p:spPr>
          <a:xfrm>
            <a:off x="3583305" y="4556577"/>
            <a:ext cx="834389" cy="147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/>
          </a:p>
        </p:txBody>
      </p:sp>
      <p:sp>
        <p:nvSpPr>
          <p:cNvPr id="945" name="Google Shape;945;p53"/>
          <p:cNvSpPr txBox="1"/>
          <p:nvPr/>
        </p:nvSpPr>
        <p:spPr>
          <a:xfrm>
            <a:off x="3611880" y="4698915"/>
            <a:ext cx="777239" cy="235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Districts are climate hotspots</a:t>
            </a:r>
            <a:endParaRPr/>
          </a:p>
        </p:txBody>
      </p:sp>
      <p:sp>
        <p:nvSpPr>
          <p:cNvPr id="946" name="Google Shape;946;p53"/>
          <p:cNvSpPr txBox="1"/>
          <p:nvPr/>
        </p:nvSpPr>
        <p:spPr>
          <a:xfrm>
            <a:off x="3600450" y="4956217"/>
            <a:ext cx="800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1"/>
              </a:rPr>
              <a:t>CEEW (2020)</a:t>
            </a:r>
            <a:endParaRPr/>
          </a:p>
        </p:txBody>
      </p:sp>
      <p:sp>
        <p:nvSpPr>
          <p:cNvPr id="947" name="Google Shape;947;p53"/>
          <p:cNvSpPr/>
          <p:nvPr/>
        </p:nvSpPr>
        <p:spPr>
          <a:xfrm>
            <a:off x="4560570" y="4397816"/>
            <a:ext cx="1085850" cy="700737"/>
          </a:xfrm>
          <a:prstGeom prst="roundRect">
            <a:avLst>
              <a:gd fmla="val 6000" name="adj"/>
            </a:avLst>
          </a:prstGeom>
          <a:solidFill>
            <a:srgbClr val="E3EEFB"/>
          </a:solidFill>
          <a:ln cap="flat" cmpd="sng" w="9525">
            <a:solidFill>
              <a:srgbClr val="A9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_shield.png" id="948" name="Google Shape;948;p53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4606290" y="44706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53"/>
          <p:cNvSpPr txBox="1"/>
          <p:nvPr/>
        </p:nvSpPr>
        <p:spPr>
          <a:xfrm>
            <a:off x="4823460" y="4419714"/>
            <a:ext cx="811529" cy="284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Enhances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B3A7A"/>
                </a:solidFill>
                <a:latin typeface="Calibri"/>
                <a:ea typeface="Calibri"/>
                <a:cs typeface="Calibri"/>
                <a:sym typeface="Calibri"/>
              </a:rPr>
              <a:t>National Security</a:t>
            </a:r>
            <a:endParaRPr/>
          </a:p>
        </p:txBody>
      </p:sp>
      <p:sp>
        <p:nvSpPr>
          <p:cNvPr id="950" name="Google Shape;950;p53"/>
          <p:cNvSpPr txBox="1"/>
          <p:nvPr/>
        </p:nvSpPr>
        <p:spPr>
          <a:xfrm>
            <a:off x="4594860" y="4715338"/>
            <a:ext cx="1017269" cy="2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15 M people exposed to glacial-lake floods; India in top 4</a:t>
            </a:r>
            <a:endParaRPr/>
          </a:p>
        </p:txBody>
      </p:sp>
      <p:sp>
        <p:nvSpPr>
          <p:cNvPr id="951" name="Google Shape;951;p53"/>
          <p:cNvSpPr txBox="1"/>
          <p:nvPr/>
        </p:nvSpPr>
        <p:spPr>
          <a:xfrm>
            <a:off x="4577715" y="4956217"/>
            <a:ext cx="1051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3"/>
              </a:rPr>
              <a:t>Taylor et al., Nat. Commun. 2023</a:t>
            </a:r>
            <a:endParaRPr/>
          </a:p>
        </p:txBody>
      </p:sp>
      <p:sp>
        <p:nvSpPr>
          <p:cNvPr id="952" name="Google Shape;952;p53"/>
          <p:cNvSpPr/>
          <p:nvPr/>
        </p:nvSpPr>
        <p:spPr>
          <a:xfrm>
            <a:off x="5686425" y="4397816"/>
            <a:ext cx="1085850" cy="700737"/>
          </a:xfrm>
          <a:prstGeom prst="roundRect">
            <a:avLst>
              <a:gd fmla="val 6000" name="adj"/>
            </a:avLst>
          </a:prstGeom>
          <a:solidFill>
            <a:srgbClr val="E4F4E6"/>
          </a:solidFill>
          <a:ln cap="flat" cmpd="sng" w="9525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_leaf.png" id="953" name="Google Shape;953;p53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5732145" y="44706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53"/>
          <p:cNvSpPr txBox="1"/>
          <p:nvPr/>
        </p:nvSpPr>
        <p:spPr>
          <a:xfrm>
            <a:off x="5949315" y="4419714"/>
            <a:ext cx="811530" cy="284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Protects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3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Environment &amp; Ecology</a:t>
            </a:r>
            <a:endParaRPr/>
          </a:p>
        </p:txBody>
      </p:sp>
      <p:sp>
        <p:nvSpPr>
          <p:cNvPr id="955" name="Google Shape;955;p53"/>
          <p:cNvSpPr txBox="1"/>
          <p:nvPr/>
        </p:nvSpPr>
        <p:spPr>
          <a:xfrm>
            <a:off x="5720715" y="4715338"/>
            <a:ext cx="1017270" cy="2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6,353 km² of Third Pole land at glacial-flood risk</a:t>
            </a:r>
            <a:endParaRPr/>
          </a:p>
        </p:txBody>
      </p:sp>
      <p:sp>
        <p:nvSpPr>
          <p:cNvPr id="956" name="Google Shape;956;p53"/>
          <p:cNvSpPr txBox="1"/>
          <p:nvPr/>
        </p:nvSpPr>
        <p:spPr>
          <a:xfrm>
            <a:off x="5703570" y="4956217"/>
            <a:ext cx="1051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5"/>
              </a:rPr>
              <a:t>Zhang et al., Nat. Commun. 2023</a:t>
            </a:r>
            <a:endParaRPr/>
          </a:p>
        </p:txBody>
      </p:sp>
      <p:sp>
        <p:nvSpPr>
          <p:cNvPr id="957" name="Google Shape;957;p53"/>
          <p:cNvSpPr/>
          <p:nvPr/>
        </p:nvSpPr>
        <p:spPr>
          <a:xfrm>
            <a:off x="6812280" y="4397816"/>
            <a:ext cx="1085849" cy="700737"/>
          </a:xfrm>
          <a:prstGeom prst="roundRect">
            <a:avLst>
              <a:gd fmla="val 6000" name="adj"/>
            </a:avLst>
          </a:prstGeom>
          <a:solidFill>
            <a:srgbClr val="FDF3DC"/>
          </a:solidFill>
          <a:ln cap="flat" cmpd="sng" w="9525">
            <a:solidFill>
              <a:srgbClr val="F2D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_chart.png" id="958" name="Google Shape;958;p53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6858000" y="44706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53"/>
          <p:cNvSpPr txBox="1"/>
          <p:nvPr/>
        </p:nvSpPr>
        <p:spPr>
          <a:xfrm>
            <a:off x="7075170" y="4419714"/>
            <a:ext cx="811530" cy="284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8A5A00"/>
                </a:solidFill>
                <a:latin typeface="Calibri"/>
                <a:ea typeface="Calibri"/>
                <a:cs typeface="Calibri"/>
                <a:sym typeface="Calibri"/>
              </a:rPr>
              <a:t>Ensures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8A5A00"/>
                </a:solidFill>
                <a:latin typeface="Calibri"/>
                <a:ea typeface="Calibri"/>
                <a:cs typeface="Calibri"/>
                <a:sym typeface="Calibri"/>
              </a:rPr>
              <a:t>Economic Stability</a:t>
            </a:r>
            <a:endParaRPr/>
          </a:p>
        </p:txBody>
      </p:sp>
      <p:sp>
        <p:nvSpPr>
          <p:cNvPr id="960" name="Google Shape;960;p53"/>
          <p:cNvSpPr txBox="1"/>
          <p:nvPr/>
        </p:nvSpPr>
        <p:spPr>
          <a:xfrm>
            <a:off x="6846570" y="4715338"/>
            <a:ext cx="1017269" cy="2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₹25,805 cr average yearly flood damage (2011–21)</a:t>
            </a:r>
            <a:endParaRPr/>
          </a:p>
        </p:txBody>
      </p:sp>
      <p:sp>
        <p:nvSpPr>
          <p:cNvPr id="961" name="Google Shape;961;p53"/>
          <p:cNvSpPr txBox="1"/>
          <p:nvPr/>
        </p:nvSpPr>
        <p:spPr>
          <a:xfrm>
            <a:off x="6829425" y="4956217"/>
            <a:ext cx="10515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7"/>
              </a:rPr>
              <a:t>CWC data via FACTLY</a:t>
            </a:r>
            <a:endParaRPr/>
          </a:p>
        </p:txBody>
      </p:sp>
      <p:sp>
        <p:nvSpPr>
          <p:cNvPr id="962" name="Google Shape;962;p53"/>
          <p:cNvSpPr/>
          <p:nvPr/>
        </p:nvSpPr>
        <p:spPr>
          <a:xfrm>
            <a:off x="7938135" y="4397816"/>
            <a:ext cx="1085850" cy="700737"/>
          </a:xfrm>
          <a:prstGeom prst="roundRect">
            <a:avLst>
              <a:gd fmla="val 6000" name="adj"/>
            </a:avLst>
          </a:prstGeom>
          <a:solidFill>
            <a:srgbClr val="FDE7E7"/>
          </a:solidFill>
          <a:ln cap="flat" cmpd="sng" w="9525">
            <a:solidFill>
              <a:srgbClr val="EF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_people.png" id="963" name="Google Shape;963;p53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7983855" y="44706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53"/>
          <p:cNvSpPr txBox="1"/>
          <p:nvPr/>
        </p:nvSpPr>
        <p:spPr>
          <a:xfrm>
            <a:off x="8201025" y="4419714"/>
            <a:ext cx="811529" cy="284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Builds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3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Safe &amp; Resilient Communities</a:t>
            </a:r>
            <a:endParaRPr/>
          </a:p>
        </p:txBody>
      </p:sp>
      <p:sp>
        <p:nvSpPr>
          <p:cNvPr id="965" name="Google Shape;965;p53"/>
          <p:cNvSpPr txBox="1"/>
          <p:nvPr/>
        </p:nvSpPr>
        <p:spPr>
          <a:xfrm>
            <a:off x="7972425" y="4715338"/>
            <a:ext cx="1017270" cy="2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638 M people live in climate-hotspot districts</a:t>
            </a:r>
            <a:endParaRPr/>
          </a:p>
        </p:txBody>
      </p:sp>
      <p:sp>
        <p:nvSpPr>
          <p:cNvPr id="966" name="Google Shape;966;p53"/>
          <p:cNvSpPr txBox="1"/>
          <p:nvPr/>
        </p:nvSpPr>
        <p:spPr>
          <a:xfrm>
            <a:off x="7955279" y="4956217"/>
            <a:ext cx="10515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9"/>
              </a:rPr>
              <a:t>CEEW (2020)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4"/>
          <p:cNvSpPr/>
          <p:nvPr/>
        </p:nvSpPr>
        <p:spPr>
          <a:xfrm>
            <a:off x="1828" y="2743"/>
            <a:ext cx="9144000" cy="446227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iy_logo.png" id="972" name="Google Shape;97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4" y="7315"/>
            <a:ext cx="435254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54"/>
          <p:cNvSpPr txBox="1"/>
          <p:nvPr/>
        </p:nvSpPr>
        <p:spPr>
          <a:xfrm>
            <a:off x="621792" y="731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</a:t>
            </a:r>
            <a:endParaRPr/>
          </a:p>
        </p:txBody>
      </p:sp>
      <p:sp>
        <p:nvSpPr>
          <p:cNvPr id="974" name="Google Shape;974;p54"/>
          <p:cNvSpPr txBox="1"/>
          <p:nvPr/>
        </p:nvSpPr>
        <p:spPr>
          <a:xfrm>
            <a:off x="2194560" y="45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pic>
        <p:nvPicPr>
          <p:cNvPr descr="sih.png" id="975" name="Google Shape;97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153" y="0"/>
            <a:ext cx="1533448" cy="4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54"/>
          <p:cNvSpPr/>
          <p:nvPr/>
        </p:nvSpPr>
        <p:spPr>
          <a:xfrm>
            <a:off x="43891" y="475488"/>
            <a:ext cx="9038844" cy="292608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54"/>
          <p:cNvSpPr txBox="1"/>
          <p:nvPr/>
        </p:nvSpPr>
        <p:spPr>
          <a:xfrm>
            <a:off x="91440" y="47548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NIYANTA - </a:t>
            </a:r>
            <a:r>
              <a:rPr b="0" i="1" lang="en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Performance depends on hardware.</a:t>
            </a:r>
            <a:r>
              <a:rPr b="0" i="0" lang="en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How each specification changes simulation speed, scale and deployment.</a:t>
            </a:r>
            <a:endParaRPr/>
          </a:p>
        </p:txBody>
      </p:sp>
      <p:sp>
        <p:nvSpPr>
          <p:cNvPr id="978" name="Google Shape;978;p54"/>
          <p:cNvSpPr/>
          <p:nvPr/>
        </p:nvSpPr>
        <p:spPr>
          <a:xfrm>
            <a:off x="91440" y="841248"/>
            <a:ext cx="5623560" cy="219456"/>
          </a:xfrm>
          <a:prstGeom prst="roundRect">
            <a:avLst>
              <a:gd fmla="val 20000" name="adj"/>
            </a:avLst>
          </a:prstGeom>
          <a:solidFill>
            <a:srgbClr val="1F4E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4"/>
          <p:cNvSpPr/>
          <p:nvPr/>
        </p:nvSpPr>
        <p:spPr>
          <a:xfrm>
            <a:off x="137160" y="86868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0" name="Google Shape;980;p54"/>
          <p:cNvSpPr txBox="1"/>
          <p:nvPr/>
        </p:nvSpPr>
        <p:spPr>
          <a:xfrm>
            <a:off x="356616" y="841248"/>
            <a:ext cx="5321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SPECIFICATION  →  PERFORMANCE IMPACT</a:t>
            </a:r>
            <a:endParaRPr/>
          </a:p>
        </p:txBody>
      </p:sp>
      <p:sp>
        <p:nvSpPr>
          <p:cNvPr id="981" name="Google Shape;981;p54"/>
          <p:cNvSpPr/>
          <p:nvPr/>
        </p:nvSpPr>
        <p:spPr>
          <a:xfrm>
            <a:off x="91440" y="1097280"/>
            <a:ext cx="932688" cy="182880"/>
          </a:xfrm>
          <a:prstGeom prst="rect">
            <a:avLst/>
          </a:prstGeom>
          <a:solidFill>
            <a:srgbClr val="DCE6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4"/>
          <p:cNvSpPr txBox="1"/>
          <p:nvPr/>
        </p:nvSpPr>
        <p:spPr>
          <a:xfrm>
            <a:off x="137160" y="109728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/>
          </a:p>
        </p:txBody>
      </p:sp>
      <p:sp>
        <p:nvSpPr>
          <p:cNvPr id="983" name="Google Shape;983;p54"/>
          <p:cNvSpPr/>
          <p:nvPr/>
        </p:nvSpPr>
        <p:spPr>
          <a:xfrm>
            <a:off x="1024128" y="1097280"/>
            <a:ext cx="1078992" cy="182880"/>
          </a:xfrm>
          <a:prstGeom prst="rect">
            <a:avLst/>
          </a:prstGeom>
          <a:solidFill>
            <a:srgbClr val="DCE6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4"/>
          <p:cNvSpPr txBox="1"/>
          <p:nvPr/>
        </p:nvSpPr>
        <p:spPr>
          <a:xfrm>
            <a:off x="1069848" y="1097280"/>
            <a:ext cx="10149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Recommended spec</a:t>
            </a:r>
            <a:endParaRPr/>
          </a:p>
        </p:txBody>
      </p:sp>
      <p:sp>
        <p:nvSpPr>
          <p:cNvPr id="985" name="Google Shape;985;p54"/>
          <p:cNvSpPr/>
          <p:nvPr/>
        </p:nvSpPr>
        <p:spPr>
          <a:xfrm>
            <a:off x="2103120" y="1097280"/>
            <a:ext cx="1143000" cy="182880"/>
          </a:xfrm>
          <a:prstGeom prst="rect">
            <a:avLst/>
          </a:prstGeom>
          <a:solidFill>
            <a:srgbClr val="DCE6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4"/>
          <p:cNvSpPr txBox="1"/>
          <p:nvPr/>
        </p:nvSpPr>
        <p:spPr>
          <a:xfrm>
            <a:off x="2148839" y="109728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What it drives</a:t>
            </a:r>
            <a:endParaRPr/>
          </a:p>
        </p:txBody>
      </p:sp>
      <p:sp>
        <p:nvSpPr>
          <p:cNvPr id="987" name="Google Shape;987;p54"/>
          <p:cNvSpPr/>
          <p:nvPr/>
        </p:nvSpPr>
        <p:spPr>
          <a:xfrm>
            <a:off x="3246120" y="1097280"/>
            <a:ext cx="1828800" cy="182880"/>
          </a:xfrm>
          <a:prstGeom prst="rect">
            <a:avLst/>
          </a:prstGeom>
          <a:solidFill>
            <a:srgbClr val="DCE6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4"/>
          <p:cNvSpPr txBox="1"/>
          <p:nvPr/>
        </p:nvSpPr>
        <p:spPr>
          <a:xfrm>
            <a:off x="3291839" y="1097280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How it changes performance</a:t>
            </a:r>
            <a:endParaRPr/>
          </a:p>
        </p:txBody>
      </p:sp>
      <p:sp>
        <p:nvSpPr>
          <p:cNvPr id="989" name="Google Shape;989;p54"/>
          <p:cNvSpPr/>
          <p:nvPr/>
        </p:nvSpPr>
        <p:spPr>
          <a:xfrm>
            <a:off x="5074920" y="1097280"/>
            <a:ext cx="640080" cy="182880"/>
          </a:xfrm>
          <a:prstGeom prst="rect">
            <a:avLst/>
          </a:prstGeom>
          <a:solidFill>
            <a:srgbClr val="DCE6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4"/>
          <p:cNvSpPr txBox="1"/>
          <p:nvPr/>
        </p:nvSpPr>
        <p:spPr>
          <a:xfrm>
            <a:off x="5120640" y="1097280"/>
            <a:ext cx="57607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sp>
        <p:nvSpPr>
          <p:cNvPr id="991" name="Google Shape;991;p54"/>
          <p:cNvSpPr/>
          <p:nvPr/>
        </p:nvSpPr>
        <p:spPr>
          <a:xfrm>
            <a:off x="91440" y="1280160"/>
            <a:ext cx="5623560" cy="2121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pu.png" id="992" name="Google Shape;99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304" y="131307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54"/>
          <p:cNvSpPr txBox="1"/>
          <p:nvPr/>
        </p:nvSpPr>
        <p:spPr>
          <a:xfrm>
            <a:off x="338328" y="1280160"/>
            <a:ext cx="676656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40" u="none" cap="none" strike="noStrike">
                <a:solidFill>
                  <a:srgbClr val="1F3A4D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/>
          </a:p>
        </p:txBody>
      </p:sp>
      <p:sp>
        <p:nvSpPr>
          <p:cNvPr id="994" name="Google Shape;994;p54"/>
          <p:cNvSpPr txBox="1"/>
          <p:nvPr/>
        </p:nvSpPr>
        <p:spPr>
          <a:xfrm>
            <a:off x="1069848" y="1280160"/>
            <a:ext cx="1014983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NVIDIA CUDA GPU (RTX-class)</a:t>
            </a:r>
            <a:endParaRPr/>
          </a:p>
        </p:txBody>
      </p:sp>
      <p:sp>
        <p:nvSpPr>
          <p:cNvPr id="995" name="Google Shape;995;p54"/>
          <p:cNvSpPr txBox="1"/>
          <p:nvPr/>
        </p:nvSpPr>
        <p:spPr>
          <a:xfrm>
            <a:off x="2148839" y="1280160"/>
            <a:ext cx="10789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Near-field SPH (DualSPHysics)</a:t>
            </a:r>
            <a:endParaRPr/>
          </a:p>
        </p:txBody>
      </p:sp>
      <p:sp>
        <p:nvSpPr>
          <p:cNvPr id="996" name="Google Shape;996;p54"/>
          <p:cNvSpPr txBox="1"/>
          <p:nvPr/>
        </p:nvSpPr>
        <p:spPr>
          <a:xfrm>
            <a:off x="3291839" y="1280160"/>
            <a:ext cx="17647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1 M particles: </a:t>
            </a:r>
            <a:r>
              <a:rPr b="1" i="0" lang="en" sz="67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6 h on 8 CPU cores → 15 min on 1 GPU</a:t>
            </a:r>
            <a:endParaRPr/>
          </a:p>
        </p:txBody>
      </p:sp>
      <p:sp>
        <p:nvSpPr>
          <p:cNvPr id="997" name="Google Shape;997;p54"/>
          <p:cNvSpPr txBox="1"/>
          <p:nvPr/>
        </p:nvSpPr>
        <p:spPr>
          <a:xfrm>
            <a:off x="5093207" y="1280160"/>
            <a:ext cx="612647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Crespo 2015</a:t>
            </a:r>
            <a:endParaRPr/>
          </a:p>
        </p:txBody>
      </p:sp>
      <p:sp>
        <p:nvSpPr>
          <p:cNvPr id="998" name="Google Shape;998;p54"/>
          <p:cNvSpPr/>
          <p:nvPr/>
        </p:nvSpPr>
        <p:spPr>
          <a:xfrm>
            <a:off x="91440" y="1492300"/>
            <a:ext cx="5623560" cy="212140"/>
          </a:xfrm>
          <a:prstGeom prst="rect">
            <a:avLst/>
          </a:prstGeom>
          <a:solidFill>
            <a:srgbClr val="F4F7FB"/>
          </a:solidFill>
          <a:ln cap="flat" cmpd="sng" w="9525">
            <a:solidFill>
              <a:srgbClr val="E1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ram.png" id="999" name="Google Shape;999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304" y="1525219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54"/>
          <p:cNvSpPr txBox="1"/>
          <p:nvPr/>
        </p:nvSpPr>
        <p:spPr>
          <a:xfrm>
            <a:off x="338328" y="1492300"/>
            <a:ext cx="676656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40" u="none" cap="none" strike="noStrike">
                <a:solidFill>
                  <a:srgbClr val="1F3A4D"/>
                </a:solidFill>
                <a:latin typeface="Calibri"/>
                <a:ea typeface="Calibri"/>
                <a:cs typeface="Calibri"/>
                <a:sym typeface="Calibri"/>
              </a:rPr>
              <a:t>VRAM</a:t>
            </a:r>
            <a:endParaRPr/>
          </a:p>
        </p:txBody>
      </p:sp>
      <p:sp>
        <p:nvSpPr>
          <p:cNvPr id="1001" name="Google Shape;1001;p54"/>
          <p:cNvSpPr txBox="1"/>
          <p:nvPr/>
        </p:nvSpPr>
        <p:spPr>
          <a:xfrm>
            <a:off x="1069848" y="1492300"/>
            <a:ext cx="1014983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8 – 24 GB</a:t>
            </a:r>
            <a:endParaRPr/>
          </a:p>
        </p:txBody>
      </p:sp>
      <p:sp>
        <p:nvSpPr>
          <p:cNvPr id="1002" name="Google Shape;1002;p54"/>
          <p:cNvSpPr txBox="1"/>
          <p:nvPr/>
        </p:nvSpPr>
        <p:spPr>
          <a:xfrm>
            <a:off x="2148839" y="1492300"/>
            <a:ext cx="10789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Max. SPH particles</a:t>
            </a:r>
            <a:endParaRPr/>
          </a:p>
        </p:txBody>
      </p:sp>
      <p:sp>
        <p:nvSpPr>
          <p:cNvPr id="1003" name="Google Shape;1003;p54"/>
          <p:cNvSpPr txBox="1"/>
          <p:nvPr/>
        </p:nvSpPr>
        <p:spPr>
          <a:xfrm>
            <a:off x="3291839" y="1492300"/>
            <a:ext cx="17647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≈ 6 M particles / GB → </a:t>
            </a:r>
            <a:r>
              <a:rPr b="1" i="0" lang="en" sz="67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8 GB ≈ 48 M, 24 GB ≈ 145 M</a:t>
            </a:r>
            <a:endParaRPr/>
          </a:p>
        </p:txBody>
      </p:sp>
      <p:sp>
        <p:nvSpPr>
          <p:cNvPr id="1004" name="Google Shape;1004;p54"/>
          <p:cNvSpPr txBox="1"/>
          <p:nvPr/>
        </p:nvSpPr>
        <p:spPr>
          <a:xfrm>
            <a:off x="5093207" y="1492300"/>
            <a:ext cx="612647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Domínguez 2022</a:t>
            </a:r>
            <a:endParaRPr/>
          </a:p>
        </p:txBody>
      </p:sp>
      <p:sp>
        <p:nvSpPr>
          <p:cNvPr id="1005" name="Google Shape;1005;p54"/>
          <p:cNvSpPr/>
          <p:nvPr/>
        </p:nvSpPr>
        <p:spPr>
          <a:xfrm>
            <a:off x="91440" y="1704441"/>
            <a:ext cx="5623560" cy="2121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pu.png" id="1006" name="Google Shape;1006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6304" y="17373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4"/>
          <p:cNvSpPr txBox="1"/>
          <p:nvPr/>
        </p:nvSpPr>
        <p:spPr>
          <a:xfrm>
            <a:off x="338328" y="1704441"/>
            <a:ext cx="676656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40" u="none" cap="none" strike="noStrike">
                <a:solidFill>
                  <a:srgbClr val="1F3A4D"/>
                </a:solidFill>
                <a:latin typeface="Calibri"/>
                <a:ea typeface="Calibri"/>
                <a:cs typeface="Calibri"/>
                <a:sym typeface="Calibri"/>
              </a:rPr>
              <a:t>CPU cores</a:t>
            </a:r>
            <a:endParaRPr/>
          </a:p>
        </p:txBody>
      </p:sp>
      <p:sp>
        <p:nvSpPr>
          <p:cNvPr id="1008" name="Google Shape;1008;p54"/>
          <p:cNvSpPr txBox="1"/>
          <p:nvPr/>
        </p:nvSpPr>
        <p:spPr>
          <a:xfrm>
            <a:off x="1069848" y="1704441"/>
            <a:ext cx="1014983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8 – 16 cores</a:t>
            </a:r>
            <a:endParaRPr/>
          </a:p>
        </p:txBody>
      </p:sp>
      <p:sp>
        <p:nvSpPr>
          <p:cNvPr id="1009" name="Google Shape;1009;p54"/>
          <p:cNvSpPr txBox="1"/>
          <p:nvPr/>
        </p:nvSpPr>
        <p:spPr>
          <a:xfrm>
            <a:off x="2148839" y="1704441"/>
            <a:ext cx="10789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2D routing (Delft3D / ANUGA, MPI)</a:t>
            </a:r>
            <a:endParaRPr/>
          </a:p>
        </p:txBody>
      </p:sp>
      <p:sp>
        <p:nvSpPr>
          <p:cNvPr id="1010" name="Google Shape;1010;p54"/>
          <p:cNvSpPr txBox="1"/>
          <p:nvPr/>
        </p:nvSpPr>
        <p:spPr>
          <a:xfrm>
            <a:off x="3291839" y="1704441"/>
            <a:ext cx="17647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Mesh split across cores (MPI); </a:t>
            </a:r>
            <a:r>
              <a:rPr b="1" i="0" lang="en" sz="67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runtime grows with resolution</a:t>
            </a:r>
            <a:endParaRPr/>
          </a:p>
        </p:txBody>
      </p:sp>
      <p:sp>
        <p:nvSpPr>
          <p:cNvPr id="1011" name="Google Shape;1011;p54"/>
          <p:cNvSpPr txBox="1"/>
          <p:nvPr/>
        </p:nvSpPr>
        <p:spPr>
          <a:xfrm>
            <a:off x="5093207" y="1704441"/>
            <a:ext cx="612647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ANUGA docs</a:t>
            </a:r>
            <a:endParaRPr/>
          </a:p>
        </p:txBody>
      </p:sp>
      <p:sp>
        <p:nvSpPr>
          <p:cNvPr id="1012" name="Google Shape;1012;p54"/>
          <p:cNvSpPr/>
          <p:nvPr/>
        </p:nvSpPr>
        <p:spPr>
          <a:xfrm>
            <a:off x="91440" y="1916582"/>
            <a:ext cx="5623560" cy="212140"/>
          </a:xfrm>
          <a:prstGeom prst="rect">
            <a:avLst/>
          </a:prstGeom>
          <a:solidFill>
            <a:srgbClr val="F4F7FB"/>
          </a:solidFill>
          <a:ln cap="flat" cmpd="sng" w="9525">
            <a:solidFill>
              <a:srgbClr val="E1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am.png" id="1013" name="Google Shape;1013;p5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6304" y="19495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54"/>
          <p:cNvSpPr txBox="1"/>
          <p:nvPr/>
        </p:nvSpPr>
        <p:spPr>
          <a:xfrm>
            <a:off x="338328" y="1916582"/>
            <a:ext cx="676656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40" u="none" cap="none" strike="noStrike">
                <a:solidFill>
                  <a:srgbClr val="1F3A4D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/>
          </a:p>
        </p:txBody>
      </p:sp>
      <p:sp>
        <p:nvSpPr>
          <p:cNvPr id="1015" name="Google Shape;1015;p54"/>
          <p:cNvSpPr txBox="1"/>
          <p:nvPr/>
        </p:nvSpPr>
        <p:spPr>
          <a:xfrm>
            <a:off x="1069848" y="1916582"/>
            <a:ext cx="1014983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32 – 64 GB</a:t>
            </a:r>
            <a:endParaRPr/>
          </a:p>
        </p:txBody>
      </p:sp>
      <p:sp>
        <p:nvSpPr>
          <p:cNvPr id="1016" name="Google Shape;1016;p54"/>
          <p:cNvSpPr txBox="1"/>
          <p:nvPr/>
        </p:nvSpPr>
        <p:spPr>
          <a:xfrm>
            <a:off x="2148839" y="1916582"/>
            <a:ext cx="10789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DEM, mesh &amp; rasters</a:t>
            </a:r>
            <a:endParaRPr/>
          </a:p>
        </p:txBody>
      </p:sp>
      <p:sp>
        <p:nvSpPr>
          <p:cNvPr id="1017" name="Google Shape;1017;p54"/>
          <p:cNvSpPr txBox="1"/>
          <p:nvPr/>
        </p:nvSpPr>
        <p:spPr>
          <a:xfrm>
            <a:off x="3291839" y="1916582"/>
            <a:ext cx="17647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Memory access is the bottleneck; </a:t>
            </a:r>
            <a:r>
              <a:rPr b="1" i="0" lang="en" sz="67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more RAM = larger meshes</a:t>
            </a:r>
            <a:endParaRPr/>
          </a:p>
        </p:txBody>
      </p:sp>
      <p:sp>
        <p:nvSpPr>
          <p:cNvPr id="1018" name="Google Shape;1018;p54"/>
          <p:cNvSpPr txBox="1"/>
          <p:nvPr/>
        </p:nvSpPr>
        <p:spPr>
          <a:xfrm>
            <a:off x="5093207" y="1916582"/>
            <a:ext cx="612647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C-DAC 2021</a:t>
            </a:r>
            <a:endParaRPr/>
          </a:p>
        </p:txBody>
      </p:sp>
      <p:sp>
        <p:nvSpPr>
          <p:cNvPr id="1019" name="Google Shape;1019;p54"/>
          <p:cNvSpPr/>
          <p:nvPr/>
        </p:nvSpPr>
        <p:spPr>
          <a:xfrm>
            <a:off x="91440" y="2128723"/>
            <a:ext cx="5623560" cy="2121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sd.png" id="1020" name="Google Shape;1020;p5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6304" y="2161641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54"/>
          <p:cNvSpPr txBox="1"/>
          <p:nvPr/>
        </p:nvSpPr>
        <p:spPr>
          <a:xfrm>
            <a:off x="338328" y="2128723"/>
            <a:ext cx="676656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40" u="none" cap="none" strike="noStrike">
                <a:solidFill>
                  <a:srgbClr val="1F3A4D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/>
          </a:p>
        </p:txBody>
      </p:sp>
      <p:sp>
        <p:nvSpPr>
          <p:cNvPr id="1022" name="Google Shape;1022;p54"/>
          <p:cNvSpPr txBox="1"/>
          <p:nvPr/>
        </p:nvSpPr>
        <p:spPr>
          <a:xfrm>
            <a:off x="1069848" y="2128723"/>
            <a:ext cx="1014983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NVMe SSD, 1 TB</a:t>
            </a:r>
            <a:endParaRPr/>
          </a:p>
        </p:txBody>
      </p:sp>
      <p:sp>
        <p:nvSpPr>
          <p:cNvPr id="1023" name="Google Shape;1023;p54"/>
          <p:cNvSpPr txBox="1"/>
          <p:nvPr/>
        </p:nvSpPr>
        <p:spPr>
          <a:xfrm>
            <a:off x="2148839" y="2128723"/>
            <a:ext cx="10789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Offline data + outputs</a:t>
            </a:r>
            <a:endParaRPr/>
          </a:p>
        </p:txBody>
      </p:sp>
      <p:sp>
        <p:nvSpPr>
          <p:cNvPr id="1024" name="Google Shape;1024;p54"/>
          <p:cNvSpPr txBox="1"/>
          <p:nvPr/>
        </p:nvSpPr>
        <p:spPr>
          <a:xfrm>
            <a:off x="3291839" y="2128723"/>
            <a:ext cx="1764792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Particle data saved often; </a:t>
            </a:r>
            <a:r>
              <a:rPr b="1" i="0" lang="en" sz="67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faster disk = less waiting</a:t>
            </a:r>
            <a:endParaRPr/>
          </a:p>
        </p:txBody>
      </p:sp>
      <p:sp>
        <p:nvSpPr>
          <p:cNvPr id="1025" name="Google Shape;1025;p54"/>
          <p:cNvSpPr txBox="1"/>
          <p:nvPr/>
        </p:nvSpPr>
        <p:spPr>
          <a:xfrm>
            <a:off x="5093207" y="2128723"/>
            <a:ext cx="612647" cy="21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DualSPHysics wiki</a:t>
            </a:r>
            <a:endParaRPr/>
          </a:p>
        </p:txBody>
      </p:sp>
      <p:sp>
        <p:nvSpPr>
          <p:cNvPr id="1026" name="Google Shape;1026;p54"/>
          <p:cNvSpPr/>
          <p:nvPr/>
        </p:nvSpPr>
        <p:spPr>
          <a:xfrm>
            <a:off x="5806440" y="841248"/>
            <a:ext cx="3246120" cy="219456"/>
          </a:xfrm>
          <a:prstGeom prst="roundRect">
            <a:avLst>
              <a:gd fmla="val 20000" name="adj"/>
            </a:avLst>
          </a:prstGeom>
          <a:solidFill>
            <a:srgbClr val="006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54"/>
          <p:cNvSpPr/>
          <p:nvPr/>
        </p:nvSpPr>
        <p:spPr>
          <a:xfrm>
            <a:off x="5852159" y="86868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8" name="Google Shape;1028;p54"/>
          <p:cNvSpPr txBox="1"/>
          <p:nvPr/>
        </p:nvSpPr>
        <p:spPr>
          <a:xfrm>
            <a:off x="6071616" y="841248"/>
            <a:ext cx="2944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RESOLUTION  vs  RUNTIME</a:t>
            </a:r>
            <a:endParaRPr/>
          </a:p>
        </p:txBody>
      </p:sp>
      <p:sp>
        <p:nvSpPr>
          <p:cNvPr id="1029" name="Google Shape;1029;p54"/>
          <p:cNvSpPr/>
          <p:nvPr/>
        </p:nvSpPr>
        <p:spPr>
          <a:xfrm>
            <a:off x="5806440" y="1097280"/>
            <a:ext cx="3246120" cy="1243584"/>
          </a:xfrm>
          <a:prstGeom prst="roundRect">
            <a:avLst>
              <a:gd fmla="val 4000" name="adj"/>
            </a:avLst>
          </a:prstGeom>
          <a:solidFill>
            <a:srgbClr val="F3F8F7"/>
          </a:solidFill>
          <a:ln cap="flat" cmpd="sng" w="9525">
            <a:solidFill>
              <a:srgbClr val="D3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4"/>
          <p:cNvSpPr txBox="1"/>
          <p:nvPr/>
        </p:nvSpPr>
        <p:spPr>
          <a:xfrm>
            <a:off x="5897879" y="1124712"/>
            <a:ext cx="3063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Same 1 M-particle dam break (1.5 s simulated)</a:t>
            </a:r>
            <a:endParaRPr/>
          </a:p>
        </p:txBody>
      </p:sp>
      <p:sp>
        <p:nvSpPr>
          <p:cNvPr id="1031" name="Google Shape;1031;p54"/>
          <p:cNvSpPr txBox="1"/>
          <p:nvPr/>
        </p:nvSpPr>
        <p:spPr>
          <a:xfrm>
            <a:off x="5897879" y="1307592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8-core CPU</a:t>
            </a:r>
            <a:endParaRPr/>
          </a:p>
        </p:txBody>
      </p:sp>
      <p:sp>
        <p:nvSpPr>
          <p:cNvPr id="1032" name="Google Shape;1032;p54"/>
          <p:cNvSpPr/>
          <p:nvPr/>
        </p:nvSpPr>
        <p:spPr>
          <a:xfrm>
            <a:off x="6574536" y="1321308"/>
            <a:ext cx="2386584" cy="128016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4"/>
          <p:cNvSpPr txBox="1"/>
          <p:nvPr/>
        </p:nvSpPr>
        <p:spPr>
          <a:xfrm>
            <a:off x="6574536" y="1312164"/>
            <a:ext cx="2350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h</a:t>
            </a:r>
            <a:endParaRPr/>
          </a:p>
        </p:txBody>
      </p:sp>
      <p:sp>
        <p:nvSpPr>
          <p:cNvPr id="1034" name="Google Shape;1034;p54"/>
          <p:cNvSpPr txBox="1"/>
          <p:nvPr/>
        </p:nvSpPr>
        <p:spPr>
          <a:xfrm>
            <a:off x="5897879" y="1481328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1 GPU</a:t>
            </a:r>
            <a:endParaRPr/>
          </a:p>
        </p:txBody>
      </p:sp>
      <p:sp>
        <p:nvSpPr>
          <p:cNvPr id="1035" name="Google Shape;1035;p54"/>
          <p:cNvSpPr/>
          <p:nvPr/>
        </p:nvSpPr>
        <p:spPr>
          <a:xfrm>
            <a:off x="6574536" y="1495044"/>
            <a:ext cx="91440" cy="12801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4"/>
          <p:cNvSpPr txBox="1"/>
          <p:nvPr/>
        </p:nvSpPr>
        <p:spPr>
          <a:xfrm>
            <a:off x="6702551" y="1485900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r>
              <a:rPr b="0" i="0" lang="en" sz="66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   ~24× faster</a:t>
            </a:r>
            <a:endParaRPr/>
          </a:p>
        </p:txBody>
      </p:sp>
      <p:sp>
        <p:nvSpPr>
          <p:cNvPr id="1037" name="Google Shape;1037;p54"/>
          <p:cNvSpPr txBox="1"/>
          <p:nvPr/>
        </p:nvSpPr>
        <p:spPr>
          <a:xfrm>
            <a:off x="7635240" y="1485900"/>
            <a:ext cx="1325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Crespo 2015</a:t>
            </a:r>
            <a:endParaRPr/>
          </a:p>
        </p:txBody>
      </p:sp>
      <p:sp>
        <p:nvSpPr>
          <p:cNvPr id="1038" name="Google Shape;1038;p54"/>
          <p:cNvSpPr/>
          <p:nvPr/>
        </p:nvSpPr>
        <p:spPr>
          <a:xfrm>
            <a:off x="5897879" y="1682496"/>
            <a:ext cx="1495044" cy="42062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9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54"/>
          <p:cNvSpPr txBox="1"/>
          <p:nvPr/>
        </p:nvSpPr>
        <p:spPr>
          <a:xfrm>
            <a:off x="5952743" y="1682496"/>
            <a:ext cx="140360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2D flood (Delft3D / ANUGA)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 ÷2 → cells ×4, steps ×2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≈ 8× runtime</a:t>
            </a:r>
            <a:endParaRPr/>
          </a:p>
        </p:txBody>
      </p:sp>
      <p:sp>
        <p:nvSpPr>
          <p:cNvPr id="1040" name="Google Shape;1040;p54"/>
          <p:cNvSpPr/>
          <p:nvPr/>
        </p:nvSpPr>
        <p:spPr>
          <a:xfrm>
            <a:off x="7466075" y="1682496"/>
            <a:ext cx="1495044" cy="42062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9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54"/>
          <p:cNvSpPr txBox="1"/>
          <p:nvPr/>
        </p:nvSpPr>
        <p:spPr>
          <a:xfrm>
            <a:off x="7520940" y="1682496"/>
            <a:ext cx="140360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3D SPH (DualSPHysics)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Spacing ÷2 → particles ×8, steps ×2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≈ 16× runtime</a:t>
            </a:r>
            <a:endParaRPr/>
          </a:p>
        </p:txBody>
      </p:sp>
      <p:sp>
        <p:nvSpPr>
          <p:cNvPr id="1042" name="Google Shape;1042;p54"/>
          <p:cNvSpPr txBox="1"/>
          <p:nvPr/>
        </p:nvSpPr>
        <p:spPr>
          <a:xfrm>
            <a:off x="5897879" y="2121408"/>
            <a:ext cx="30632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Rule of thumb from the </a:t>
            </a:r>
            <a:r>
              <a:rPr b="1" i="0" lang="en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CFL stability condition</a:t>
            </a:r>
            <a:endParaRPr/>
          </a:p>
        </p:txBody>
      </p:sp>
      <p:sp>
        <p:nvSpPr>
          <p:cNvPr id="1043" name="Google Shape;1043;p54"/>
          <p:cNvSpPr/>
          <p:nvPr/>
        </p:nvSpPr>
        <p:spPr>
          <a:xfrm>
            <a:off x="5897879" y="2103120"/>
            <a:ext cx="3063240" cy="182880"/>
          </a:xfrm>
          <a:prstGeom prst="roundRect">
            <a:avLst>
              <a:gd fmla="val 30000" name="adj"/>
            </a:avLst>
          </a:prstGeom>
          <a:solidFill>
            <a:srgbClr val="E0F2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4"/>
          <p:cNvSpPr txBox="1"/>
          <p:nvPr/>
        </p:nvSpPr>
        <p:spPr>
          <a:xfrm>
            <a:off x="5952743" y="2103120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6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Our design: </a:t>
            </a:r>
            <a:r>
              <a:rPr b="0" i="0" lang="en" sz="66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SPH only near the breach, Delft3D / ANUGA on the 30 m DEM downstream</a:t>
            </a:r>
            <a:endParaRPr/>
          </a:p>
        </p:txBody>
      </p:sp>
      <p:sp>
        <p:nvSpPr>
          <p:cNvPr id="1045" name="Google Shape;1045;p54"/>
          <p:cNvSpPr/>
          <p:nvPr/>
        </p:nvSpPr>
        <p:spPr>
          <a:xfrm>
            <a:off x="91440" y="2432304"/>
            <a:ext cx="8961120" cy="219456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4"/>
          <p:cNvSpPr/>
          <p:nvPr/>
        </p:nvSpPr>
        <p:spPr>
          <a:xfrm>
            <a:off x="137160" y="2459736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47" name="Google Shape;1047;p54"/>
          <p:cNvSpPr txBox="1"/>
          <p:nvPr/>
        </p:nvSpPr>
        <p:spPr>
          <a:xfrm>
            <a:off x="356616" y="2432304"/>
            <a:ext cx="8659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TIERS</a:t>
            </a:r>
            <a:r>
              <a:rPr b="0" i="1" lang="en" sz="680" u="none" cap="none" strike="noStrike">
                <a:solidFill>
                  <a:srgbClr val="E6EEF7"/>
                </a:solidFill>
                <a:latin typeface="Calibri"/>
                <a:ea typeface="Calibri"/>
                <a:cs typeface="Calibri"/>
                <a:sym typeface="Calibri"/>
              </a:rPr>
              <a:t>   what each setup can run</a:t>
            </a:r>
            <a:endParaRPr/>
          </a:p>
        </p:txBody>
      </p:sp>
      <p:sp>
        <p:nvSpPr>
          <p:cNvPr id="1048" name="Google Shape;1048;p54"/>
          <p:cNvSpPr/>
          <p:nvPr/>
        </p:nvSpPr>
        <p:spPr>
          <a:xfrm>
            <a:off x="91440" y="2688336"/>
            <a:ext cx="2926080" cy="731520"/>
          </a:xfrm>
          <a:prstGeom prst="roundRect">
            <a:avLst>
              <a:gd fmla="val 6000" name="adj"/>
            </a:avLst>
          </a:prstGeom>
          <a:solidFill>
            <a:srgbClr val="EAF3FC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ptop.png" id="1049" name="Google Shape;1049;p5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82880" y="27614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54"/>
          <p:cNvSpPr txBox="1"/>
          <p:nvPr/>
        </p:nvSpPr>
        <p:spPr>
          <a:xfrm>
            <a:off x="475488" y="272491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Laptop (CPU only)</a:t>
            </a:r>
            <a:endParaRPr/>
          </a:p>
        </p:txBody>
      </p:sp>
      <p:sp>
        <p:nvSpPr>
          <p:cNvPr id="1051" name="Google Shape;1051;p54"/>
          <p:cNvSpPr txBox="1"/>
          <p:nvPr/>
        </p:nvSpPr>
        <p:spPr>
          <a:xfrm>
            <a:off x="475488" y="2880360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62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Multi-core laptop, no GPU</a:t>
            </a:r>
            <a:endParaRPr/>
          </a:p>
        </p:txBody>
      </p:sp>
      <p:sp>
        <p:nvSpPr>
          <p:cNvPr id="1052" name="Google Shape;1052;p54"/>
          <p:cNvSpPr/>
          <p:nvPr/>
        </p:nvSpPr>
        <p:spPr>
          <a:xfrm>
            <a:off x="1993392" y="2743200"/>
            <a:ext cx="950976" cy="137160"/>
          </a:xfrm>
          <a:prstGeom prst="roundRect">
            <a:avLst>
              <a:gd fmla="val 40000" name="adj"/>
            </a:avLst>
          </a:prstGeom>
          <a:solidFill>
            <a:srgbClr val="1565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CURRENT BUILD</a:t>
            </a:r>
            <a:endParaRPr/>
          </a:p>
        </p:txBody>
      </p:sp>
      <p:sp>
        <p:nvSpPr>
          <p:cNvPr id="1053" name="Google Shape;1053;p54"/>
          <p:cNvSpPr txBox="1"/>
          <p:nvPr/>
        </p:nvSpPr>
        <p:spPr>
          <a:xfrm>
            <a:off x="201168" y="3044952"/>
            <a:ext cx="2706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-80000" lvl="0" marL="8000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DualSPHysics benchmark: PASS</a:t>
            </a:r>
            <a:endParaRPr/>
          </a:p>
          <a:p>
            <a:pPr indent="-80000" lvl="0" marL="80000" marR="0" rtl="0" algn="l">
              <a:lnSpc>
                <a:spcPct val="92000"/>
              </a:lnSpc>
              <a:spcBef>
                <a:spcPts val="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Reduced-scale Tehri SPH (~15.5k particles)</a:t>
            </a:r>
            <a:endParaRPr/>
          </a:p>
          <a:p>
            <a:pPr indent="-80000" lvl="0" marL="80000" marR="0" rtl="0" algn="l">
              <a:lnSpc>
                <a:spcPct val="92000"/>
              </a:lnSpc>
              <a:spcBef>
                <a:spcPts val="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Delft3D / ANUGA routing on the 30 m DEM</a:t>
            </a:r>
            <a:endParaRPr/>
          </a:p>
        </p:txBody>
      </p:sp>
      <p:sp>
        <p:nvSpPr>
          <p:cNvPr id="1054" name="Google Shape;1054;p54"/>
          <p:cNvSpPr/>
          <p:nvPr/>
        </p:nvSpPr>
        <p:spPr>
          <a:xfrm>
            <a:off x="3108960" y="2688336"/>
            <a:ext cx="2926080" cy="731520"/>
          </a:xfrm>
          <a:prstGeom prst="roundRect">
            <a:avLst>
              <a:gd fmla="val 6000" name="adj"/>
            </a:avLst>
          </a:prstGeom>
          <a:solidFill>
            <a:srgbClr val="EDF7EE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.png" id="1055" name="Google Shape;1055;p5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200400" y="27614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54"/>
          <p:cNvSpPr txBox="1"/>
          <p:nvPr/>
        </p:nvSpPr>
        <p:spPr>
          <a:xfrm>
            <a:off x="3493008" y="272491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GPU Workstation</a:t>
            </a:r>
            <a:endParaRPr/>
          </a:p>
        </p:txBody>
      </p:sp>
      <p:sp>
        <p:nvSpPr>
          <p:cNvPr id="1057" name="Google Shape;1057;p54"/>
          <p:cNvSpPr txBox="1"/>
          <p:nvPr/>
        </p:nvSpPr>
        <p:spPr>
          <a:xfrm>
            <a:off x="3493008" y="2880360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62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1× NVIDIA GPU (8–24 GB) · 8–16 cores · 32–64 GB RAM</a:t>
            </a:r>
            <a:endParaRPr/>
          </a:p>
        </p:txBody>
      </p:sp>
      <p:sp>
        <p:nvSpPr>
          <p:cNvPr id="1058" name="Google Shape;1058;p54"/>
          <p:cNvSpPr/>
          <p:nvPr/>
        </p:nvSpPr>
        <p:spPr>
          <a:xfrm>
            <a:off x="5010912" y="2743200"/>
            <a:ext cx="950976" cy="137160"/>
          </a:xfrm>
          <a:prstGeom prst="roundRect">
            <a:avLst>
              <a:gd fmla="val 4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/>
          </a:p>
        </p:txBody>
      </p:sp>
      <p:sp>
        <p:nvSpPr>
          <p:cNvPr id="1059" name="Google Shape;1059;p54"/>
          <p:cNvSpPr txBox="1"/>
          <p:nvPr/>
        </p:nvSpPr>
        <p:spPr>
          <a:xfrm>
            <a:off x="3218688" y="3044952"/>
            <a:ext cx="2706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-80000" lvl="0" marL="8000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Full-head Tehri SPH (196 m head)</a:t>
            </a:r>
            <a:endParaRPr/>
          </a:p>
          <a:p>
            <a:pPr indent="-80000" lvl="0" marL="80000" marR="0" rtl="0" algn="l">
              <a:lnSpc>
                <a:spcPct val="92000"/>
              </a:lnSpc>
              <a:spcBef>
                <a:spcPts val="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~48–145 M particles, set by VRAM</a:t>
            </a:r>
            <a:endParaRPr/>
          </a:p>
          <a:p>
            <a:pPr indent="-80000" lvl="0" marL="80000" marR="0" rtl="0" algn="l">
              <a:lnSpc>
                <a:spcPct val="92000"/>
              </a:lnSpc>
              <a:spcBef>
                <a:spcPts val="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Delft3D / ANUGA in parallel on all cores</a:t>
            </a:r>
            <a:endParaRPr/>
          </a:p>
        </p:txBody>
      </p:sp>
      <p:sp>
        <p:nvSpPr>
          <p:cNvPr id="1060" name="Google Shape;1060;p54"/>
          <p:cNvSpPr txBox="1"/>
          <p:nvPr/>
        </p:nvSpPr>
        <p:spPr>
          <a:xfrm>
            <a:off x="5120640" y="3273552"/>
            <a:ext cx="84124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8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Domínguez 2022</a:t>
            </a:r>
            <a:endParaRPr/>
          </a:p>
        </p:txBody>
      </p:sp>
      <p:sp>
        <p:nvSpPr>
          <p:cNvPr id="1061" name="Google Shape;1061;p54"/>
          <p:cNvSpPr/>
          <p:nvPr/>
        </p:nvSpPr>
        <p:spPr>
          <a:xfrm>
            <a:off x="6126480" y="2688336"/>
            <a:ext cx="2926080" cy="731520"/>
          </a:xfrm>
          <a:prstGeom prst="roundRect">
            <a:avLst>
              <a:gd fmla="val 6000" name="adj"/>
            </a:avLst>
          </a:prstGeom>
          <a:solidFill>
            <a:srgbClr val="F5EEF8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rver.png" id="1062" name="Google Shape;1062;p5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217920" y="27614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54"/>
          <p:cNvSpPr txBox="1"/>
          <p:nvPr/>
        </p:nvSpPr>
        <p:spPr>
          <a:xfrm>
            <a:off x="6510528" y="272491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HPC / Multi-GPU</a:t>
            </a:r>
            <a:endParaRPr/>
          </a:p>
        </p:txBody>
      </p:sp>
      <p:sp>
        <p:nvSpPr>
          <p:cNvPr id="1064" name="Google Shape;1064;p54"/>
          <p:cNvSpPr txBox="1"/>
          <p:nvPr/>
        </p:nvSpPr>
        <p:spPr>
          <a:xfrm>
            <a:off x="6510528" y="2880360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62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Multi-GPU nodes linked with MPI (e.g. C-DAC)</a:t>
            </a:r>
            <a:endParaRPr/>
          </a:p>
        </p:txBody>
      </p:sp>
      <p:sp>
        <p:nvSpPr>
          <p:cNvPr id="1065" name="Google Shape;1065;p54"/>
          <p:cNvSpPr/>
          <p:nvPr/>
        </p:nvSpPr>
        <p:spPr>
          <a:xfrm>
            <a:off x="8028432" y="2743200"/>
            <a:ext cx="950976" cy="137160"/>
          </a:xfrm>
          <a:prstGeom prst="roundRect">
            <a:avLst>
              <a:gd fmla="val 40000" name="adj"/>
            </a:avLst>
          </a:prstGeom>
          <a:solidFill>
            <a:srgbClr val="6A1B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NATIONAL SCALE</a:t>
            </a:r>
            <a:endParaRPr/>
          </a:p>
        </p:txBody>
      </p:sp>
      <p:sp>
        <p:nvSpPr>
          <p:cNvPr id="1066" name="Google Shape;1066;p54"/>
          <p:cNvSpPr txBox="1"/>
          <p:nvPr/>
        </p:nvSpPr>
        <p:spPr>
          <a:xfrm>
            <a:off x="6236208" y="3044952"/>
            <a:ext cx="2706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-80000" lvl="0" marL="8000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&gt; 1,000 M particles (multi-GPU SPH)</a:t>
            </a:r>
            <a:endParaRPr/>
          </a:p>
          <a:p>
            <a:pPr indent="-80000" lvl="0" marL="80000" marR="0" rtl="0" algn="l">
              <a:lnSpc>
                <a:spcPct val="92000"/>
              </a:lnSpc>
              <a:spcBef>
                <a:spcPts val="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Many dams &amp; scenarios in parallel</a:t>
            </a:r>
            <a:endParaRPr/>
          </a:p>
          <a:p>
            <a:pPr indent="-80000" lvl="0" marL="80000" marR="0" rtl="0" algn="l">
              <a:lnSpc>
                <a:spcPct val="92000"/>
              </a:lnSpc>
              <a:spcBef>
                <a:spcPts val="50"/>
              </a:spcBef>
              <a:spcAft>
                <a:spcPts val="0"/>
              </a:spcAft>
              <a:buClr>
                <a:srgbClr val="1F1F1F"/>
              </a:buClr>
              <a:buSzPts val="700"/>
              <a:buFont typeface="Arial"/>
              <a:buChar char="•"/>
            </a:pPr>
            <a:r>
              <a:rPr b="0" i="0" lang="en" sz="7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Basin-wide / state-wide planning</a:t>
            </a:r>
            <a:endParaRPr/>
          </a:p>
        </p:txBody>
      </p:sp>
      <p:sp>
        <p:nvSpPr>
          <p:cNvPr id="1067" name="Google Shape;1067;p54"/>
          <p:cNvSpPr txBox="1"/>
          <p:nvPr/>
        </p:nvSpPr>
        <p:spPr>
          <a:xfrm>
            <a:off x="8138160" y="3273552"/>
            <a:ext cx="84124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8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/>
              </a:rPr>
              <a:t>Domínguez 2022</a:t>
            </a:r>
            <a:endParaRPr/>
          </a:p>
        </p:txBody>
      </p:sp>
      <p:sp>
        <p:nvSpPr>
          <p:cNvPr id="1068" name="Google Shape;1068;p54"/>
          <p:cNvSpPr/>
          <p:nvPr/>
        </p:nvSpPr>
        <p:spPr>
          <a:xfrm>
            <a:off x="91440" y="3511296"/>
            <a:ext cx="8961120" cy="219456"/>
          </a:xfrm>
          <a:prstGeom prst="roundRect">
            <a:avLst>
              <a:gd fmla="val 20000" name="adj"/>
            </a:avLst>
          </a:prstGeom>
          <a:solidFill>
            <a:srgbClr val="5E35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54"/>
          <p:cNvSpPr/>
          <p:nvPr/>
        </p:nvSpPr>
        <p:spPr>
          <a:xfrm>
            <a:off x="137160" y="353872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E35B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70" name="Google Shape;1070;p54"/>
          <p:cNvSpPr txBox="1"/>
          <p:nvPr/>
        </p:nvSpPr>
        <p:spPr>
          <a:xfrm>
            <a:off x="356616" y="3511296"/>
            <a:ext cx="8659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FEASIBILITY WORKFLOW</a:t>
            </a:r>
            <a:r>
              <a:rPr b="0" i="1" lang="en" sz="680" u="none" cap="none" strike="noStrike">
                <a:solidFill>
                  <a:srgbClr val="E6EEF7"/>
                </a:solidFill>
                <a:latin typeface="Calibri"/>
                <a:ea typeface="Calibri"/>
                <a:cs typeface="Calibri"/>
                <a:sym typeface="Calibri"/>
              </a:rPr>
              <a:t>   where each specification is used</a:t>
            </a:r>
            <a:endParaRPr/>
          </a:p>
        </p:txBody>
      </p:sp>
      <p:sp>
        <p:nvSpPr>
          <p:cNvPr id="1071" name="Google Shape;1071;p54"/>
          <p:cNvSpPr/>
          <p:nvPr/>
        </p:nvSpPr>
        <p:spPr>
          <a:xfrm>
            <a:off x="91440" y="3767328"/>
            <a:ext cx="1631289" cy="43891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lder.png" id="1072" name="Google Shape;1072;p5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64592" y="3877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54"/>
          <p:cNvSpPr txBox="1"/>
          <p:nvPr/>
        </p:nvSpPr>
        <p:spPr>
          <a:xfrm>
            <a:off x="438912" y="3794760"/>
            <a:ext cx="124724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Input data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DEM, rivers, dam data</a:t>
            </a:r>
            <a:endParaRPr/>
          </a:p>
        </p:txBody>
      </p:sp>
      <p:sp>
        <p:nvSpPr>
          <p:cNvPr id="1074" name="Google Shape;1074;p54"/>
          <p:cNvSpPr/>
          <p:nvPr/>
        </p:nvSpPr>
        <p:spPr>
          <a:xfrm>
            <a:off x="438912" y="4069080"/>
            <a:ext cx="1210665" cy="118872"/>
          </a:xfrm>
          <a:prstGeom prst="roundRect">
            <a:avLst>
              <a:gd fmla="val 40000" name="adj"/>
            </a:avLst>
          </a:prstGeom>
          <a:solidFill>
            <a:srgbClr val="1565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Uses: SSD</a:t>
            </a:r>
            <a:endParaRPr/>
          </a:p>
        </p:txBody>
      </p:sp>
      <p:cxnSp>
        <p:nvCxnSpPr>
          <p:cNvPr id="1075" name="Google Shape;1075;p54"/>
          <p:cNvCxnSpPr/>
          <p:nvPr/>
        </p:nvCxnSpPr>
        <p:spPr>
          <a:xfrm>
            <a:off x="1741017" y="3986784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6" name="Google Shape;1076;p54"/>
          <p:cNvSpPr/>
          <p:nvPr/>
        </p:nvSpPr>
        <p:spPr>
          <a:xfrm>
            <a:off x="1923897" y="3767328"/>
            <a:ext cx="1631289" cy="43891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h.png" id="1077" name="Google Shape;1077;p5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997049" y="3877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54"/>
          <p:cNvSpPr txBox="1"/>
          <p:nvPr/>
        </p:nvSpPr>
        <p:spPr>
          <a:xfrm>
            <a:off x="2271369" y="3794760"/>
            <a:ext cx="124724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Near-field SPH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DualSPHysics breach flow</a:t>
            </a:r>
            <a:endParaRPr/>
          </a:p>
        </p:txBody>
      </p:sp>
      <p:sp>
        <p:nvSpPr>
          <p:cNvPr id="1079" name="Google Shape;1079;p54"/>
          <p:cNvSpPr/>
          <p:nvPr/>
        </p:nvSpPr>
        <p:spPr>
          <a:xfrm>
            <a:off x="2271369" y="4069080"/>
            <a:ext cx="1210665" cy="118872"/>
          </a:xfrm>
          <a:prstGeom prst="roundRect">
            <a:avLst>
              <a:gd fmla="val 40000" name="adj"/>
            </a:avLst>
          </a:prstGeom>
          <a:solidFill>
            <a:srgbClr val="E651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Uses: GPU + VRAM</a:t>
            </a:r>
            <a:endParaRPr/>
          </a:p>
        </p:txBody>
      </p:sp>
      <p:cxnSp>
        <p:nvCxnSpPr>
          <p:cNvPr id="1080" name="Google Shape;1080;p54"/>
          <p:cNvCxnSpPr/>
          <p:nvPr/>
        </p:nvCxnSpPr>
        <p:spPr>
          <a:xfrm>
            <a:off x="3573475" y="3986784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81" name="Google Shape;1081;p54"/>
          <p:cNvSpPr/>
          <p:nvPr/>
        </p:nvSpPr>
        <p:spPr>
          <a:xfrm>
            <a:off x="3756355" y="3767328"/>
            <a:ext cx="1631289" cy="43891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1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ve.png" id="1082" name="Google Shape;1082;p5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829507" y="3877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54"/>
          <p:cNvSpPr txBox="1"/>
          <p:nvPr/>
        </p:nvSpPr>
        <p:spPr>
          <a:xfrm>
            <a:off x="4103827" y="3794760"/>
            <a:ext cx="124724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1E6FD9"/>
                </a:solidFill>
                <a:latin typeface="Calibri"/>
                <a:ea typeface="Calibri"/>
                <a:cs typeface="Calibri"/>
                <a:sym typeface="Calibri"/>
              </a:rPr>
              <a:t>Downstream routing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Delft3D / ANUGA 2D</a:t>
            </a:r>
            <a:endParaRPr/>
          </a:p>
        </p:txBody>
      </p:sp>
      <p:sp>
        <p:nvSpPr>
          <p:cNvPr id="1084" name="Google Shape;1084;p54"/>
          <p:cNvSpPr/>
          <p:nvPr/>
        </p:nvSpPr>
        <p:spPr>
          <a:xfrm>
            <a:off x="4103827" y="4069080"/>
            <a:ext cx="1210665" cy="118872"/>
          </a:xfrm>
          <a:prstGeom prst="roundRect">
            <a:avLst>
              <a:gd fmla="val 40000" name="adj"/>
            </a:avLst>
          </a:prstGeom>
          <a:solidFill>
            <a:srgbClr val="1E6F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Uses: CPU cores + RAM</a:t>
            </a:r>
            <a:endParaRPr/>
          </a:p>
        </p:txBody>
      </p:sp>
      <p:cxnSp>
        <p:nvCxnSpPr>
          <p:cNvPr id="1085" name="Google Shape;1085;p54"/>
          <p:cNvCxnSpPr/>
          <p:nvPr/>
        </p:nvCxnSpPr>
        <p:spPr>
          <a:xfrm>
            <a:off x="5405932" y="3986784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86" name="Google Shape;1086;p54"/>
          <p:cNvSpPr/>
          <p:nvPr/>
        </p:nvSpPr>
        <p:spPr>
          <a:xfrm>
            <a:off x="5588812" y="3767328"/>
            <a:ext cx="1631289" cy="43891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.png" id="1087" name="Google Shape;1087;p5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61964" y="3877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54"/>
          <p:cNvSpPr txBox="1"/>
          <p:nvPr/>
        </p:nvSpPr>
        <p:spPr>
          <a:xfrm>
            <a:off x="5936284" y="3794760"/>
            <a:ext cx="124724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Visualisation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3D terrain + 2D map</a:t>
            </a:r>
            <a:endParaRPr/>
          </a:p>
        </p:txBody>
      </p:sp>
      <p:sp>
        <p:nvSpPr>
          <p:cNvPr id="1089" name="Google Shape;1089;p54"/>
          <p:cNvSpPr/>
          <p:nvPr/>
        </p:nvSpPr>
        <p:spPr>
          <a:xfrm>
            <a:off x="5936284" y="4069080"/>
            <a:ext cx="1210665" cy="118872"/>
          </a:xfrm>
          <a:prstGeom prst="roundRect">
            <a:avLst>
              <a:gd fmla="val 4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Uses: GPU (WebGL)</a:t>
            </a:r>
            <a:endParaRPr/>
          </a:p>
        </p:txBody>
      </p:sp>
      <p:cxnSp>
        <p:nvCxnSpPr>
          <p:cNvPr id="1090" name="Google Shape;1090;p54"/>
          <p:cNvCxnSpPr/>
          <p:nvPr/>
        </p:nvCxnSpPr>
        <p:spPr>
          <a:xfrm>
            <a:off x="7238390" y="3986784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91" name="Google Shape;1091;p54"/>
          <p:cNvSpPr/>
          <p:nvPr/>
        </p:nvSpPr>
        <p:spPr>
          <a:xfrm>
            <a:off x="7421270" y="3767328"/>
            <a:ext cx="1631289" cy="43891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p.png" id="1092" name="Google Shape;1092;p5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494422" y="3877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54"/>
          <p:cNvSpPr txBox="1"/>
          <p:nvPr/>
        </p:nvSpPr>
        <p:spPr>
          <a:xfrm>
            <a:off x="7768742" y="3794760"/>
            <a:ext cx="124724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Automated report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PDF · CSV · GIS export</a:t>
            </a:r>
            <a:endParaRPr/>
          </a:p>
        </p:txBody>
      </p:sp>
      <p:sp>
        <p:nvSpPr>
          <p:cNvPr id="1094" name="Google Shape;1094;p54"/>
          <p:cNvSpPr/>
          <p:nvPr/>
        </p:nvSpPr>
        <p:spPr>
          <a:xfrm>
            <a:off x="7768742" y="4069080"/>
            <a:ext cx="1210665" cy="118872"/>
          </a:xfrm>
          <a:prstGeom prst="roundRect">
            <a:avLst>
              <a:gd fmla="val 40000" name="adj"/>
            </a:avLst>
          </a:prstGeom>
          <a:solidFill>
            <a:srgbClr val="6A1B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Uses: CPU</a:t>
            </a:r>
            <a:endParaRPr/>
          </a:p>
        </p:txBody>
      </p:sp>
      <p:sp>
        <p:nvSpPr>
          <p:cNvPr id="1095" name="Google Shape;1095;p54"/>
          <p:cNvSpPr/>
          <p:nvPr/>
        </p:nvSpPr>
        <p:spPr>
          <a:xfrm>
            <a:off x="91440" y="4297679"/>
            <a:ext cx="4617720" cy="219456"/>
          </a:xfrm>
          <a:prstGeom prst="roundRect">
            <a:avLst>
              <a:gd fmla="val 20000" name="adj"/>
            </a:avLst>
          </a:prstGeom>
          <a:solidFill>
            <a:srgbClr val="A04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54"/>
          <p:cNvSpPr/>
          <p:nvPr/>
        </p:nvSpPr>
        <p:spPr>
          <a:xfrm>
            <a:off x="137160" y="432511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0400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97" name="Google Shape;1097;p54"/>
          <p:cNvSpPr txBox="1"/>
          <p:nvPr/>
        </p:nvSpPr>
        <p:spPr>
          <a:xfrm>
            <a:off x="356616" y="4297679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 DEPLOYMENT</a:t>
            </a:r>
            <a:r>
              <a:rPr b="0" i="1" lang="en" sz="680" u="none" cap="none" strike="noStrike">
                <a:solidFill>
                  <a:srgbClr val="E6EEF7"/>
                </a:solidFill>
                <a:latin typeface="Calibri"/>
                <a:ea typeface="Calibri"/>
                <a:cs typeface="Calibri"/>
                <a:sym typeface="Calibri"/>
              </a:rPr>
              <a:t>   runs after one-time data download</a:t>
            </a:r>
            <a:endParaRPr/>
          </a:p>
        </p:txBody>
      </p:sp>
      <p:sp>
        <p:nvSpPr>
          <p:cNvPr id="1098" name="Google Shape;1098;p54"/>
          <p:cNvSpPr/>
          <p:nvPr/>
        </p:nvSpPr>
        <p:spPr>
          <a:xfrm>
            <a:off x="91440" y="4553712"/>
            <a:ext cx="1099566" cy="548640"/>
          </a:xfrm>
          <a:prstGeom prst="roundRect">
            <a:avLst>
              <a:gd fmla="val 10000" name="adj"/>
            </a:avLst>
          </a:prstGeom>
          <a:solidFill>
            <a:srgbClr val="FDF3EC"/>
          </a:solidFill>
          <a:ln cap="flat" cmpd="sng" w="9525">
            <a:solidFill>
              <a:srgbClr val="F0C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b.png" id="1099" name="Google Shape;1099;p5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55448" y="474573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54"/>
          <p:cNvSpPr txBox="1"/>
          <p:nvPr/>
        </p:nvSpPr>
        <p:spPr>
          <a:xfrm>
            <a:off x="365760" y="4553712"/>
            <a:ext cx="806957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0400F"/>
                </a:solidFill>
                <a:latin typeface="Calibri"/>
                <a:ea typeface="Calibri"/>
                <a:cs typeface="Calibri"/>
                <a:sym typeface="Calibri"/>
              </a:rPr>
              <a:t>Local data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Checksummed datasets</a:t>
            </a:r>
            <a:endParaRPr/>
          </a:p>
        </p:txBody>
      </p:sp>
      <p:sp>
        <p:nvSpPr>
          <p:cNvPr id="1101" name="Google Shape;1101;p54"/>
          <p:cNvSpPr/>
          <p:nvPr/>
        </p:nvSpPr>
        <p:spPr>
          <a:xfrm>
            <a:off x="1264158" y="4553712"/>
            <a:ext cx="1099566" cy="548640"/>
          </a:xfrm>
          <a:prstGeom prst="roundRect">
            <a:avLst>
              <a:gd fmla="val 10000" name="adj"/>
            </a:avLst>
          </a:prstGeom>
          <a:solidFill>
            <a:srgbClr val="FDF3EC"/>
          </a:solidFill>
          <a:ln cap="flat" cmpd="sng" w="9525">
            <a:solidFill>
              <a:srgbClr val="F0C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gs.png" id="1102" name="Google Shape;1102;p5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328166" y="474573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54"/>
          <p:cNvSpPr txBox="1"/>
          <p:nvPr/>
        </p:nvSpPr>
        <p:spPr>
          <a:xfrm>
            <a:off x="1538478" y="4553712"/>
            <a:ext cx="806957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0400F"/>
                </a:solidFill>
                <a:latin typeface="Calibri"/>
                <a:ea typeface="Calibri"/>
                <a:cs typeface="Calibri"/>
                <a:sym typeface="Calibri"/>
              </a:rPr>
              <a:t>Local models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SPH + Delft3D / ANUGA</a:t>
            </a:r>
            <a:endParaRPr/>
          </a:p>
        </p:txBody>
      </p:sp>
      <p:sp>
        <p:nvSpPr>
          <p:cNvPr id="1104" name="Google Shape;1104;p54"/>
          <p:cNvSpPr/>
          <p:nvPr/>
        </p:nvSpPr>
        <p:spPr>
          <a:xfrm>
            <a:off x="2436876" y="4553712"/>
            <a:ext cx="1099566" cy="548640"/>
          </a:xfrm>
          <a:prstGeom prst="roundRect">
            <a:avLst>
              <a:gd fmla="val 10000" name="adj"/>
            </a:avLst>
          </a:prstGeom>
          <a:solidFill>
            <a:srgbClr val="FDF3EC"/>
          </a:solidFill>
          <a:ln cap="flat" cmpd="sng" w="9525">
            <a:solidFill>
              <a:srgbClr val="F0C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pu.png" id="1105" name="Google Shape;1105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00884" y="474573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54"/>
          <p:cNvSpPr txBox="1"/>
          <p:nvPr/>
        </p:nvSpPr>
        <p:spPr>
          <a:xfrm>
            <a:off x="2711196" y="4553712"/>
            <a:ext cx="806957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0400F"/>
                </a:solidFill>
                <a:latin typeface="Calibri"/>
                <a:ea typeface="Calibri"/>
                <a:cs typeface="Calibri"/>
                <a:sym typeface="Calibri"/>
              </a:rPr>
              <a:t>Local compute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Own CPU / GPU</a:t>
            </a:r>
            <a:endParaRPr/>
          </a:p>
        </p:txBody>
      </p:sp>
      <p:sp>
        <p:nvSpPr>
          <p:cNvPr id="1107" name="Google Shape;1107;p54"/>
          <p:cNvSpPr/>
          <p:nvPr/>
        </p:nvSpPr>
        <p:spPr>
          <a:xfrm>
            <a:off x="3609594" y="4553712"/>
            <a:ext cx="1099566" cy="548640"/>
          </a:xfrm>
          <a:prstGeom prst="roundRect">
            <a:avLst>
              <a:gd fmla="val 10000" name="adj"/>
            </a:avLst>
          </a:prstGeom>
          <a:solidFill>
            <a:srgbClr val="FDF3EC"/>
          </a:solidFill>
          <a:ln cap="flat" cmpd="sng" w="9525">
            <a:solidFill>
              <a:srgbClr val="F0C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.png" id="1108" name="Google Shape;1108;p5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673602" y="474573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54"/>
          <p:cNvSpPr txBox="1"/>
          <p:nvPr/>
        </p:nvSpPr>
        <p:spPr>
          <a:xfrm>
            <a:off x="3883914" y="4553712"/>
            <a:ext cx="806957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0400F"/>
                </a:solidFill>
                <a:latin typeface="Calibri"/>
                <a:ea typeface="Calibri"/>
                <a:cs typeface="Calibri"/>
                <a:sym typeface="Calibri"/>
              </a:rPr>
              <a:t>Local reports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Maps + PDF/CSV/GIS</a:t>
            </a:r>
            <a:endParaRPr/>
          </a:p>
        </p:txBody>
      </p:sp>
      <p:sp>
        <p:nvSpPr>
          <p:cNvPr id="1110" name="Google Shape;1110;p54"/>
          <p:cNvSpPr/>
          <p:nvPr/>
        </p:nvSpPr>
        <p:spPr>
          <a:xfrm>
            <a:off x="4800599" y="4297679"/>
            <a:ext cx="4251960" cy="219456"/>
          </a:xfrm>
          <a:prstGeom prst="roundRect">
            <a:avLst>
              <a:gd fmla="val 20000" name="adj"/>
            </a:avLst>
          </a:prstGeom>
          <a:solidFill>
            <a:srgbClr val="1F4E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54"/>
          <p:cNvSpPr/>
          <p:nvPr/>
        </p:nvSpPr>
        <p:spPr>
          <a:xfrm>
            <a:off x="4846319" y="432511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4E9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12" name="Google Shape;1112;p54"/>
          <p:cNvSpPr txBox="1"/>
          <p:nvPr/>
        </p:nvSpPr>
        <p:spPr>
          <a:xfrm>
            <a:off x="5065775" y="4297679"/>
            <a:ext cx="39502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NIYANTA IS FEASIBLE</a:t>
            </a:r>
            <a:endParaRPr/>
          </a:p>
        </p:txBody>
      </p:sp>
      <p:sp>
        <p:nvSpPr>
          <p:cNvPr id="1113" name="Google Shape;1113;p54"/>
          <p:cNvSpPr/>
          <p:nvPr/>
        </p:nvSpPr>
        <p:spPr>
          <a:xfrm>
            <a:off x="4800599" y="4553712"/>
            <a:ext cx="4251960" cy="548640"/>
          </a:xfrm>
          <a:prstGeom prst="roundRect">
            <a:avLst>
              <a:gd fmla="val 6000" name="adj"/>
            </a:avLst>
          </a:prstGeom>
          <a:solidFill>
            <a:srgbClr val="F1F6FC"/>
          </a:solidFill>
          <a:ln cap="flat" cmpd="sng" w="9525">
            <a:solidFill>
              <a:srgbClr val="CF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.png" id="1114" name="Google Shape;1114;p5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892040" y="4620767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54"/>
          <p:cNvSpPr txBox="1"/>
          <p:nvPr/>
        </p:nvSpPr>
        <p:spPr>
          <a:xfrm>
            <a:off x="5038343" y="4599431"/>
            <a:ext cx="1869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Open-source solvers (SPH, Delft3D, ANUGA)</a:t>
            </a:r>
            <a:endParaRPr/>
          </a:p>
        </p:txBody>
      </p:sp>
      <p:pic>
        <p:nvPicPr>
          <p:cNvPr descr="check.png" id="1116" name="Google Shape;1116;p5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892040" y="4773168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54"/>
          <p:cNvSpPr txBox="1"/>
          <p:nvPr/>
        </p:nvSpPr>
        <p:spPr>
          <a:xfrm>
            <a:off x="5038343" y="4751832"/>
            <a:ext cx="1869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Free, checksummed open data</a:t>
            </a:r>
            <a:endParaRPr/>
          </a:p>
        </p:txBody>
      </p:sp>
      <p:pic>
        <p:nvPicPr>
          <p:cNvPr descr="check.png" id="1118" name="Google Shape;1118;p5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892040" y="4925568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54"/>
          <p:cNvSpPr txBox="1"/>
          <p:nvPr/>
        </p:nvSpPr>
        <p:spPr>
          <a:xfrm>
            <a:off x="5038343" y="4904232"/>
            <a:ext cx="1869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Runs on one GPU workstation</a:t>
            </a:r>
            <a:endParaRPr/>
          </a:p>
        </p:txBody>
      </p:sp>
      <p:pic>
        <p:nvPicPr>
          <p:cNvPr descr="check.png" id="1120" name="Google Shape;1120;p5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944868" y="4620767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54"/>
          <p:cNvSpPr txBox="1"/>
          <p:nvPr/>
        </p:nvSpPr>
        <p:spPr>
          <a:xfrm>
            <a:off x="7091171" y="4599431"/>
            <a:ext cx="1869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Scales to HPC for national use</a:t>
            </a:r>
            <a:endParaRPr/>
          </a:p>
        </p:txBody>
      </p:sp>
      <p:pic>
        <p:nvPicPr>
          <p:cNvPr descr="check.png" id="1122" name="Google Shape;1122;p5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944868" y="4773168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54"/>
          <p:cNvSpPr txBox="1"/>
          <p:nvPr/>
        </p:nvSpPr>
        <p:spPr>
          <a:xfrm>
            <a:off x="7091171" y="4751832"/>
            <a:ext cx="1869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Benchmark PASS · 22/22 tests</a:t>
            </a:r>
            <a:endParaRPr/>
          </a:p>
        </p:txBody>
      </p:sp>
      <p:pic>
        <p:nvPicPr>
          <p:cNvPr descr="check.png" id="1124" name="Google Shape;1124;p5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944868" y="4925568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54"/>
          <p:cNvSpPr txBox="1"/>
          <p:nvPr/>
        </p:nvSpPr>
        <p:spPr>
          <a:xfrm>
            <a:off x="7091171" y="4904232"/>
            <a:ext cx="1869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Peak flow matches Tehri study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5"/>
          <p:cNvSpPr/>
          <p:nvPr/>
        </p:nvSpPr>
        <p:spPr>
          <a:xfrm>
            <a:off x="1828" y="2743"/>
            <a:ext cx="9144000" cy="446227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iy_logo.png" id="1131" name="Google Shape;113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4" y="7315"/>
            <a:ext cx="435254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55"/>
          <p:cNvSpPr txBox="1"/>
          <p:nvPr/>
        </p:nvSpPr>
        <p:spPr>
          <a:xfrm>
            <a:off x="621792" y="731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</a:t>
            </a:r>
            <a:endParaRPr/>
          </a:p>
        </p:txBody>
      </p:sp>
      <p:sp>
        <p:nvSpPr>
          <p:cNvPr id="1133" name="Google Shape;1133;p55"/>
          <p:cNvSpPr txBox="1"/>
          <p:nvPr/>
        </p:nvSpPr>
        <p:spPr>
          <a:xfrm>
            <a:off x="2194560" y="45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/>
          </a:p>
        </p:txBody>
      </p:sp>
      <p:pic>
        <p:nvPicPr>
          <p:cNvPr descr="sih.png" id="1134" name="Google Shape;113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153" y="0"/>
            <a:ext cx="1533448" cy="4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55"/>
          <p:cNvSpPr/>
          <p:nvPr/>
        </p:nvSpPr>
        <p:spPr>
          <a:xfrm>
            <a:off x="43891" y="475488"/>
            <a:ext cx="9038844" cy="27432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5"/>
          <p:cNvSpPr txBox="1"/>
          <p:nvPr/>
        </p:nvSpPr>
        <p:spPr>
          <a:xfrm>
            <a:off x="91440" y="475488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NIYANTA - </a:t>
            </a:r>
            <a:r>
              <a:rPr b="0" i="1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on published research.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Every model, number and result traceable to a source.</a:t>
            </a:r>
            <a:endParaRPr/>
          </a:p>
        </p:txBody>
      </p:sp>
      <p:sp>
        <p:nvSpPr>
          <p:cNvPr id="1137" name="Google Shape;1137;p55"/>
          <p:cNvSpPr/>
          <p:nvPr/>
        </p:nvSpPr>
        <p:spPr>
          <a:xfrm>
            <a:off x="76702" y="815641"/>
            <a:ext cx="4470643" cy="175506"/>
          </a:xfrm>
          <a:prstGeom prst="roundRect">
            <a:avLst>
              <a:gd fmla="val 15000" name="adj"/>
            </a:avLst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doc.png" id="1138" name="Google Shape;113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54" y="83481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55"/>
          <p:cNvSpPr txBox="1"/>
          <p:nvPr/>
        </p:nvSpPr>
        <p:spPr>
          <a:xfrm>
            <a:off x="317766" y="815641"/>
            <a:ext cx="4196707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KEY RESEARCH REFERENCES</a:t>
            </a:r>
            <a:endParaRPr/>
          </a:p>
        </p:txBody>
      </p:sp>
      <p:sp>
        <p:nvSpPr>
          <p:cNvPr id="1140" name="Google Shape;1140;p55"/>
          <p:cNvSpPr/>
          <p:nvPr/>
        </p:nvSpPr>
        <p:spPr>
          <a:xfrm>
            <a:off x="76702" y="1002116"/>
            <a:ext cx="4470643" cy="191959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55"/>
          <p:cNvSpPr txBox="1"/>
          <p:nvPr/>
        </p:nvSpPr>
        <p:spPr>
          <a:xfrm>
            <a:off x="120532" y="1018570"/>
            <a:ext cx="44049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-91440" lvl="0" marL="9144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lang="en" sz="71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Madamsetty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R., Praveen, T.V., Surya Rao, S., &amp; </a:t>
            </a:r>
            <a:r>
              <a:rPr lang="en" sz="71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Manjula Vani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K. </a:t>
            </a:r>
            <a:r>
              <a:rPr b="0" i="0" lang="en" sz="71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(2010)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Tehri Dam-Breach Versus Monsoon Flood Routing in the Ganga River System. ISH Journal of Hydraulic Engineering, 16(1), 109–131.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https://doi.org/10.1080/09715010.2010.10514992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Crespo, A.J.C., Domínguez, J.M., Rogers, B.D., et al. (2015). </a:t>
            </a:r>
            <a:r>
              <a:rPr b="0" i="0" lang="en" sz="710" u="sng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DualSPHysics: Open-source parallel CFD solver based on Smoothed Particle Hydrodynamics (SPH)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Computer Physics Communications, 187, 204–216.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https://doi.org/10.1016/j.cpc.2014.10.004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Froehlich, D.C. (2008). </a:t>
            </a:r>
            <a:r>
              <a:rPr b="0" i="0" lang="en" sz="710" u="sng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Embankment Dam Breach Parameters and Their Uncertainties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Journal of Hydraulic Engineering, ASCE, 134(12), 1708–1721.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https://doi.org/10.1061/(ASCE)0733-9429(2008)134:12(1708)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Kernkamp, H.W.J., van Dam, A., Stelling, G.S., &amp; de Goede, E.D. (2011). </a:t>
            </a:r>
            <a:r>
              <a:rPr b="0" i="0" lang="en" sz="710" u="sng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scheme for the shallow water equations on unstructured grids (Delft3D Flexible Mesh)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Ocean Dynamics, 61, 1175–1188.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https://doi.org/10.1007/s10236-011-0423-6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Roberts, S., Nielsen, O., Gray, D., &amp; Sexton, J. </a:t>
            </a:r>
            <a:r>
              <a:rPr b="0" i="0" lang="en" sz="710" u="sng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ANUGA User Manual</a:t>
            </a: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Geoscience Australia &amp; ANU.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https://github.com/GeoscienceAustralia/anuga_core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Geospatial Investigation of the Rishiganga Disaster in Uttarakhand, India (2024).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ResearchGate – publication 382327177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Debris-Flow and Glacial Lake Outburst Studies.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https://www.sciencedirect.com/science/article/pii/S2667010021003759</a:t>
            </a:r>
            <a:endParaRPr/>
          </a:p>
          <a:p>
            <a:pPr indent="-91440" lvl="0" marL="91440" marR="0" rtl="0" algn="l">
              <a:lnSpc>
                <a:spcPct val="92000"/>
              </a:lnSpc>
              <a:spcBef>
                <a:spcPts val="60"/>
              </a:spcBef>
              <a:spcAft>
                <a:spcPts val="0"/>
              </a:spcAft>
              <a:buClr>
                <a:srgbClr val="1F1F1F"/>
              </a:buClr>
              <a:buSzPts val="710"/>
              <a:buFont typeface="Arial"/>
              <a:buChar char="•"/>
            </a:pPr>
            <a:r>
              <a:rPr b="0" i="0" lang="en" sz="71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Dam Failure Case Studies and Database. </a:t>
            </a:r>
            <a:r>
              <a:rPr b="0" i="0" lang="en" sz="71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/>
              </a:rPr>
              <a:t>https://damfailures.org/</a:t>
            </a:r>
            <a:endParaRPr/>
          </a:p>
        </p:txBody>
      </p:sp>
      <p:sp>
        <p:nvSpPr>
          <p:cNvPr id="1142" name="Google Shape;1142;p55"/>
          <p:cNvSpPr/>
          <p:nvPr/>
        </p:nvSpPr>
        <p:spPr>
          <a:xfrm>
            <a:off x="4591175" y="815641"/>
            <a:ext cx="4470643" cy="175506"/>
          </a:xfrm>
          <a:prstGeom prst="roundRect">
            <a:avLst>
              <a:gd fmla="val 15000" name="adj"/>
            </a:avLst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sat.png" id="1143" name="Google Shape;1143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43127" y="83481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5"/>
          <p:cNvSpPr txBox="1"/>
          <p:nvPr/>
        </p:nvSpPr>
        <p:spPr>
          <a:xfrm>
            <a:off x="4832239" y="815641"/>
            <a:ext cx="4196707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SATELLITE OBSERVATIONS: GLACIAL CALVING (2003 – 2021)</a:t>
            </a:r>
            <a:endParaRPr/>
          </a:p>
        </p:txBody>
      </p:sp>
      <p:sp>
        <p:nvSpPr>
          <p:cNvPr id="1145" name="Google Shape;1145;p55"/>
          <p:cNvSpPr/>
          <p:nvPr/>
        </p:nvSpPr>
        <p:spPr>
          <a:xfrm>
            <a:off x="4591175" y="1002116"/>
            <a:ext cx="4470643" cy="1941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t_2003.png" id="1146" name="Google Shape;1146;p5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45962" y="1035023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55"/>
          <p:cNvSpPr txBox="1"/>
          <p:nvPr/>
        </p:nvSpPr>
        <p:spPr>
          <a:xfrm>
            <a:off x="4645962" y="1797379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2003</a:t>
            </a:r>
            <a:endParaRPr/>
          </a:p>
        </p:txBody>
      </p:sp>
      <p:pic>
        <p:nvPicPr>
          <p:cNvPr descr="sat_2005.png" id="1148" name="Google Shape;1148;p5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752666" y="1035023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55"/>
          <p:cNvSpPr txBox="1"/>
          <p:nvPr/>
        </p:nvSpPr>
        <p:spPr>
          <a:xfrm>
            <a:off x="5752666" y="1797379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2005</a:t>
            </a:r>
            <a:endParaRPr/>
          </a:p>
        </p:txBody>
      </p:sp>
      <p:pic>
        <p:nvPicPr>
          <p:cNvPr descr="sat_2012.png" id="1150" name="Google Shape;1150;p5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59369" y="1035023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55"/>
          <p:cNvSpPr txBox="1"/>
          <p:nvPr/>
        </p:nvSpPr>
        <p:spPr>
          <a:xfrm>
            <a:off x="6859369" y="1797379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2012</a:t>
            </a:r>
            <a:endParaRPr/>
          </a:p>
        </p:txBody>
      </p:sp>
      <p:pic>
        <p:nvPicPr>
          <p:cNvPr descr="sat_2013.png" id="1152" name="Google Shape;1152;p5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66073" y="1035023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55"/>
          <p:cNvSpPr txBox="1"/>
          <p:nvPr/>
        </p:nvSpPr>
        <p:spPr>
          <a:xfrm>
            <a:off x="7966073" y="1797379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2013</a:t>
            </a:r>
            <a:endParaRPr/>
          </a:p>
        </p:txBody>
      </p:sp>
      <p:pic>
        <p:nvPicPr>
          <p:cNvPr descr="sat_2014.png" id="1154" name="Google Shape;1154;p5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45962" y="1967401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55"/>
          <p:cNvSpPr txBox="1"/>
          <p:nvPr/>
        </p:nvSpPr>
        <p:spPr>
          <a:xfrm>
            <a:off x="4645962" y="2729756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(e) 2014</a:t>
            </a:r>
            <a:endParaRPr/>
          </a:p>
        </p:txBody>
      </p:sp>
      <p:pic>
        <p:nvPicPr>
          <p:cNvPr descr="sat_2015.png" id="1156" name="Google Shape;1156;p5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752666" y="1967401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55"/>
          <p:cNvSpPr txBox="1"/>
          <p:nvPr/>
        </p:nvSpPr>
        <p:spPr>
          <a:xfrm>
            <a:off x="5752666" y="2729756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(f) 2015</a:t>
            </a:r>
            <a:endParaRPr/>
          </a:p>
        </p:txBody>
      </p:sp>
      <p:pic>
        <p:nvPicPr>
          <p:cNvPr descr="sat_2018.png" id="1158" name="Google Shape;1158;p5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859369" y="1967401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55"/>
          <p:cNvSpPr txBox="1"/>
          <p:nvPr/>
        </p:nvSpPr>
        <p:spPr>
          <a:xfrm>
            <a:off x="6859369" y="2729756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(g) 2018</a:t>
            </a:r>
            <a:endParaRPr/>
          </a:p>
        </p:txBody>
      </p:sp>
      <p:pic>
        <p:nvPicPr>
          <p:cNvPr descr="sat_2021.png" id="1160" name="Google Shape;1160;p5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966073" y="1967401"/>
            <a:ext cx="1040958" cy="75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55"/>
          <p:cNvSpPr txBox="1"/>
          <p:nvPr/>
        </p:nvSpPr>
        <p:spPr>
          <a:xfrm>
            <a:off x="7966073" y="2729756"/>
            <a:ext cx="1040958" cy="11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(h) 2021</a:t>
            </a:r>
            <a:endParaRPr/>
          </a:p>
        </p:txBody>
      </p:sp>
      <p:sp>
        <p:nvSpPr>
          <p:cNvPr id="1162" name="Google Shape;1162;p55"/>
          <p:cNvSpPr txBox="1"/>
          <p:nvPr/>
        </p:nvSpPr>
        <p:spPr>
          <a:xfrm>
            <a:off x="7122348" y="2844932"/>
            <a:ext cx="1917555" cy="93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1" i="0" lang="en" sz="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3"/>
              </a:rPr>
              <a:t>ResearchGate (2024) – Rishiganga Study</a:t>
            </a:r>
            <a:endParaRPr/>
          </a:p>
        </p:txBody>
      </p:sp>
      <p:sp>
        <p:nvSpPr>
          <p:cNvPr id="1163" name="Google Shape;1163;p55"/>
          <p:cNvSpPr/>
          <p:nvPr/>
        </p:nvSpPr>
        <p:spPr>
          <a:xfrm>
            <a:off x="76702" y="2987531"/>
            <a:ext cx="5056867" cy="175506"/>
          </a:xfrm>
          <a:prstGeom prst="roundRect">
            <a:avLst>
              <a:gd fmla="val 15000" name="adj"/>
            </a:avLst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chart.png" id="1164" name="Google Shape;1164;p5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28654" y="300670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55"/>
          <p:cNvSpPr txBox="1"/>
          <p:nvPr/>
        </p:nvSpPr>
        <p:spPr>
          <a:xfrm>
            <a:off x="317766" y="2987531"/>
            <a:ext cx="4782931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WITH TRADITIONAL SYSTEMS</a:t>
            </a:r>
            <a:endParaRPr/>
          </a:p>
        </p:txBody>
      </p:sp>
      <p:sp>
        <p:nvSpPr>
          <p:cNvPr id="1166" name="Google Shape;1166;p55"/>
          <p:cNvSpPr/>
          <p:nvPr/>
        </p:nvSpPr>
        <p:spPr>
          <a:xfrm>
            <a:off x="109574" y="3184975"/>
            <a:ext cx="909469" cy="175506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5"/>
          <p:cNvSpPr txBox="1"/>
          <p:nvPr/>
        </p:nvSpPr>
        <p:spPr>
          <a:xfrm>
            <a:off x="136968" y="3184975"/>
            <a:ext cx="854681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1168" name="Google Shape;1168;p55"/>
          <p:cNvSpPr/>
          <p:nvPr/>
        </p:nvSpPr>
        <p:spPr>
          <a:xfrm>
            <a:off x="1019043" y="3184975"/>
            <a:ext cx="2005215" cy="175506"/>
          </a:xfrm>
          <a:prstGeom prst="rect">
            <a:avLst/>
          </a:prstGeom>
          <a:solidFill>
            <a:srgbClr val="FCE4D6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55"/>
          <p:cNvSpPr txBox="1"/>
          <p:nvPr/>
        </p:nvSpPr>
        <p:spPr>
          <a:xfrm>
            <a:off x="1046437" y="3184975"/>
            <a:ext cx="1950427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Traditional Methods &amp; Existing Studies</a:t>
            </a:r>
            <a:endParaRPr/>
          </a:p>
        </p:txBody>
      </p:sp>
      <p:sp>
        <p:nvSpPr>
          <p:cNvPr id="1170" name="Google Shape;1170;p55"/>
          <p:cNvSpPr/>
          <p:nvPr/>
        </p:nvSpPr>
        <p:spPr>
          <a:xfrm>
            <a:off x="3024258" y="3184975"/>
            <a:ext cx="2081917" cy="175506"/>
          </a:xfrm>
          <a:prstGeom prst="rect">
            <a:avLst/>
          </a:prstGeom>
          <a:solidFill>
            <a:srgbClr val="00803C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55"/>
          <p:cNvSpPr txBox="1"/>
          <p:nvPr/>
        </p:nvSpPr>
        <p:spPr>
          <a:xfrm>
            <a:off x="3051652" y="3184975"/>
            <a:ext cx="2027130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Solution: NIYANTA</a:t>
            </a:r>
            <a:endParaRPr/>
          </a:p>
        </p:txBody>
      </p:sp>
      <p:sp>
        <p:nvSpPr>
          <p:cNvPr id="1172" name="Google Shape;1172;p55"/>
          <p:cNvSpPr/>
          <p:nvPr/>
        </p:nvSpPr>
        <p:spPr>
          <a:xfrm>
            <a:off x="109574" y="3360482"/>
            <a:ext cx="909469" cy="361981"/>
          </a:xfrm>
          <a:prstGeom prst="rect">
            <a:avLst/>
          </a:prstGeom>
          <a:solidFill>
            <a:srgbClr val="DEEAF6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55"/>
          <p:cNvSpPr txBox="1"/>
          <p:nvPr/>
        </p:nvSpPr>
        <p:spPr>
          <a:xfrm>
            <a:off x="136968" y="3360482"/>
            <a:ext cx="854681" cy="361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Breach &amp; Flow Physics</a:t>
            </a:r>
            <a:endParaRPr/>
          </a:p>
        </p:txBody>
      </p:sp>
      <p:sp>
        <p:nvSpPr>
          <p:cNvPr id="1174" name="Google Shape;1174;p55"/>
          <p:cNvSpPr/>
          <p:nvPr/>
        </p:nvSpPr>
        <p:spPr>
          <a:xfrm>
            <a:off x="1019043" y="3360482"/>
            <a:ext cx="2005215" cy="3619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55"/>
          <p:cNvSpPr txBox="1"/>
          <p:nvPr/>
        </p:nvSpPr>
        <p:spPr>
          <a:xfrm>
            <a:off x="1046437" y="3360482"/>
            <a:ext cx="1950427" cy="361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Empirical breach + </a:t>
            </a:r>
            <a:r>
              <a:rPr b="1" i="0" lang="en" sz="76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1D routing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(e.g. NWS-FLDWAV); channel width </a:t>
            </a:r>
            <a:r>
              <a:rPr b="1" i="0" lang="en" sz="76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assumed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from regime theory.</a:t>
            </a:r>
            <a:endParaRPr/>
          </a:p>
        </p:txBody>
      </p:sp>
      <p:sp>
        <p:nvSpPr>
          <p:cNvPr id="1176" name="Google Shape;1176;p55"/>
          <p:cNvSpPr/>
          <p:nvPr/>
        </p:nvSpPr>
        <p:spPr>
          <a:xfrm>
            <a:off x="3024258" y="3360482"/>
            <a:ext cx="2081917" cy="3619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55"/>
          <p:cNvSpPr txBox="1"/>
          <p:nvPr/>
        </p:nvSpPr>
        <p:spPr>
          <a:xfrm>
            <a:off x="3051652" y="3360482"/>
            <a:ext cx="2027130" cy="361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SPH near-field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(DualSPHysics) + </a:t>
            </a: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2D Delft3D / ANUGA routing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over the </a:t>
            </a: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real Copernicus 30 m DEM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of the Bhagirathi valley.</a:t>
            </a:r>
            <a:endParaRPr/>
          </a:p>
        </p:txBody>
      </p:sp>
      <p:sp>
        <p:nvSpPr>
          <p:cNvPr id="1178" name="Google Shape;1178;p55"/>
          <p:cNvSpPr/>
          <p:nvPr/>
        </p:nvSpPr>
        <p:spPr>
          <a:xfrm>
            <a:off x="109574" y="3722463"/>
            <a:ext cx="909469" cy="351012"/>
          </a:xfrm>
          <a:prstGeom prst="rect">
            <a:avLst/>
          </a:prstGeom>
          <a:solidFill>
            <a:srgbClr val="DEEAF6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5"/>
          <p:cNvSpPr txBox="1"/>
          <p:nvPr/>
        </p:nvSpPr>
        <p:spPr>
          <a:xfrm>
            <a:off x="136968" y="3722463"/>
            <a:ext cx="854681" cy="351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Data &amp; Transparency</a:t>
            </a:r>
            <a:endParaRPr/>
          </a:p>
        </p:txBody>
      </p:sp>
      <p:sp>
        <p:nvSpPr>
          <p:cNvPr id="1180" name="Google Shape;1180;p55"/>
          <p:cNvSpPr/>
          <p:nvPr/>
        </p:nvSpPr>
        <p:spPr>
          <a:xfrm>
            <a:off x="1019043" y="3722463"/>
            <a:ext cx="2005215" cy="3510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5"/>
          <p:cNvSpPr txBox="1"/>
          <p:nvPr/>
        </p:nvSpPr>
        <p:spPr>
          <a:xfrm>
            <a:off x="1046437" y="3722463"/>
            <a:ext cx="1950427" cy="351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Often </a:t>
            </a:r>
            <a:r>
              <a:rPr b="1" i="0" lang="en" sz="76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proprietary software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and gaps filled with </a:t>
            </a:r>
            <a:r>
              <a:rPr b="1" i="0" lang="en" sz="76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unstated guesses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182" name="Google Shape;1182;p55"/>
          <p:cNvSpPr/>
          <p:nvPr/>
        </p:nvSpPr>
        <p:spPr>
          <a:xfrm>
            <a:off x="3024258" y="3722463"/>
            <a:ext cx="2081917" cy="3510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5"/>
          <p:cNvSpPr txBox="1"/>
          <p:nvPr/>
        </p:nvSpPr>
        <p:spPr>
          <a:xfrm>
            <a:off x="3051652" y="3722463"/>
            <a:ext cx="2027130" cy="351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Free open data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, checksummed; every input labelled </a:t>
            </a: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OBSERVED / HYPOTHETICAL / UNAVAILABLE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184" name="Google Shape;1184;p55"/>
          <p:cNvSpPr/>
          <p:nvPr/>
        </p:nvSpPr>
        <p:spPr>
          <a:xfrm>
            <a:off x="109574" y="4073476"/>
            <a:ext cx="909469" cy="351012"/>
          </a:xfrm>
          <a:prstGeom prst="rect">
            <a:avLst/>
          </a:prstGeom>
          <a:solidFill>
            <a:srgbClr val="DEEAF6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5"/>
          <p:cNvSpPr txBox="1"/>
          <p:nvPr/>
        </p:nvSpPr>
        <p:spPr>
          <a:xfrm>
            <a:off x="136968" y="4073476"/>
            <a:ext cx="854681" cy="351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Scope &amp; Outcome</a:t>
            </a:r>
            <a:endParaRPr/>
          </a:p>
        </p:txBody>
      </p:sp>
      <p:sp>
        <p:nvSpPr>
          <p:cNvPr id="1186" name="Google Shape;1186;p55"/>
          <p:cNvSpPr/>
          <p:nvPr/>
        </p:nvSpPr>
        <p:spPr>
          <a:xfrm>
            <a:off x="1019043" y="4073476"/>
            <a:ext cx="2005215" cy="3510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55"/>
          <p:cNvSpPr txBox="1"/>
          <p:nvPr/>
        </p:nvSpPr>
        <p:spPr>
          <a:xfrm>
            <a:off x="1046437" y="4073476"/>
            <a:ext cx="1950427" cy="351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Static PDF flood maps; no link to </a:t>
            </a:r>
            <a:r>
              <a:rPr b="1" i="0" lang="en" sz="76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people or assets at risk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188" name="Google Shape;1188;p55"/>
          <p:cNvSpPr/>
          <p:nvPr/>
        </p:nvSpPr>
        <p:spPr>
          <a:xfrm>
            <a:off x="3024258" y="4073476"/>
            <a:ext cx="2081917" cy="3510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5"/>
          <p:cNvSpPr txBox="1"/>
          <p:nvPr/>
        </p:nvSpPr>
        <p:spPr>
          <a:xfrm>
            <a:off x="3051652" y="4073476"/>
            <a:ext cx="2027130" cy="351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Arrival time at </a:t>
            </a: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1–12 h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, exposure (</a:t>
            </a:r>
            <a:r>
              <a:rPr b="1" i="0" lang="en" sz="760" u="none" cap="none" strike="noStrike">
                <a:solidFill>
                  <a:srgbClr val="00803C"/>
                </a:solidFill>
                <a:latin typeface="Calibri"/>
                <a:ea typeface="Calibri"/>
                <a:cs typeface="Calibri"/>
                <a:sym typeface="Calibri"/>
              </a:rPr>
              <a:t>~2.66 lakh people, 126 assets</a:t>
            </a:r>
            <a:r>
              <a:rPr b="0" i="0" lang="en" sz="76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), 3D/2D dashboard + GIS export.</a:t>
            </a:r>
            <a:endParaRPr/>
          </a:p>
        </p:txBody>
      </p:sp>
      <p:sp>
        <p:nvSpPr>
          <p:cNvPr id="1190" name="Google Shape;1190;p55"/>
          <p:cNvSpPr/>
          <p:nvPr/>
        </p:nvSpPr>
        <p:spPr>
          <a:xfrm>
            <a:off x="5177399" y="2987531"/>
            <a:ext cx="3884419" cy="175506"/>
          </a:xfrm>
          <a:prstGeom prst="roundRect">
            <a:avLst>
              <a:gd fmla="val 15000" name="adj"/>
            </a:avLst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check.png" id="1191" name="Google Shape;1191;p5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229351" y="300670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55"/>
          <p:cNvSpPr txBox="1"/>
          <p:nvPr/>
        </p:nvSpPr>
        <p:spPr>
          <a:xfrm>
            <a:off x="5418463" y="2987531"/>
            <a:ext cx="3610482" cy="175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OUR BREACH FLOW CORRECT?</a:t>
            </a:r>
            <a:endParaRPr/>
          </a:p>
        </p:txBody>
      </p:sp>
      <p:sp>
        <p:nvSpPr>
          <p:cNvPr id="1193" name="Google Shape;1193;p55"/>
          <p:cNvSpPr/>
          <p:nvPr/>
        </p:nvSpPr>
        <p:spPr>
          <a:xfrm>
            <a:off x="5204793" y="3184975"/>
            <a:ext cx="2180534" cy="153567"/>
          </a:xfrm>
          <a:prstGeom prst="rect">
            <a:avLst/>
          </a:prstGeom>
          <a:solidFill>
            <a:srgbClr val="E81C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55"/>
          <p:cNvSpPr txBox="1"/>
          <p:nvPr/>
        </p:nvSpPr>
        <p:spPr>
          <a:xfrm>
            <a:off x="5248623" y="3184975"/>
            <a:ext cx="2136704" cy="153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Cross-checked peak discharge at Tehri Dam</a:t>
            </a:r>
            <a:endParaRPr/>
          </a:p>
        </p:txBody>
      </p:sp>
      <p:sp>
        <p:nvSpPr>
          <p:cNvPr id="1195" name="Google Shape;1195;p55"/>
          <p:cNvSpPr/>
          <p:nvPr/>
        </p:nvSpPr>
        <p:spPr>
          <a:xfrm>
            <a:off x="5204793" y="3360482"/>
            <a:ext cx="865639" cy="263259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55"/>
          <p:cNvSpPr txBox="1"/>
          <p:nvPr/>
        </p:nvSpPr>
        <p:spPr>
          <a:xfrm>
            <a:off x="5221229" y="3360482"/>
            <a:ext cx="832766" cy="26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1197" name="Google Shape;1197;p55"/>
          <p:cNvSpPr/>
          <p:nvPr/>
        </p:nvSpPr>
        <p:spPr>
          <a:xfrm>
            <a:off x="6070432" y="3360482"/>
            <a:ext cx="821809" cy="263259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5"/>
          <p:cNvSpPr txBox="1"/>
          <p:nvPr/>
        </p:nvSpPr>
        <p:spPr>
          <a:xfrm>
            <a:off x="6086868" y="3360482"/>
            <a:ext cx="788937" cy="26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Breach Method</a:t>
            </a:r>
            <a:endParaRPr/>
          </a:p>
        </p:txBody>
      </p:sp>
      <p:sp>
        <p:nvSpPr>
          <p:cNvPr id="1199" name="Google Shape;1199;p55"/>
          <p:cNvSpPr/>
          <p:nvPr/>
        </p:nvSpPr>
        <p:spPr>
          <a:xfrm>
            <a:off x="6892242" y="3360482"/>
            <a:ext cx="975213" cy="263259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5"/>
          <p:cNvSpPr txBox="1"/>
          <p:nvPr/>
        </p:nvSpPr>
        <p:spPr>
          <a:xfrm>
            <a:off x="6908678" y="3360482"/>
            <a:ext cx="942341" cy="26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Peak Q at dam (m³/s)</a:t>
            </a:r>
            <a:endParaRPr/>
          </a:p>
        </p:txBody>
      </p:sp>
      <p:sp>
        <p:nvSpPr>
          <p:cNvPr id="1201" name="Google Shape;1201;p55"/>
          <p:cNvSpPr/>
          <p:nvPr/>
        </p:nvSpPr>
        <p:spPr>
          <a:xfrm>
            <a:off x="5204793" y="3623741"/>
            <a:ext cx="865639" cy="274228"/>
          </a:xfrm>
          <a:prstGeom prst="rect">
            <a:avLst/>
          </a:prstGeom>
          <a:solidFill>
            <a:srgbClr val="C6EF7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5"/>
          <p:cNvSpPr txBox="1"/>
          <p:nvPr/>
        </p:nvSpPr>
        <p:spPr>
          <a:xfrm>
            <a:off x="5221229" y="3623741"/>
            <a:ext cx="832766" cy="27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NIYANTA (fixed)</a:t>
            </a:r>
            <a:endParaRPr/>
          </a:p>
        </p:txBody>
      </p:sp>
      <p:sp>
        <p:nvSpPr>
          <p:cNvPr id="1203" name="Google Shape;1203;p55"/>
          <p:cNvSpPr/>
          <p:nvPr/>
        </p:nvSpPr>
        <p:spPr>
          <a:xfrm>
            <a:off x="6070432" y="3623741"/>
            <a:ext cx="821809" cy="274228"/>
          </a:xfrm>
          <a:prstGeom prst="rect">
            <a:avLst/>
          </a:prstGeom>
          <a:solidFill>
            <a:srgbClr val="C6EF7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55"/>
          <p:cNvSpPr txBox="1"/>
          <p:nvPr/>
        </p:nvSpPr>
        <p:spPr>
          <a:xfrm>
            <a:off x="6086868" y="3623741"/>
            <a:ext cx="788937" cy="27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Froehlich (2008) + Fread (1988)</a:t>
            </a:r>
            <a:endParaRPr/>
          </a:p>
        </p:txBody>
      </p:sp>
      <p:sp>
        <p:nvSpPr>
          <p:cNvPr id="1205" name="Google Shape;1205;p55"/>
          <p:cNvSpPr/>
          <p:nvPr/>
        </p:nvSpPr>
        <p:spPr>
          <a:xfrm>
            <a:off x="6892242" y="3623741"/>
            <a:ext cx="975213" cy="274228"/>
          </a:xfrm>
          <a:prstGeom prst="rect">
            <a:avLst/>
          </a:prstGeom>
          <a:solidFill>
            <a:srgbClr val="C6EF7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55"/>
          <p:cNvSpPr txBox="1"/>
          <p:nvPr/>
        </p:nvSpPr>
        <p:spPr>
          <a:xfrm>
            <a:off x="6908678" y="3667618"/>
            <a:ext cx="942341" cy="230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659,056</a:t>
            </a:r>
            <a:endParaRPr/>
          </a:p>
        </p:txBody>
      </p:sp>
      <p:sp>
        <p:nvSpPr>
          <p:cNvPr id="1207" name="Google Shape;1207;p55"/>
          <p:cNvSpPr/>
          <p:nvPr/>
        </p:nvSpPr>
        <p:spPr>
          <a:xfrm>
            <a:off x="5204793" y="3897970"/>
            <a:ext cx="865639" cy="263259"/>
          </a:xfrm>
          <a:prstGeom prst="rect">
            <a:avLst/>
          </a:prstGeom>
          <a:solidFill>
            <a:srgbClr val="E2F0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5"/>
          <p:cNvSpPr txBox="1"/>
          <p:nvPr/>
        </p:nvSpPr>
        <p:spPr>
          <a:xfrm>
            <a:off x="5221229" y="3897970"/>
            <a:ext cx="832766" cy="26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Maddamsetty et al. (2010)</a:t>
            </a:r>
            <a:endParaRPr/>
          </a:p>
        </p:txBody>
      </p:sp>
      <p:sp>
        <p:nvSpPr>
          <p:cNvPr id="1209" name="Google Shape;1209;p55"/>
          <p:cNvSpPr/>
          <p:nvPr/>
        </p:nvSpPr>
        <p:spPr>
          <a:xfrm>
            <a:off x="6070432" y="3897970"/>
            <a:ext cx="821809" cy="263259"/>
          </a:xfrm>
          <a:prstGeom prst="rect">
            <a:avLst/>
          </a:prstGeom>
          <a:solidFill>
            <a:srgbClr val="E2F0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5"/>
          <p:cNvSpPr txBox="1"/>
          <p:nvPr/>
        </p:nvSpPr>
        <p:spPr>
          <a:xfrm>
            <a:off x="6086868" y="3897970"/>
            <a:ext cx="788937" cy="26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NWS-BREACH physical erosion</a:t>
            </a:r>
            <a:endParaRPr/>
          </a:p>
        </p:txBody>
      </p:sp>
      <p:sp>
        <p:nvSpPr>
          <p:cNvPr id="1211" name="Google Shape;1211;p55"/>
          <p:cNvSpPr/>
          <p:nvPr/>
        </p:nvSpPr>
        <p:spPr>
          <a:xfrm>
            <a:off x="6892242" y="3897970"/>
            <a:ext cx="975213" cy="263259"/>
          </a:xfrm>
          <a:prstGeom prst="rect">
            <a:avLst/>
          </a:prstGeom>
          <a:solidFill>
            <a:srgbClr val="E2F0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5"/>
          <p:cNvSpPr txBox="1"/>
          <p:nvPr/>
        </p:nvSpPr>
        <p:spPr>
          <a:xfrm>
            <a:off x="6908678" y="3897970"/>
            <a:ext cx="942341" cy="26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980,324</a:t>
            </a:r>
            <a:endParaRPr/>
          </a:p>
        </p:txBody>
      </p:sp>
      <p:sp>
        <p:nvSpPr>
          <p:cNvPr id="1213" name="Google Shape;1213;p55"/>
          <p:cNvSpPr/>
          <p:nvPr/>
        </p:nvSpPr>
        <p:spPr>
          <a:xfrm>
            <a:off x="5204793" y="4161229"/>
            <a:ext cx="865639" cy="241321"/>
          </a:xfrm>
          <a:prstGeom prst="rect">
            <a:avLst/>
          </a:prstGeom>
          <a:solidFill>
            <a:srgbClr val="E2F0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5"/>
          <p:cNvSpPr txBox="1"/>
          <p:nvPr/>
        </p:nvSpPr>
        <p:spPr>
          <a:xfrm>
            <a:off x="5221229" y="4161229"/>
            <a:ext cx="832766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Froehlich (1995)</a:t>
            </a:r>
            <a:endParaRPr/>
          </a:p>
        </p:txBody>
      </p:sp>
      <p:sp>
        <p:nvSpPr>
          <p:cNvPr id="1215" name="Google Shape;1215;p55"/>
          <p:cNvSpPr/>
          <p:nvPr/>
        </p:nvSpPr>
        <p:spPr>
          <a:xfrm>
            <a:off x="6070432" y="4161229"/>
            <a:ext cx="821809" cy="241321"/>
          </a:xfrm>
          <a:prstGeom prst="rect">
            <a:avLst/>
          </a:prstGeom>
          <a:solidFill>
            <a:srgbClr val="E2F0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5"/>
          <p:cNvSpPr txBox="1"/>
          <p:nvPr/>
        </p:nvSpPr>
        <p:spPr>
          <a:xfrm>
            <a:off x="6086868" y="4161229"/>
            <a:ext cx="788937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Peak-outflow regression</a:t>
            </a:r>
            <a:endParaRPr/>
          </a:p>
        </p:txBody>
      </p:sp>
      <p:sp>
        <p:nvSpPr>
          <p:cNvPr id="1217" name="Google Shape;1217;p55"/>
          <p:cNvSpPr/>
          <p:nvPr/>
        </p:nvSpPr>
        <p:spPr>
          <a:xfrm>
            <a:off x="6892242" y="4161229"/>
            <a:ext cx="975213" cy="241321"/>
          </a:xfrm>
          <a:prstGeom prst="rect">
            <a:avLst/>
          </a:prstGeom>
          <a:solidFill>
            <a:srgbClr val="E2F0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5"/>
          <p:cNvSpPr txBox="1"/>
          <p:nvPr/>
        </p:nvSpPr>
        <p:spPr>
          <a:xfrm>
            <a:off x="6908678" y="4161229"/>
            <a:ext cx="942341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≈3.9 lakh</a:t>
            </a:r>
            <a:endParaRPr/>
          </a:p>
        </p:txBody>
      </p:sp>
      <p:sp>
        <p:nvSpPr>
          <p:cNvPr id="1219" name="Google Shape;1219;p55"/>
          <p:cNvSpPr txBox="1"/>
          <p:nvPr/>
        </p:nvSpPr>
        <p:spPr>
          <a:xfrm rot="-480000">
            <a:off x="6925114" y="3634710"/>
            <a:ext cx="591702" cy="87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OUR RESULT</a:t>
            </a:r>
            <a:endParaRPr/>
          </a:p>
        </p:txBody>
      </p:sp>
      <p:sp>
        <p:nvSpPr>
          <p:cNvPr id="1220" name="Google Shape;1220;p55"/>
          <p:cNvSpPr/>
          <p:nvPr/>
        </p:nvSpPr>
        <p:spPr>
          <a:xfrm>
            <a:off x="7911285" y="3184975"/>
            <a:ext cx="1128618" cy="1261451"/>
          </a:xfrm>
          <a:prstGeom prst="rect">
            <a:avLst/>
          </a:prstGeom>
          <a:solidFill>
            <a:srgbClr val="2EB8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5"/>
          <p:cNvSpPr txBox="1"/>
          <p:nvPr/>
        </p:nvSpPr>
        <p:spPr>
          <a:xfrm>
            <a:off x="7955115" y="3206914"/>
            <a:ext cx="1062873" cy="1217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" sz="8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order</a:t>
            </a: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as the only published Tehri study (ratio 0.67). First run was </a:t>
            </a:r>
            <a:r>
              <a:rPr b="1" i="0" lang="en" sz="850" u="none" cap="none" strike="noStrike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5.8× too high</a:t>
            </a: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 our own cross-check found the depth bug and </a:t>
            </a:r>
            <a:r>
              <a:rPr b="1" i="0" lang="en" sz="8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fixed it.</a:t>
            </a:r>
            <a:endParaRPr/>
          </a:p>
        </p:txBody>
      </p:sp>
      <p:sp>
        <p:nvSpPr>
          <p:cNvPr id="1222" name="Google Shape;1222;p55"/>
          <p:cNvSpPr/>
          <p:nvPr/>
        </p:nvSpPr>
        <p:spPr>
          <a:xfrm>
            <a:off x="76702" y="4501272"/>
            <a:ext cx="8985116" cy="164537"/>
          </a:xfrm>
          <a:prstGeom prst="roundRect">
            <a:avLst>
              <a:gd fmla="val 15000" name="adj"/>
            </a:avLst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_cog.png" id="1223" name="Google Shape;1223;p5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28654" y="451496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55"/>
          <p:cNvSpPr txBox="1"/>
          <p:nvPr/>
        </p:nvSpPr>
        <p:spPr>
          <a:xfrm>
            <a:off x="317766" y="4501272"/>
            <a:ext cx="8711180" cy="164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TO DEPLOYMENT WORKFLOW</a:t>
            </a:r>
            <a:endParaRPr/>
          </a:p>
        </p:txBody>
      </p:sp>
      <p:sp>
        <p:nvSpPr>
          <p:cNvPr id="1225" name="Google Shape;1225;p55"/>
          <p:cNvSpPr/>
          <p:nvPr/>
        </p:nvSpPr>
        <p:spPr>
          <a:xfrm>
            <a:off x="76702" y="4676779"/>
            <a:ext cx="8985116" cy="43876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6" name="Google Shape;1226;p55"/>
          <p:cNvCxnSpPr/>
          <p:nvPr/>
        </p:nvCxnSpPr>
        <p:spPr>
          <a:xfrm>
            <a:off x="876596" y="5016822"/>
            <a:ext cx="7560647" cy="0"/>
          </a:xfrm>
          <a:prstGeom prst="straightConnector1">
            <a:avLst/>
          </a:prstGeom>
          <a:noFill/>
          <a:ln cap="flat" cmpd="sng" w="317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27" name="Google Shape;1227;p55"/>
          <p:cNvCxnSpPr/>
          <p:nvPr/>
        </p:nvCxnSpPr>
        <p:spPr>
          <a:xfrm>
            <a:off x="876596" y="5016822"/>
            <a:ext cx="5040432" cy="0"/>
          </a:xfrm>
          <a:prstGeom prst="straightConnector1">
            <a:avLst/>
          </a:prstGeom>
          <a:noFill/>
          <a:ln cap="flat" cmpd="sng" w="44450">
            <a:solidFill>
              <a:srgbClr val="7CC1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book.png" id="1228" name="Google Shape;1228;p5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48241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55"/>
          <p:cNvSpPr txBox="1"/>
          <p:nvPr/>
        </p:nvSpPr>
        <p:spPr>
          <a:xfrm>
            <a:off x="460213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Literature Study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(Tehri, SPH, GLOFs)</a:t>
            </a:r>
            <a:endParaRPr/>
          </a:p>
        </p:txBody>
      </p:sp>
      <p:sp>
        <p:nvSpPr>
          <p:cNvPr id="1230" name="Google Shape;1230;p55"/>
          <p:cNvSpPr/>
          <p:nvPr/>
        </p:nvSpPr>
        <p:spPr>
          <a:xfrm>
            <a:off x="832766" y="4972946"/>
            <a:ext cx="87659" cy="87753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ck.png" id="1231" name="Google Shape;1231;p5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49164" y="4989390"/>
            <a:ext cx="54864" cy="54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h.png" id="1232" name="Google Shape;1232;p5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508349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55"/>
          <p:cNvSpPr txBox="1"/>
          <p:nvPr/>
        </p:nvSpPr>
        <p:spPr>
          <a:xfrm>
            <a:off x="1720321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Multispectral Analysis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(2003–2021)</a:t>
            </a:r>
            <a:endParaRPr/>
          </a:p>
        </p:txBody>
      </p:sp>
      <p:sp>
        <p:nvSpPr>
          <p:cNvPr id="1234" name="Google Shape;1234;p55"/>
          <p:cNvSpPr/>
          <p:nvPr/>
        </p:nvSpPr>
        <p:spPr>
          <a:xfrm>
            <a:off x="2092874" y="4972946"/>
            <a:ext cx="87659" cy="87753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ck.png" id="1235" name="Google Shape;1235;p5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109272" y="4989390"/>
            <a:ext cx="54864" cy="54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b.png" id="1236" name="Google Shape;1236;p5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768456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55"/>
          <p:cNvSpPr txBox="1"/>
          <p:nvPr/>
        </p:nvSpPr>
        <p:spPr>
          <a:xfrm>
            <a:off x="2980428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SPH Benchmark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(PASS)</a:t>
            </a:r>
            <a:endParaRPr/>
          </a:p>
        </p:txBody>
      </p:sp>
      <p:sp>
        <p:nvSpPr>
          <p:cNvPr id="1238" name="Google Shape;1238;p55"/>
          <p:cNvSpPr/>
          <p:nvPr/>
        </p:nvSpPr>
        <p:spPr>
          <a:xfrm>
            <a:off x="3352982" y="4972946"/>
            <a:ext cx="87659" cy="87753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ck.png" id="1239" name="Google Shape;1239;p5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369380" y="4989390"/>
            <a:ext cx="54864" cy="54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.png" id="1240" name="Google Shape;1240;p5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028564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55"/>
          <p:cNvSpPr txBox="1"/>
          <p:nvPr/>
        </p:nvSpPr>
        <p:spPr>
          <a:xfrm>
            <a:off x="4240536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Delft3D / ANUGA Run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(Validation)</a:t>
            </a:r>
            <a:endParaRPr/>
          </a:p>
        </p:txBody>
      </p:sp>
      <p:sp>
        <p:nvSpPr>
          <p:cNvPr id="1242" name="Google Shape;1242;p55"/>
          <p:cNvSpPr/>
          <p:nvPr/>
        </p:nvSpPr>
        <p:spPr>
          <a:xfrm>
            <a:off x="4613090" y="4972946"/>
            <a:ext cx="87659" cy="87753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ck.png" id="1243" name="Google Shape;1243;p5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629488" y="4989390"/>
            <a:ext cx="54864" cy="54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.png" id="1244" name="Google Shape;1244;p55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288672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55"/>
          <p:cNvSpPr txBox="1"/>
          <p:nvPr/>
        </p:nvSpPr>
        <p:spPr>
          <a:xfrm>
            <a:off x="5500644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MVP Dashboard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(Working)</a:t>
            </a:r>
            <a:endParaRPr/>
          </a:p>
        </p:txBody>
      </p:sp>
      <p:sp>
        <p:nvSpPr>
          <p:cNvPr id="1246" name="Google Shape;1246;p55"/>
          <p:cNvSpPr/>
          <p:nvPr/>
        </p:nvSpPr>
        <p:spPr>
          <a:xfrm>
            <a:off x="5873198" y="4972946"/>
            <a:ext cx="87659" cy="87753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ck.png" id="1247" name="Google Shape;1247;p5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889596" y="4989390"/>
            <a:ext cx="54864" cy="54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ench.png" id="1248" name="Google Shape;1248;p55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548780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55"/>
          <p:cNvSpPr txBox="1"/>
          <p:nvPr/>
        </p:nvSpPr>
        <p:spPr>
          <a:xfrm>
            <a:off x="6760752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Finalizing the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</p:txBody>
      </p:sp>
      <p:sp>
        <p:nvSpPr>
          <p:cNvPr id="1250" name="Google Shape;1250;p55"/>
          <p:cNvSpPr/>
          <p:nvPr/>
        </p:nvSpPr>
        <p:spPr>
          <a:xfrm>
            <a:off x="7133306" y="4972946"/>
            <a:ext cx="87659" cy="87753"/>
          </a:xfrm>
          <a:prstGeom prst="ellipse">
            <a:avLst/>
          </a:prstGeom>
          <a:solidFill>
            <a:srgbClr val="70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.png" id="1251" name="Google Shape;1251;p55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7808888" y="472793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55"/>
          <p:cNvSpPr txBox="1"/>
          <p:nvPr/>
        </p:nvSpPr>
        <p:spPr>
          <a:xfrm>
            <a:off x="8020860" y="4687748"/>
            <a:ext cx="991650" cy="241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Deploy &amp; Host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(Offline)</a:t>
            </a:r>
            <a:endParaRPr/>
          </a:p>
        </p:txBody>
      </p:sp>
      <p:sp>
        <p:nvSpPr>
          <p:cNvPr id="1253" name="Google Shape;1253;p55"/>
          <p:cNvSpPr/>
          <p:nvPr/>
        </p:nvSpPr>
        <p:spPr>
          <a:xfrm>
            <a:off x="8393414" y="4972946"/>
            <a:ext cx="87659" cy="87753"/>
          </a:xfrm>
          <a:prstGeom prst="ellipse">
            <a:avLst/>
          </a:prstGeom>
          <a:solidFill>
            <a:srgbClr val="70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8"/>
          <p:cNvSpPr/>
          <p:nvPr/>
        </p:nvSpPr>
        <p:spPr>
          <a:xfrm>
            <a:off x="2131" y="3026"/>
            <a:ext cx="9166200" cy="44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58"/>
          <p:cNvSpPr txBox="1"/>
          <p:nvPr/>
        </p:nvSpPr>
        <p:spPr>
          <a:xfrm>
            <a:off x="3094800" y="-47675"/>
            <a:ext cx="28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8" name="Google Shape;126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5" y="-4425"/>
            <a:ext cx="1534172" cy="44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58"/>
          <p:cNvSpPr txBox="1"/>
          <p:nvPr/>
        </p:nvSpPr>
        <p:spPr>
          <a:xfrm>
            <a:off x="531897" y="-3875"/>
            <a:ext cx="133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  </a:t>
            </a:r>
            <a:endParaRPr b="1" i="0" sz="1700" u="none" cap="none" strike="noStrike">
              <a:solidFill>
                <a:srgbClr val="00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0" name="Google Shape;1270;p58"/>
          <p:cNvPicPr preferRelativeResize="0"/>
          <p:nvPr/>
        </p:nvPicPr>
        <p:blipFill rotWithShape="1">
          <a:blip r:embed="rId4">
            <a:alphaModFix/>
          </a:blip>
          <a:srcRect b="40218" l="35715" r="35013" t="7050"/>
          <a:stretch/>
        </p:blipFill>
        <p:spPr>
          <a:xfrm>
            <a:off x="152325" y="7100"/>
            <a:ext cx="435300" cy="41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59"/>
          <p:cNvSpPr/>
          <p:nvPr/>
        </p:nvSpPr>
        <p:spPr>
          <a:xfrm>
            <a:off x="2131" y="3026"/>
            <a:ext cx="9166200" cy="44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9"/>
          <p:cNvSpPr txBox="1"/>
          <p:nvPr/>
        </p:nvSpPr>
        <p:spPr>
          <a:xfrm>
            <a:off x="3094800" y="-47675"/>
            <a:ext cx="28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7" name="Google Shape;12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5" y="-4425"/>
            <a:ext cx="1534172" cy="44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59"/>
          <p:cNvSpPr txBox="1"/>
          <p:nvPr/>
        </p:nvSpPr>
        <p:spPr>
          <a:xfrm>
            <a:off x="531897" y="-3875"/>
            <a:ext cx="133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  </a:t>
            </a:r>
            <a:endParaRPr b="1" i="0" sz="1700" u="none" cap="none" strike="noStrike">
              <a:solidFill>
                <a:srgbClr val="00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9" name="Google Shape;1279;p59"/>
          <p:cNvPicPr preferRelativeResize="0"/>
          <p:nvPr/>
        </p:nvPicPr>
        <p:blipFill rotWithShape="1">
          <a:blip r:embed="rId4">
            <a:alphaModFix/>
          </a:blip>
          <a:srcRect b="40218" l="35715" r="35013" t="7050"/>
          <a:stretch/>
        </p:blipFill>
        <p:spPr>
          <a:xfrm>
            <a:off x="152325" y="7100"/>
            <a:ext cx="435300" cy="41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60"/>
          <p:cNvSpPr/>
          <p:nvPr/>
        </p:nvSpPr>
        <p:spPr>
          <a:xfrm>
            <a:off x="2131" y="3026"/>
            <a:ext cx="9166200" cy="44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60"/>
          <p:cNvSpPr txBox="1"/>
          <p:nvPr/>
        </p:nvSpPr>
        <p:spPr>
          <a:xfrm>
            <a:off x="3094800" y="-47675"/>
            <a:ext cx="28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6" name="Google Shape;128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5" y="-4425"/>
            <a:ext cx="1534172" cy="44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60"/>
          <p:cNvSpPr txBox="1"/>
          <p:nvPr/>
        </p:nvSpPr>
        <p:spPr>
          <a:xfrm>
            <a:off x="531897" y="-3875"/>
            <a:ext cx="133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  </a:t>
            </a:r>
            <a:endParaRPr b="1" i="0" sz="1700" u="none" cap="none" strike="noStrike">
              <a:solidFill>
                <a:srgbClr val="00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8" name="Google Shape;1288;p60"/>
          <p:cNvPicPr preferRelativeResize="0"/>
          <p:nvPr/>
        </p:nvPicPr>
        <p:blipFill rotWithShape="1">
          <a:blip r:embed="rId4">
            <a:alphaModFix/>
          </a:blip>
          <a:srcRect b="40218" l="35715" r="35013" t="7050"/>
          <a:stretch/>
        </p:blipFill>
        <p:spPr>
          <a:xfrm>
            <a:off x="152325" y="7100"/>
            <a:ext cx="435300" cy="41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61"/>
          <p:cNvSpPr/>
          <p:nvPr/>
        </p:nvSpPr>
        <p:spPr>
          <a:xfrm>
            <a:off x="2131" y="3026"/>
            <a:ext cx="9166200" cy="44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61"/>
          <p:cNvSpPr txBox="1"/>
          <p:nvPr/>
        </p:nvSpPr>
        <p:spPr>
          <a:xfrm>
            <a:off x="3094800" y="-47675"/>
            <a:ext cx="28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5" name="Google Shape;129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5" y="-4425"/>
            <a:ext cx="1534172" cy="44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61"/>
          <p:cNvSpPr txBox="1"/>
          <p:nvPr/>
        </p:nvSpPr>
        <p:spPr>
          <a:xfrm>
            <a:off x="531897" y="-3875"/>
            <a:ext cx="133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74BE"/>
                </a:solidFill>
                <a:latin typeface="Arial"/>
                <a:ea typeface="Arial"/>
                <a:cs typeface="Arial"/>
                <a:sym typeface="Arial"/>
              </a:rPr>
              <a:t>NIYANTA  </a:t>
            </a:r>
            <a:endParaRPr b="1" i="0" sz="1700" u="none" cap="none" strike="noStrike">
              <a:solidFill>
                <a:srgbClr val="00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7" name="Google Shape;1297;p61"/>
          <p:cNvPicPr preferRelativeResize="0"/>
          <p:nvPr/>
        </p:nvPicPr>
        <p:blipFill rotWithShape="1">
          <a:blip r:embed="rId4">
            <a:alphaModFix/>
          </a:blip>
          <a:srcRect b="40218" l="35715" r="35013" t="7050"/>
          <a:stretch/>
        </p:blipFill>
        <p:spPr>
          <a:xfrm>
            <a:off x="152325" y="7100"/>
            <a:ext cx="435300" cy="41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